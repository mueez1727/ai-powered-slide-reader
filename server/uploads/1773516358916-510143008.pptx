
<file path=[Content_Types].xml><?xml version="1.0" encoding="utf-8"?>
<Types xmlns="http://schemas.openxmlformats.org/package/2006/content-types">
  <Default Extension="png" ContentType="image/png"/>
  <Default Extension="bin" ContentType="audio/unknown"/>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39"/>
  </p:notesMasterIdLst>
  <p:handoutMasterIdLst>
    <p:handoutMasterId r:id="rId40"/>
  </p:handoutMasterIdLst>
  <p:sldIdLst>
    <p:sldId id="782" r:id="rId2"/>
    <p:sldId id="678" r:id="rId3"/>
    <p:sldId id="692" r:id="rId4"/>
    <p:sldId id="691" r:id="rId5"/>
    <p:sldId id="704" r:id="rId6"/>
    <p:sldId id="705" r:id="rId7"/>
    <p:sldId id="706" r:id="rId8"/>
    <p:sldId id="711" r:id="rId9"/>
    <p:sldId id="712" r:id="rId10"/>
    <p:sldId id="708" r:id="rId11"/>
    <p:sldId id="707" r:id="rId12"/>
    <p:sldId id="719" r:id="rId13"/>
    <p:sldId id="720" r:id="rId14"/>
    <p:sldId id="709" r:id="rId15"/>
    <p:sldId id="774" r:id="rId16"/>
    <p:sldId id="714" r:id="rId17"/>
    <p:sldId id="721" r:id="rId18"/>
    <p:sldId id="732" r:id="rId19"/>
    <p:sldId id="748" r:id="rId20"/>
    <p:sldId id="740" r:id="rId21"/>
    <p:sldId id="741" r:id="rId22"/>
    <p:sldId id="749" r:id="rId23"/>
    <p:sldId id="750" r:id="rId24"/>
    <p:sldId id="743" r:id="rId25"/>
    <p:sldId id="742" r:id="rId26"/>
    <p:sldId id="744" r:id="rId27"/>
    <p:sldId id="698" r:id="rId28"/>
    <p:sldId id="686" r:id="rId29"/>
    <p:sldId id="764" r:id="rId30"/>
    <p:sldId id="765" r:id="rId31"/>
    <p:sldId id="780" r:id="rId32"/>
    <p:sldId id="778" r:id="rId33"/>
    <p:sldId id="779" r:id="rId34"/>
    <p:sldId id="781" r:id="rId35"/>
    <p:sldId id="768" r:id="rId36"/>
    <p:sldId id="769" r:id="rId37"/>
    <p:sldId id="770" r:id="rId38"/>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Times" pitchFamily="18" charset="0"/>
        <a:ea typeface="+mn-ea"/>
        <a:cs typeface="+mn-cs"/>
      </a:defRPr>
    </a:lvl1pPr>
    <a:lvl2pPr marL="457200" algn="l" rtl="0" eaLnBrk="0" fontAlgn="base" hangingPunct="0">
      <a:spcBef>
        <a:spcPct val="0"/>
      </a:spcBef>
      <a:spcAft>
        <a:spcPct val="0"/>
      </a:spcAft>
      <a:defRPr b="1" kern="1200">
        <a:solidFill>
          <a:schemeClr val="tx1"/>
        </a:solidFill>
        <a:latin typeface="Times" pitchFamily="18" charset="0"/>
        <a:ea typeface="+mn-ea"/>
        <a:cs typeface="+mn-cs"/>
      </a:defRPr>
    </a:lvl2pPr>
    <a:lvl3pPr marL="914400" algn="l" rtl="0" eaLnBrk="0" fontAlgn="base" hangingPunct="0">
      <a:spcBef>
        <a:spcPct val="0"/>
      </a:spcBef>
      <a:spcAft>
        <a:spcPct val="0"/>
      </a:spcAft>
      <a:defRPr b="1" kern="1200">
        <a:solidFill>
          <a:schemeClr val="tx1"/>
        </a:solidFill>
        <a:latin typeface="Times" pitchFamily="18" charset="0"/>
        <a:ea typeface="+mn-ea"/>
        <a:cs typeface="+mn-cs"/>
      </a:defRPr>
    </a:lvl3pPr>
    <a:lvl4pPr marL="1371600" algn="l" rtl="0" eaLnBrk="0" fontAlgn="base" hangingPunct="0">
      <a:spcBef>
        <a:spcPct val="0"/>
      </a:spcBef>
      <a:spcAft>
        <a:spcPct val="0"/>
      </a:spcAft>
      <a:defRPr b="1" kern="1200">
        <a:solidFill>
          <a:schemeClr val="tx1"/>
        </a:solidFill>
        <a:latin typeface="Times" pitchFamily="18" charset="0"/>
        <a:ea typeface="+mn-ea"/>
        <a:cs typeface="+mn-cs"/>
      </a:defRPr>
    </a:lvl4pPr>
    <a:lvl5pPr marL="1828800" algn="l" rtl="0" eaLnBrk="0" fontAlgn="base" hangingPunct="0">
      <a:spcBef>
        <a:spcPct val="0"/>
      </a:spcBef>
      <a:spcAft>
        <a:spcPct val="0"/>
      </a:spcAft>
      <a:defRPr b="1" kern="1200">
        <a:solidFill>
          <a:schemeClr val="tx1"/>
        </a:solidFill>
        <a:latin typeface="Times" pitchFamily="18" charset="0"/>
        <a:ea typeface="+mn-ea"/>
        <a:cs typeface="+mn-cs"/>
      </a:defRPr>
    </a:lvl5pPr>
    <a:lvl6pPr marL="2286000" algn="l" defTabSz="914400" rtl="0" eaLnBrk="1" latinLnBrk="0" hangingPunct="1">
      <a:defRPr b="1" kern="1200">
        <a:solidFill>
          <a:schemeClr val="tx1"/>
        </a:solidFill>
        <a:latin typeface="Times" pitchFamily="18" charset="0"/>
        <a:ea typeface="+mn-ea"/>
        <a:cs typeface="+mn-cs"/>
      </a:defRPr>
    </a:lvl6pPr>
    <a:lvl7pPr marL="2743200" algn="l" defTabSz="914400" rtl="0" eaLnBrk="1" latinLnBrk="0" hangingPunct="1">
      <a:defRPr b="1" kern="1200">
        <a:solidFill>
          <a:schemeClr val="tx1"/>
        </a:solidFill>
        <a:latin typeface="Times" pitchFamily="18" charset="0"/>
        <a:ea typeface="+mn-ea"/>
        <a:cs typeface="+mn-cs"/>
      </a:defRPr>
    </a:lvl7pPr>
    <a:lvl8pPr marL="3200400" algn="l" defTabSz="914400" rtl="0" eaLnBrk="1" latinLnBrk="0" hangingPunct="1">
      <a:defRPr b="1" kern="1200">
        <a:solidFill>
          <a:schemeClr val="tx1"/>
        </a:solidFill>
        <a:latin typeface="Times" pitchFamily="18" charset="0"/>
        <a:ea typeface="+mn-ea"/>
        <a:cs typeface="+mn-cs"/>
      </a:defRPr>
    </a:lvl8pPr>
    <a:lvl9pPr marL="3657600" algn="l" defTabSz="914400" rtl="0" eaLnBrk="1" latinLnBrk="0" hangingPunct="1">
      <a:defRPr b="1" kern="1200">
        <a:solidFill>
          <a:schemeClr val="tx1"/>
        </a:solidFill>
        <a:latin typeface="Times"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699FF"/>
    <a:srgbClr val="100341"/>
    <a:srgbClr val="3D0BF3"/>
    <a:srgbClr val="06F817"/>
    <a:srgbClr val="000252"/>
    <a:srgbClr val="0006A3"/>
    <a:srgbClr val="FC01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0876" autoAdjust="0"/>
  </p:normalViewPr>
  <p:slideViewPr>
    <p:cSldViewPr snapToGrid="0">
      <p:cViewPr varScale="1">
        <p:scale>
          <a:sx n="61" d="100"/>
          <a:sy n="61" d="100"/>
        </p:scale>
        <p:origin x="-1416" y="-72"/>
      </p:cViewPr>
      <p:guideLst>
        <p:guide orient="horz" pos="2160"/>
        <p:guide pos="2880"/>
      </p:guideLst>
    </p:cSldViewPr>
  </p:slideViewPr>
  <p:outlineViewPr>
    <p:cViewPr>
      <p:scale>
        <a:sx n="50" d="100"/>
        <a:sy n="50" d="100"/>
      </p:scale>
      <p:origin x="0" y="0"/>
    </p:cViewPr>
  </p:outlineViewPr>
  <p:notesTextViewPr>
    <p:cViewPr>
      <p:scale>
        <a:sx n="100" d="100"/>
        <a:sy n="100" d="100"/>
      </p:scale>
      <p:origin x="0" y="0"/>
    </p:cViewPr>
  </p:notesTextViewPr>
  <p:sorterViewPr>
    <p:cViewPr>
      <p:scale>
        <a:sx n="66" d="100"/>
        <a:sy n="66" d="100"/>
      </p:scale>
      <p:origin x="0" y="846"/>
    </p:cViewPr>
  </p:sorterViewPr>
  <p:notesViewPr>
    <p:cSldViewPr snapToGrid="0">
      <p:cViewPr varScale="1">
        <p:scale>
          <a:sx n="80" d="100"/>
          <a:sy n="80" d="100"/>
        </p:scale>
        <p:origin x="-1632" y="-12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062288" y="8704263"/>
            <a:ext cx="735012" cy="266700"/>
          </a:xfrm>
          <a:prstGeom prst="rect">
            <a:avLst/>
          </a:prstGeom>
          <a:noFill/>
          <a:ln>
            <a:noFill/>
          </a:ln>
          <a:effectLst/>
        </p:spPr>
        <p:txBody>
          <a:bodyPr wrap="none" lIns="87312" tIns="44450" rIns="87312" bIns="44450">
            <a:spAutoFit/>
          </a:bodyPr>
          <a:lstStyle/>
          <a:p>
            <a:pPr algn="ctr" defTabSz="868363">
              <a:lnSpc>
                <a:spcPct val="90000"/>
              </a:lnSpc>
            </a:pPr>
            <a:r>
              <a:rPr lang="en-US" altLang="en-US" sz="1200" b="0">
                <a:latin typeface="Book Antiqua" pitchFamily="18" charset="0"/>
              </a:rPr>
              <a:t>Page </a:t>
            </a:r>
            <a:fld id="{F20BEF57-6F02-455D-9EEC-D93F76FD5DC9}" type="slidenum">
              <a:rPr lang="en-US" altLang="en-US" sz="1200" b="0">
                <a:latin typeface="Book Antiqua" pitchFamily="18" charset="0"/>
              </a:rPr>
              <a:pPr algn="ctr" defTabSz="868363">
                <a:lnSpc>
                  <a:spcPct val="90000"/>
                </a:lnSpc>
              </a:pPr>
              <a:t>‹#›</a:t>
            </a:fld>
            <a:endParaRPr lang="en-US" altLang="en-US" sz="1200" b="0">
              <a:latin typeface="Book Antiqua" pitchFamily="18" charset="0"/>
            </a:endParaRPr>
          </a:p>
        </p:txBody>
      </p:sp>
    </p:spTree>
    <p:extLst>
      <p:ext uri="{BB962C8B-B14F-4D97-AF65-F5344CB8AC3E}">
        <p14:creationId xmlns:p14="http://schemas.microsoft.com/office/powerpoint/2010/main" val="29687441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457200" y="3294063"/>
            <a:ext cx="5986463" cy="5240337"/>
          </a:xfrm>
          <a:prstGeom prst="rect">
            <a:avLst/>
          </a:prstGeom>
          <a:noFill/>
          <a:ln>
            <a:noFill/>
          </a:ln>
          <a:effectLst/>
        </p:spPr>
        <p:txBody>
          <a:bodyPr vert="horz" wrap="square" lIns="90487" tIns="44450" rIns="90487" bIns="44450" numCol="1" anchor="t" anchorCtr="0" compatLnSpc="1">
            <a:prstTxWarp prst="textNoShape">
              <a:avLst/>
            </a:prstTxWarp>
          </a:bodyPr>
          <a:lstStyle/>
          <a:p>
            <a:pPr lvl="0"/>
            <a:r>
              <a:rPr lang="en-US" altLang="en-US" noProof="0"/>
              <a:t>Body Text</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051" name="Rectangle 3"/>
          <p:cNvSpPr>
            <a:spLocks noChangeArrowheads="1"/>
          </p:cNvSpPr>
          <p:nvPr/>
        </p:nvSpPr>
        <p:spPr bwMode="auto">
          <a:xfrm>
            <a:off x="3022600" y="8704263"/>
            <a:ext cx="815975" cy="260350"/>
          </a:xfrm>
          <a:prstGeom prst="rect">
            <a:avLst/>
          </a:prstGeom>
          <a:noFill/>
          <a:ln>
            <a:noFill/>
          </a:ln>
          <a:effectLst/>
        </p:spPr>
        <p:txBody>
          <a:bodyPr wrap="none" lIns="87312" tIns="44450" rIns="87312" bIns="44450">
            <a:spAutoFit/>
          </a:bodyPr>
          <a:lstStyle/>
          <a:p>
            <a:pPr algn="ctr" defTabSz="868363">
              <a:lnSpc>
                <a:spcPct val="90000"/>
              </a:lnSpc>
            </a:pPr>
            <a:r>
              <a:rPr lang="en-US" altLang="en-US" sz="1200" b="0">
                <a:latin typeface="Book Antiqua" pitchFamily="18" charset="0"/>
              </a:rPr>
              <a:t>Page </a:t>
            </a:r>
            <a:fld id="{AE04A8E3-2FD0-4CBB-B0AA-95C00F34F3BF}" type="slidenum">
              <a:rPr lang="en-US" altLang="en-US" sz="1200" b="0">
                <a:latin typeface="Book Antiqua" pitchFamily="18" charset="0"/>
              </a:rPr>
              <a:pPr algn="ctr" defTabSz="868363">
                <a:lnSpc>
                  <a:spcPct val="90000"/>
                </a:lnSpc>
              </a:pPr>
              <a:t>‹#›</a:t>
            </a:fld>
            <a:endParaRPr lang="en-US" altLang="en-US" sz="1200" b="0">
              <a:latin typeface="Book Antiqua" pitchFamily="18" charset="0"/>
            </a:endParaRPr>
          </a:p>
        </p:txBody>
      </p:sp>
      <p:sp>
        <p:nvSpPr>
          <p:cNvPr id="13316" name="Rectangle 4"/>
          <p:cNvSpPr>
            <a:spLocks noChangeArrowheads="1" noTextEdit="1"/>
          </p:cNvSpPr>
          <p:nvPr>
            <p:ph type="sldImg" idx="2"/>
          </p:nvPr>
        </p:nvSpPr>
        <p:spPr bwMode="auto">
          <a:xfrm>
            <a:off x="1292225" y="31750"/>
            <a:ext cx="4162425" cy="31226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2048585222"/>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000" kern="1200">
        <a:solidFill>
          <a:schemeClr val="tx1"/>
        </a:solidFill>
        <a:latin typeface="Palatino" pitchFamily="18" charset="0"/>
        <a:ea typeface="+mn-ea"/>
        <a:cs typeface="+mn-cs"/>
      </a:defRPr>
    </a:lvl1pPr>
    <a:lvl2pPr marL="457200" algn="l" rtl="0" eaLnBrk="0" fontAlgn="base" hangingPunct="0">
      <a:lnSpc>
        <a:spcPct val="90000"/>
      </a:lnSpc>
      <a:spcBef>
        <a:spcPct val="40000"/>
      </a:spcBef>
      <a:spcAft>
        <a:spcPct val="0"/>
      </a:spcAft>
      <a:defRPr sz="1000" kern="1200">
        <a:solidFill>
          <a:schemeClr val="tx1"/>
        </a:solidFill>
        <a:latin typeface="Palatino" pitchFamily="18" charset="0"/>
        <a:ea typeface="+mn-ea"/>
        <a:cs typeface="+mn-cs"/>
      </a:defRPr>
    </a:lvl2pPr>
    <a:lvl3pPr marL="914400" algn="l" rtl="0" eaLnBrk="0" fontAlgn="base" hangingPunct="0">
      <a:lnSpc>
        <a:spcPct val="90000"/>
      </a:lnSpc>
      <a:spcBef>
        <a:spcPct val="40000"/>
      </a:spcBef>
      <a:spcAft>
        <a:spcPct val="0"/>
      </a:spcAft>
      <a:defRPr sz="1000" kern="1200">
        <a:solidFill>
          <a:schemeClr val="tx1"/>
        </a:solidFill>
        <a:latin typeface="Palatino" pitchFamily="18" charset="0"/>
        <a:ea typeface="+mn-ea"/>
        <a:cs typeface="+mn-cs"/>
      </a:defRPr>
    </a:lvl3pPr>
    <a:lvl4pPr marL="1371600" algn="l" rtl="0" eaLnBrk="0" fontAlgn="base" hangingPunct="0">
      <a:lnSpc>
        <a:spcPct val="90000"/>
      </a:lnSpc>
      <a:spcBef>
        <a:spcPct val="40000"/>
      </a:spcBef>
      <a:spcAft>
        <a:spcPct val="0"/>
      </a:spcAft>
      <a:defRPr sz="1000" kern="1200">
        <a:solidFill>
          <a:schemeClr val="tx1"/>
        </a:solidFill>
        <a:latin typeface="Palatino" pitchFamily="18" charset="0"/>
        <a:ea typeface="+mn-ea"/>
        <a:cs typeface="+mn-cs"/>
      </a:defRPr>
    </a:lvl4pPr>
    <a:lvl5pPr marL="1828800" algn="l" rtl="0" eaLnBrk="0" fontAlgn="base" hangingPunct="0">
      <a:lnSpc>
        <a:spcPct val="90000"/>
      </a:lnSpc>
      <a:spcBef>
        <a:spcPct val="40000"/>
      </a:spcBef>
      <a:spcAft>
        <a:spcPct val="0"/>
      </a:spcAft>
      <a:defRPr sz="1000" kern="1200">
        <a:solidFill>
          <a:schemeClr val="tx1"/>
        </a:solidFill>
        <a:latin typeface="Palatino"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noFill/>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mtClean="0"/>
              <a:t>We are using several heuristics that have worked well in previous project courses. Give the size of this project, it does not necessarily mean that they are successful in this project.  </a:t>
            </a:r>
          </a:p>
          <a:p>
            <a:endParaRPr lang="en-US" altLang="en-US" smtClean="0"/>
          </a:p>
        </p:txBody>
      </p:sp>
      <p:sp>
        <p:nvSpPr>
          <p:cNvPr id="27651" name="Rectangle 3"/>
          <p:cNvSpPr>
            <a:spLocks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noFill/>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ltLang="en-US" smtClean="0"/>
          </a:p>
        </p:txBody>
      </p:sp>
      <p:sp>
        <p:nvSpPr>
          <p:cNvPr id="33795" name="Rectangle 3"/>
          <p:cNvSpPr>
            <a:spLocks noChangeArrowheads="1" noTextEdit="1"/>
          </p:cNvSpPr>
          <p:nvPr>
            <p:ph type="sldImg"/>
          </p:nvPr>
        </p:nvSpPr>
        <p:spPr>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body" idx="1"/>
          </p:nvPr>
        </p:nvSpPr>
        <p:spPr>
          <a:noFill/>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mtClean="0"/>
              <a:t>Totally hierarchical</a:t>
            </a:r>
          </a:p>
          <a:p>
            <a:r>
              <a:rPr lang="en-US" altLang="en-US" smtClean="0"/>
              <a:t>Talk about the roles: Chief the main dictator, assistant joined the company 2 years ago...</a:t>
            </a:r>
          </a:p>
          <a:p>
            <a:r>
              <a:rPr lang="en-US" altLang="en-US" smtClean="0"/>
              <a:t>Batch oriented</a:t>
            </a:r>
          </a:p>
          <a:p>
            <a:r>
              <a:rPr lang="en-US" altLang="en-US" smtClean="0"/>
              <a:t>When talking abou the libriarian, play somebody who is pushing a shopping cart at the Giant Eagle: Dispatching the lineprinter printouts to the various offices!!</a:t>
            </a:r>
          </a:p>
          <a:p>
            <a:endParaRPr lang="en-US" altLang="en-US" smtClean="0"/>
          </a:p>
        </p:txBody>
      </p:sp>
      <p:sp>
        <p:nvSpPr>
          <p:cNvPr id="38915" name="Rectangle 3"/>
          <p:cNvSpPr>
            <a:spLocks noChangeArrowheads="1" noTextEdit="1"/>
          </p:cNvSpPr>
          <p:nvPr>
            <p:ph type="sldImg"/>
          </p:nvPr>
        </p:nvSpPr>
        <p:spPr>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body" idx="1"/>
          </p:nvPr>
        </p:nvSpPr>
        <p:spPr>
          <a:noFill/>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mtClean="0"/>
              <a:t>Project-based organizations create bridges within organizations and bridge boundaries outside with customers, suppliers, and competitors. Teams are the foundation unit of these new patterns of interconnection and interdependence. Telecommunications technology is the nervous system that holds these networks together. Groupware is the collaboration support technology that shapes and holds the activity of teams within those networks."</a:t>
            </a:r>
          </a:p>
          <a:p>
            <a:endParaRPr lang="en-US" altLang="en-US" smtClean="0"/>
          </a:p>
          <a:p>
            <a:r>
              <a:rPr lang="en-US" altLang="en-US" smtClean="0"/>
              <a:t>Project-based organizations are based on the fct that ever-shifting networks of teams that cross traditional, formerly forbidden boundaries, linking once-competing organizations into ecosystems of cooperation</a:t>
            </a:r>
          </a:p>
        </p:txBody>
      </p:sp>
      <p:sp>
        <p:nvSpPr>
          <p:cNvPr id="43011" name="Rectangle 3"/>
          <p:cNvSpPr>
            <a:spLocks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033"/>
          <p:cNvSpPr>
            <a:spLocks noChangeArrowheads="1"/>
          </p:cNvSpPr>
          <p:nvPr userDrawn="1"/>
        </p:nvSpPr>
        <p:spPr bwMode="auto">
          <a:xfrm>
            <a:off x="0" y="6477000"/>
            <a:ext cx="8534400" cy="381000"/>
          </a:xfrm>
          <a:prstGeom prst="rect">
            <a:avLst/>
          </a:prstGeom>
          <a:solidFill>
            <a:srgbClr val="FF0066"/>
          </a:solidFill>
          <a:ln>
            <a:noFill/>
          </a:ln>
          <a:effectLst/>
        </p:spPr>
        <p:txBody>
          <a:bodyPr/>
          <a:lstStyle>
            <a:lvl1pPr>
              <a:defRPr b="1">
                <a:solidFill>
                  <a:schemeClr val="tx1"/>
                </a:solidFill>
                <a:latin typeface="Times" panose="02020603050405020304" pitchFamily="18" charset="0"/>
              </a:defRPr>
            </a:lvl1pPr>
            <a:lvl2pPr marL="742950" indent="-285750">
              <a:defRPr b="1">
                <a:solidFill>
                  <a:schemeClr val="tx1"/>
                </a:solidFill>
                <a:latin typeface="Times" panose="02020603050405020304" pitchFamily="18" charset="0"/>
              </a:defRPr>
            </a:lvl2pPr>
            <a:lvl3pPr marL="1143000" indent="-228600">
              <a:defRPr b="1">
                <a:solidFill>
                  <a:schemeClr val="tx1"/>
                </a:solidFill>
                <a:latin typeface="Times" panose="02020603050405020304" pitchFamily="18" charset="0"/>
              </a:defRPr>
            </a:lvl3pPr>
            <a:lvl4pPr marL="1600200" indent="-228600">
              <a:defRPr b="1">
                <a:solidFill>
                  <a:schemeClr val="tx1"/>
                </a:solidFill>
                <a:latin typeface="Times" panose="02020603050405020304" pitchFamily="18" charset="0"/>
              </a:defRPr>
            </a:lvl4pPr>
            <a:lvl5pPr marL="2057400" indent="-228600">
              <a:defRPr b="1">
                <a:solidFill>
                  <a:schemeClr val="tx1"/>
                </a:solidFill>
                <a:latin typeface="Times" panose="02020603050405020304" pitchFamily="18" charset="0"/>
              </a:defRPr>
            </a:lvl5pPr>
            <a:lvl6pPr marL="2514600" indent="-228600" eaLnBrk="0" fontAlgn="base" hangingPunct="0">
              <a:spcBef>
                <a:spcPct val="0"/>
              </a:spcBef>
              <a:spcAft>
                <a:spcPct val="0"/>
              </a:spcAft>
              <a:defRPr b="1">
                <a:solidFill>
                  <a:schemeClr val="tx1"/>
                </a:solidFill>
                <a:latin typeface="Times" panose="02020603050405020304" pitchFamily="18" charset="0"/>
              </a:defRPr>
            </a:lvl6pPr>
            <a:lvl7pPr marL="2971800" indent="-228600" eaLnBrk="0" fontAlgn="base" hangingPunct="0">
              <a:spcBef>
                <a:spcPct val="0"/>
              </a:spcBef>
              <a:spcAft>
                <a:spcPct val="0"/>
              </a:spcAft>
              <a:defRPr b="1">
                <a:solidFill>
                  <a:schemeClr val="tx1"/>
                </a:solidFill>
                <a:latin typeface="Times" panose="02020603050405020304" pitchFamily="18" charset="0"/>
              </a:defRPr>
            </a:lvl7pPr>
            <a:lvl8pPr marL="3429000" indent="-228600" eaLnBrk="0" fontAlgn="base" hangingPunct="0">
              <a:spcBef>
                <a:spcPct val="0"/>
              </a:spcBef>
              <a:spcAft>
                <a:spcPct val="0"/>
              </a:spcAft>
              <a:defRPr b="1">
                <a:solidFill>
                  <a:schemeClr val="tx1"/>
                </a:solidFill>
                <a:latin typeface="Times" panose="02020603050405020304" pitchFamily="18" charset="0"/>
              </a:defRPr>
            </a:lvl8pPr>
            <a:lvl9pPr marL="3886200" indent="-228600" eaLnBrk="0" fontAlgn="base" hangingPunct="0">
              <a:spcBef>
                <a:spcPct val="0"/>
              </a:spcBef>
              <a:spcAft>
                <a:spcPct val="0"/>
              </a:spcAft>
              <a:defRPr b="1">
                <a:solidFill>
                  <a:schemeClr val="tx1"/>
                </a:solidFill>
                <a:latin typeface="Times" panose="02020603050405020304" pitchFamily="18" charset="0"/>
              </a:defRPr>
            </a:lvl9pPr>
          </a:lstStyle>
          <a:p>
            <a:pPr algn="r" eaLnBrk="1" hangingPunct="1">
              <a:defRPr/>
            </a:pPr>
            <a:r>
              <a:rPr lang="en-US" altLang="en-US" sz="1400">
                <a:latin typeface="Times New Roman" panose="02020603050405020304" pitchFamily="18" charset="0"/>
              </a:rPr>
              <a:t>SYSC4106/TTMG5006 - Software Product Management</a:t>
            </a:r>
          </a:p>
        </p:txBody>
      </p:sp>
      <p:sp>
        <p:nvSpPr>
          <p:cNvPr id="3" name="Rectangle 1034"/>
          <p:cNvSpPr>
            <a:spLocks noChangeArrowheads="1"/>
          </p:cNvSpPr>
          <p:nvPr userDrawn="1"/>
        </p:nvSpPr>
        <p:spPr bwMode="auto">
          <a:xfrm>
            <a:off x="8458200" y="6477000"/>
            <a:ext cx="685800" cy="381000"/>
          </a:xfrm>
          <a:prstGeom prst="rect">
            <a:avLst/>
          </a:prstGeom>
          <a:solidFill>
            <a:srgbClr val="FF0066"/>
          </a:solidFill>
          <a:ln>
            <a:noFill/>
          </a:ln>
          <a:effectLst/>
        </p:spPr>
        <p:txBody>
          <a:bodyPr/>
          <a:lstStyle/>
          <a:p>
            <a:pPr algn="r" eaLnBrk="1" hangingPunct="1"/>
            <a:r>
              <a:rPr lang="en-US" altLang="en-US" sz="1400">
                <a:latin typeface="Times New Roman" pitchFamily="18" charset="0"/>
              </a:rPr>
              <a:t>4-</a:t>
            </a:r>
            <a:fld id="{9AE1F511-224A-40A0-A907-FA0CD7DFC3FF}" type="slidenum">
              <a:rPr lang="en-US" altLang="en-US" sz="1400">
                <a:latin typeface="Times New Roman" pitchFamily="18" charset="0"/>
              </a:rPr>
              <a:pPr algn="r" eaLnBrk="1" hangingPunct="1"/>
              <a:t>‹#›</a:t>
            </a:fld>
            <a:endParaRPr lang="en-US" altLang="en-US" sz="1400">
              <a:latin typeface="Times New Roman" pitchFamily="18" charset="0"/>
            </a:endParaRPr>
          </a:p>
        </p:txBody>
      </p:sp>
      <p:pic>
        <p:nvPicPr>
          <p:cNvPr id="4" name="Picture 103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477000"/>
            <a:ext cx="1066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4880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2382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1697865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5600" y="1295400"/>
            <a:ext cx="4051300" cy="4921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59300" y="1295400"/>
            <a:ext cx="4051300" cy="4921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7375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2444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34679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9485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168750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207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68968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6850" y="222250"/>
            <a:ext cx="2063750" cy="5994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55600" y="222250"/>
            <a:ext cx="6038850" cy="5994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9089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355600" y="1295400"/>
            <a:ext cx="8255000" cy="4921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7" name="Rectangle 4"/>
          <p:cNvSpPr>
            <a:spLocks noGrp="1" noChangeArrowheads="1"/>
          </p:cNvSpPr>
          <p:nvPr>
            <p:ph type="title"/>
          </p:nvPr>
        </p:nvSpPr>
        <p:spPr bwMode="auto">
          <a:xfrm>
            <a:off x="419100" y="222250"/>
            <a:ext cx="8153400" cy="7048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ctr" anchorCtr="0" compatLnSpc="1">
            <a:prstTxWarp prst="textNoShape">
              <a:avLst/>
            </a:prstTxWarp>
          </a:bodyPr>
          <a:lstStyle/>
          <a:p>
            <a:pPr lvl="0"/>
            <a:r>
              <a:rPr lang="en-US" altLang="en-US" smtClean="0"/>
              <a:t>Click to edit Master title style</a:t>
            </a:r>
          </a:p>
        </p:txBody>
      </p:sp>
      <p:sp>
        <p:nvSpPr>
          <p:cNvPr id="1028" name="Rectangle 5"/>
          <p:cNvSpPr>
            <a:spLocks noChangeArrowheads="1"/>
          </p:cNvSpPr>
          <p:nvPr userDrawn="1"/>
        </p:nvSpPr>
        <p:spPr bwMode="auto">
          <a:xfrm>
            <a:off x="0" y="6477000"/>
            <a:ext cx="8534400" cy="381000"/>
          </a:xfrm>
          <a:prstGeom prst="rect">
            <a:avLst/>
          </a:prstGeom>
          <a:solidFill>
            <a:srgbClr val="FF0066"/>
          </a:solidFill>
          <a:ln>
            <a:noFill/>
          </a:ln>
          <a:effectLst/>
        </p:spPr>
        <p:txBody>
          <a:bodyPr/>
          <a:lstStyle>
            <a:lvl1pPr>
              <a:defRPr b="1">
                <a:solidFill>
                  <a:schemeClr val="tx1"/>
                </a:solidFill>
                <a:latin typeface="Times" panose="02020603050405020304" pitchFamily="18" charset="0"/>
              </a:defRPr>
            </a:lvl1pPr>
            <a:lvl2pPr marL="742950" indent="-285750">
              <a:defRPr b="1">
                <a:solidFill>
                  <a:schemeClr val="tx1"/>
                </a:solidFill>
                <a:latin typeface="Times" panose="02020603050405020304" pitchFamily="18" charset="0"/>
              </a:defRPr>
            </a:lvl2pPr>
            <a:lvl3pPr marL="1143000" indent="-228600">
              <a:defRPr b="1">
                <a:solidFill>
                  <a:schemeClr val="tx1"/>
                </a:solidFill>
                <a:latin typeface="Times" panose="02020603050405020304" pitchFamily="18" charset="0"/>
              </a:defRPr>
            </a:lvl3pPr>
            <a:lvl4pPr marL="1600200" indent="-228600">
              <a:defRPr b="1">
                <a:solidFill>
                  <a:schemeClr val="tx1"/>
                </a:solidFill>
                <a:latin typeface="Times" panose="02020603050405020304" pitchFamily="18" charset="0"/>
              </a:defRPr>
            </a:lvl4pPr>
            <a:lvl5pPr marL="2057400" indent="-228600">
              <a:defRPr b="1">
                <a:solidFill>
                  <a:schemeClr val="tx1"/>
                </a:solidFill>
                <a:latin typeface="Times" panose="02020603050405020304" pitchFamily="18" charset="0"/>
              </a:defRPr>
            </a:lvl5pPr>
            <a:lvl6pPr marL="2514600" indent="-228600" eaLnBrk="0" fontAlgn="base" hangingPunct="0">
              <a:spcBef>
                <a:spcPct val="0"/>
              </a:spcBef>
              <a:spcAft>
                <a:spcPct val="0"/>
              </a:spcAft>
              <a:defRPr b="1">
                <a:solidFill>
                  <a:schemeClr val="tx1"/>
                </a:solidFill>
                <a:latin typeface="Times" panose="02020603050405020304" pitchFamily="18" charset="0"/>
              </a:defRPr>
            </a:lvl6pPr>
            <a:lvl7pPr marL="2971800" indent="-228600" eaLnBrk="0" fontAlgn="base" hangingPunct="0">
              <a:spcBef>
                <a:spcPct val="0"/>
              </a:spcBef>
              <a:spcAft>
                <a:spcPct val="0"/>
              </a:spcAft>
              <a:defRPr b="1">
                <a:solidFill>
                  <a:schemeClr val="tx1"/>
                </a:solidFill>
                <a:latin typeface="Times" panose="02020603050405020304" pitchFamily="18" charset="0"/>
              </a:defRPr>
            </a:lvl7pPr>
            <a:lvl8pPr marL="3429000" indent="-228600" eaLnBrk="0" fontAlgn="base" hangingPunct="0">
              <a:spcBef>
                <a:spcPct val="0"/>
              </a:spcBef>
              <a:spcAft>
                <a:spcPct val="0"/>
              </a:spcAft>
              <a:defRPr b="1">
                <a:solidFill>
                  <a:schemeClr val="tx1"/>
                </a:solidFill>
                <a:latin typeface="Times" panose="02020603050405020304" pitchFamily="18" charset="0"/>
              </a:defRPr>
            </a:lvl8pPr>
            <a:lvl9pPr marL="3886200" indent="-228600" eaLnBrk="0" fontAlgn="base" hangingPunct="0">
              <a:spcBef>
                <a:spcPct val="0"/>
              </a:spcBef>
              <a:spcAft>
                <a:spcPct val="0"/>
              </a:spcAft>
              <a:defRPr b="1">
                <a:solidFill>
                  <a:schemeClr val="tx1"/>
                </a:solidFill>
                <a:latin typeface="Times" panose="02020603050405020304" pitchFamily="18" charset="0"/>
              </a:defRPr>
            </a:lvl9pPr>
          </a:lstStyle>
          <a:p>
            <a:pPr algn="r" eaLnBrk="1" hangingPunct="1">
              <a:defRPr/>
            </a:pPr>
            <a:r>
              <a:rPr lang="en-US" altLang="en-US" sz="1400">
                <a:latin typeface="Times New Roman" panose="02020603050405020304" pitchFamily="18" charset="0"/>
              </a:rPr>
              <a:t>SYSC4106/TTMG5006 - Software Product Management</a:t>
            </a:r>
          </a:p>
        </p:txBody>
      </p:sp>
      <p:sp>
        <p:nvSpPr>
          <p:cNvPr id="1029" name="Rectangle 6"/>
          <p:cNvSpPr>
            <a:spLocks noChangeArrowheads="1"/>
          </p:cNvSpPr>
          <p:nvPr userDrawn="1"/>
        </p:nvSpPr>
        <p:spPr bwMode="auto">
          <a:xfrm>
            <a:off x="8458200" y="6477000"/>
            <a:ext cx="685800" cy="381000"/>
          </a:xfrm>
          <a:prstGeom prst="rect">
            <a:avLst/>
          </a:prstGeom>
          <a:solidFill>
            <a:srgbClr val="FF0066"/>
          </a:solidFill>
          <a:ln>
            <a:noFill/>
          </a:ln>
          <a:effectLst/>
        </p:spPr>
        <p:txBody>
          <a:bodyPr/>
          <a:lstStyle/>
          <a:p>
            <a:pPr algn="r" eaLnBrk="1" hangingPunct="1"/>
            <a:r>
              <a:rPr lang="en-US" altLang="en-US" sz="1400">
                <a:latin typeface="Times New Roman" pitchFamily="18" charset="0"/>
              </a:rPr>
              <a:t>4-</a:t>
            </a:r>
            <a:fld id="{6C9F8659-E185-45F3-85E7-F4DCAEB47537}" type="slidenum">
              <a:rPr lang="en-US" altLang="en-US" sz="1400">
                <a:latin typeface="Times New Roman" pitchFamily="18" charset="0"/>
              </a:rPr>
              <a:pPr algn="r" eaLnBrk="1" hangingPunct="1"/>
              <a:t>‹#›</a:t>
            </a:fld>
            <a:endParaRPr lang="en-US" altLang="en-US" sz="1400">
              <a:latin typeface="Times New Roman" pitchFamily="18" charset="0"/>
            </a:endParaRPr>
          </a:p>
        </p:txBody>
      </p:sp>
      <p:pic>
        <p:nvPicPr>
          <p:cNvPr id="1030" name="Picture 7"/>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6477000"/>
            <a:ext cx="1066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 id="2147483853" r:id="rId6"/>
    <p:sldLayoutId id="2147483854" r:id="rId7"/>
    <p:sldLayoutId id="2147483855" r:id="rId8"/>
    <p:sldLayoutId id="2147483856" r:id="rId9"/>
    <p:sldLayoutId id="2147483857" r:id="rId10"/>
    <p:sldLayoutId id="2147483858" r:id="rId11"/>
  </p:sldLayoutIdLst>
  <p:txStyles>
    <p:titleStyle>
      <a:lvl1pPr algn="l" rtl="0" eaLnBrk="0" fontAlgn="base" hangingPunct="0">
        <a:lnSpc>
          <a:spcPct val="90000"/>
        </a:lnSpc>
        <a:spcBef>
          <a:spcPct val="0"/>
        </a:spcBef>
        <a:spcAft>
          <a:spcPct val="0"/>
        </a:spcAft>
        <a:defRPr sz="2800" b="1" i="1" kern="1200">
          <a:solidFill>
            <a:schemeClr val="tx2"/>
          </a:solidFill>
          <a:latin typeface="+mj-lt"/>
          <a:ea typeface="+mj-ea"/>
          <a:cs typeface="+mj-cs"/>
        </a:defRPr>
      </a:lvl1pPr>
      <a:lvl2pPr algn="l" rtl="0" eaLnBrk="0" fontAlgn="base" hangingPunct="0">
        <a:lnSpc>
          <a:spcPct val="90000"/>
        </a:lnSpc>
        <a:spcBef>
          <a:spcPct val="0"/>
        </a:spcBef>
        <a:spcAft>
          <a:spcPct val="0"/>
        </a:spcAft>
        <a:defRPr sz="2800" b="1" i="1">
          <a:solidFill>
            <a:schemeClr val="tx2"/>
          </a:solidFill>
          <a:latin typeface="Times" panose="02020603050405020304" pitchFamily="18" charset="0"/>
        </a:defRPr>
      </a:lvl2pPr>
      <a:lvl3pPr algn="l" rtl="0" eaLnBrk="0" fontAlgn="base" hangingPunct="0">
        <a:lnSpc>
          <a:spcPct val="90000"/>
        </a:lnSpc>
        <a:spcBef>
          <a:spcPct val="0"/>
        </a:spcBef>
        <a:spcAft>
          <a:spcPct val="0"/>
        </a:spcAft>
        <a:defRPr sz="2800" b="1" i="1">
          <a:solidFill>
            <a:schemeClr val="tx2"/>
          </a:solidFill>
          <a:latin typeface="Times" panose="02020603050405020304" pitchFamily="18" charset="0"/>
        </a:defRPr>
      </a:lvl3pPr>
      <a:lvl4pPr algn="l" rtl="0" eaLnBrk="0" fontAlgn="base" hangingPunct="0">
        <a:lnSpc>
          <a:spcPct val="90000"/>
        </a:lnSpc>
        <a:spcBef>
          <a:spcPct val="0"/>
        </a:spcBef>
        <a:spcAft>
          <a:spcPct val="0"/>
        </a:spcAft>
        <a:defRPr sz="2800" b="1" i="1">
          <a:solidFill>
            <a:schemeClr val="tx2"/>
          </a:solidFill>
          <a:latin typeface="Times" panose="02020603050405020304" pitchFamily="18" charset="0"/>
        </a:defRPr>
      </a:lvl4pPr>
      <a:lvl5pPr algn="l" rtl="0" eaLnBrk="0" fontAlgn="base" hangingPunct="0">
        <a:lnSpc>
          <a:spcPct val="90000"/>
        </a:lnSpc>
        <a:spcBef>
          <a:spcPct val="0"/>
        </a:spcBef>
        <a:spcAft>
          <a:spcPct val="0"/>
        </a:spcAft>
        <a:defRPr sz="2800" b="1" i="1">
          <a:solidFill>
            <a:schemeClr val="tx2"/>
          </a:solidFill>
          <a:latin typeface="Times" panose="02020603050405020304" pitchFamily="18" charset="0"/>
        </a:defRPr>
      </a:lvl5pPr>
      <a:lvl6pPr marL="457200" algn="l" rtl="0" eaLnBrk="0" fontAlgn="base" hangingPunct="0">
        <a:lnSpc>
          <a:spcPct val="90000"/>
        </a:lnSpc>
        <a:spcBef>
          <a:spcPct val="0"/>
        </a:spcBef>
        <a:spcAft>
          <a:spcPct val="0"/>
        </a:spcAft>
        <a:defRPr sz="2800" b="1" i="1">
          <a:solidFill>
            <a:schemeClr val="tx2"/>
          </a:solidFill>
          <a:latin typeface="Times" panose="02020603050405020304" pitchFamily="18" charset="0"/>
        </a:defRPr>
      </a:lvl6pPr>
      <a:lvl7pPr marL="914400" algn="l" rtl="0" eaLnBrk="0" fontAlgn="base" hangingPunct="0">
        <a:lnSpc>
          <a:spcPct val="90000"/>
        </a:lnSpc>
        <a:spcBef>
          <a:spcPct val="0"/>
        </a:spcBef>
        <a:spcAft>
          <a:spcPct val="0"/>
        </a:spcAft>
        <a:defRPr sz="2800" b="1" i="1">
          <a:solidFill>
            <a:schemeClr val="tx2"/>
          </a:solidFill>
          <a:latin typeface="Times" panose="02020603050405020304" pitchFamily="18" charset="0"/>
        </a:defRPr>
      </a:lvl7pPr>
      <a:lvl8pPr marL="1371600" algn="l" rtl="0" eaLnBrk="0" fontAlgn="base" hangingPunct="0">
        <a:lnSpc>
          <a:spcPct val="90000"/>
        </a:lnSpc>
        <a:spcBef>
          <a:spcPct val="0"/>
        </a:spcBef>
        <a:spcAft>
          <a:spcPct val="0"/>
        </a:spcAft>
        <a:defRPr sz="2800" b="1" i="1">
          <a:solidFill>
            <a:schemeClr val="tx2"/>
          </a:solidFill>
          <a:latin typeface="Times" panose="02020603050405020304" pitchFamily="18" charset="0"/>
        </a:defRPr>
      </a:lvl8pPr>
      <a:lvl9pPr marL="1828800" algn="l" rtl="0" eaLnBrk="0" fontAlgn="base" hangingPunct="0">
        <a:lnSpc>
          <a:spcPct val="90000"/>
        </a:lnSpc>
        <a:spcBef>
          <a:spcPct val="0"/>
        </a:spcBef>
        <a:spcAft>
          <a:spcPct val="0"/>
        </a:spcAft>
        <a:defRPr sz="2800" b="1" i="1">
          <a:solidFill>
            <a:schemeClr val="tx2"/>
          </a:solidFill>
          <a:latin typeface="Times" panose="02020603050405020304" pitchFamily="18" charset="0"/>
        </a:defRPr>
      </a:lvl9pPr>
    </p:titleStyle>
    <p:bodyStyle>
      <a:lvl1pPr marL="285750" indent="-285750" algn="l" rtl="0" eaLnBrk="0" fontAlgn="base" hangingPunct="0">
        <a:lnSpc>
          <a:spcPct val="90000"/>
        </a:lnSpc>
        <a:spcBef>
          <a:spcPct val="30000"/>
        </a:spcBef>
        <a:spcAft>
          <a:spcPct val="0"/>
        </a:spcAft>
        <a:buClr>
          <a:schemeClr val="tx2"/>
        </a:buClr>
        <a:buSzPct val="75000"/>
        <a:buFont typeface="Symbol" panose="05050102010706020507" pitchFamily="18" charset="2"/>
        <a:buChar char="¨"/>
        <a:defRPr sz="2400" kern="1200">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Clr>
          <a:schemeClr val="tx1"/>
        </a:buClr>
        <a:buSzPct val="100000"/>
        <a:buFont typeface="Wingdings" panose="05000000000000000000" pitchFamily="2" charset="2"/>
        <a:buChar char="w"/>
        <a:defRPr sz="2000" b="1" kern="1200">
          <a:solidFill>
            <a:schemeClr val="tx1"/>
          </a:solidFill>
          <a:latin typeface="+mn-lt"/>
          <a:ea typeface="+mn-ea"/>
          <a:cs typeface="+mn-cs"/>
        </a:defRPr>
      </a:lvl2pPr>
      <a:lvl3pPr marL="1143000" indent="-228600" algn="l" rtl="0" eaLnBrk="0" fontAlgn="base" hangingPunct="0">
        <a:lnSpc>
          <a:spcPct val="90000"/>
        </a:lnSpc>
        <a:spcBef>
          <a:spcPct val="30000"/>
        </a:spcBef>
        <a:spcAft>
          <a:spcPct val="0"/>
        </a:spcAft>
        <a:buClr>
          <a:schemeClr val="tx2"/>
        </a:buClr>
        <a:buSzPct val="60000"/>
        <a:buFont typeface="Wingdings" panose="05000000000000000000" pitchFamily="2" charset="2"/>
        <a:buChar char="t"/>
        <a:defRPr b="1" kern="1200">
          <a:solidFill>
            <a:schemeClr val="tx1"/>
          </a:solidFill>
          <a:latin typeface="+mn-lt"/>
          <a:ea typeface="+mn-ea"/>
          <a:cs typeface="+mn-cs"/>
        </a:defRPr>
      </a:lvl3pPr>
      <a:lvl4pPr marL="1543050" indent="-171450" algn="l" rtl="0" eaLnBrk="0" fontAlgn="base" hangingPunct="0">
        <a:lnSpc>
          <a:spcPct val="90000"/>
        </a:lnSpc>
        <a:spcBef>
          <a:spcPct val="30000"/>
        </a:spcBef>
        <a:spcAft>
          <a:spcPct val="0"/>
        </a:spcAft>
        <a:buSzPct val="100000"/>
        <a:buChar char="–"/>
        <a:defRPr b="1" kern="1200">
          <a:solidFill>
            <a:schemeClr val="tx1"/>
          </a:solidFill>
          <a:latin typeface="+mn-lt"/>
          <a:ea typeface="+mn-ea"/>
          <a:cs typeface="+mn-cs"/>
        </a:defRPr>
      </a:lvl4pPr>
      <a:lvl5pPr marL="2000250" indent="-171450" algn="l" rtl="0" eaLnBrk="0" fontAlgn="base" hangingPunct="0">
        <a:lnSpc>
          <a:spcPct val="90000"/>
        </a:lnSpc>
        <a:spcBef>
          <a:spcPct val="30000"/>
        </a:spcBef>
        <a:spcAft>
          <a:spcPct val="0"/>
        </a:spcAft>
        <a:buSzPct val="100000"/>
        <a:buChar char="–"/>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p:cNvSpPr>
            <a:spLocks noChangeArrowheads="1"/>
          </p:cNvSpPr>
          <p:nvPr>
            <p:ph type="ctrTitle" idx="4294967295"/>
          </p:nvPr>
        </p:nvSpPr>
        <p:spPr>
          <a:xfrm>
            <a:off x="685800" y="2532063"/>
            <a:ext cx="7772400" cy="955675"/>
          </a:xfrm>
          <a:solidFill>
            <a:srgbClr val="FFFFFF"/>
          </a:solidFill>
          <a:ln w="76200" cmpd="tri">
            <a:solidFill>
              <a:srgbClr val="000000"/>
            </a:solidFill>
            <a:miter lim="800000"/>
            <a:headEnd/>
            <a:tailEnd/>
          </a:ln>
        </p:spPr>
        <p:txBody>
          <a:bodyPr/>
          <a:lstStyle/>
          <a:p>
            <a:pPr algn="ctr"/>
            <a:r>
              <a:rPr lang="en-US" altLang="en-US" sz="2400" i="0" smtClean="0"/>
              <a:t> </a:t>
            </a:r>
            <a:r>
              <a:rPr lang="en-US" altLang="en-US" sz="4400" i="0" smtClean="0"/>
              <a:t>Organization Structure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a:noFill/>
          <a:extLst>
            <a:ext uri="{91240B29-F687-4F45-9708-019B960494DF}">
              <a14:hiddenLine xmlns:a14="http://schemas.microsoft.com/office/drawing/2010/main" w="12700" cap="flat" cmpd="sng">
                <a:solidFill>
                  <a:schemeClr val="tx1"/>
                </a:solidFill>
                <a:prstDash val="solid"/>
                <a:miter lim="800000"/>
                <a:headEnd/>
                <a:tailEnd/>
              </a14:hiddenLine>
            </a:ext>
          </a:extLst>
        </p:spPr>
        <p:txBody>
          <a:bodyPr/>
          <a:lstStyle/>
          <a:p>
            <a:r>
              <a:rPr lang="en-US" altLang="en-US" smtClean="0"/>
              <a:t>Organizational Structures</a:t>
            </a:r>
          </a:p>
        </p:txBody>
      </p:sp>
      <p:sp>
        <p:nvSpPr>
          <p:cNvPr id="587779" name="Rectangle 3"/>
          <p:cNvSpPr>
            <a:spLocks noGrp="1" noChangeArrowheads="1"/>
          </p:cNvSpPr>
          <p:nvPr>
            <p:ph idx="1"/>
          </p:nvPr>
        </p:nvSpPr>
        <p:spPr>
          <a:xfrm>
            <a:off x="381000" y="1143000"/>
            <a:ext cx="8255000" cy="4800600"/>
          </a:xfrm>
        </p:spPr>
        <p:txBody>
          <a:bodyPr/>
          <a:lstStyle/>
          <a:p>
            <a:r>
              <a:rPr lang="en-US" altLang="en-US" smtClean="0"/>
              <a:t>Types of Organization</a:t>
            </a:r>
          </a:p>
          <a:p>
            <a:pPr lvl="1"/>
            <a:r>
              <a:rPr lang="en-US" altLang="en-US" smtClean="0"/>
              <a:t>Functional organization</a:t>
            </a:r>
          </a:p>
          <a:p>
            <a:pPr lvl="1"/>
            <a:r>
              <a:rPr lang="en-US" altLang="en-US" smtClean="0"/>
              <a:t>Project-based organization</a:t>
            </a:r>
          </a:p>
          <a:p>
            <a:pPr lvl="1"/>
            <a:r>
              <a:rPr lang="en-US" altLang="en-US" smtClean="0"/>
              <a:t>Matrix organization</a:t>
            </a:r>
          </a:p>
          <a:p>
            <a:r>
              <a:rPr lang="en-US" altLang="en-US" smtClean="0"/>
              <a:t>Parameters for each organization type</a:t>
            </a:r>
          </a:p>
          <a:p>
            <a:pPr lvl="1"/>
            <a:r>
              <a:rPr lang="en-US" altLang="en-US" smtClean="0"/>
              <a:t>Organizational Unit </a:t>
            </a:r>
          </a:p>
          <a:p>
            <a:pPr lvl="1"/>
            <a:r>
              <a:rPr lang="en-US" altLang="en-US" smtClean="0"/>
              <a:t>Key players</a:t>
            </a:r>
          </a:p>
          <a:p>
            <a:pPr lvl="1"/>
            <a:r>
              <a:rPr lang="en-US" altLang="en-US" smtClean="0"/>
              <a:t>Roles and Responsibilities</a:t>
            </a:r>
          </a:p>
          <a:p>
            <a:pPr lvl="1"/>
            <a:r>
              <a:rPr lang="en-US" altLang="en-US" smtClean="0"/>
              <a:t>Structure: Information flow between roles</a:t>
            </a:r>
          </a:p>
          <a:p>
            <a:pPr lvl="1"/>
            <a:r>
              <a:rPr lang="en-US" altLang="en-US" smtClean="0"/>
              <a:t>Benefits and Challenges (“pros and cons”)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877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58777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58777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587779">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58777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58777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58777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58777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587779">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58777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79"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p:txBody>
          <a:bodyPr/>
          <a:lstStyle/>
          <a:p>
            <a:r>
              <a:rPr lang="en-US" altLang="en-US" smtClean="0"/>
              <a:t>Groups, Teams and Committees</a:t>
            </a:r>
          </a:p>
        </p:txBody>
      </p:sp>
      <p:sp>
        <p:nvSpPr>
          <p:cNvPr id="17411" name="Rectangle 1027"/>
          <p:cNvSpPr>
            <a:spLocks noGrp="1" noChangeArrowheads="1"/>
          </p:cNvSpPr>
          <p:nvPr>
            <p:ph idx="1"/>
          </p:nvPr>
        </p:nvSpPr>
        <p:spPr/>
        <p:txBody>
          <a:bodyPr/>
          <a:lstStyle/>
          <a:p>
            <a:r>
              <a:rPr lang="en-US" altLang="en-US" b="1" smtClean="0"/>
              <a:t>Group:</a:t>
            </a:r>
            <a:r>
              <a:rPr lang="en-US" altLang="en-US" smtClean="0"/>
              <a:t>  A set of people who are assigned to a common task and who work individually to accomplish their assignment. </a:t>
            </a:r>
          </a:p>
          <a:p>
            <a:r>
              <a:rPr lang="en-US" altLang="en-US" b="1" smtClean="0"/>
              <a:t>Team:</a:t>
            </a:r>
            <a:r>
              <a:rPr lang="en-US" altLang="en-US" smtClean="0"/>
              <a:t> A small group of people working on the same problem or subproblem in a project. The team members depend on one another to do their tasks. </a:t>
            </a:r>
          </a:p>
          <a:p>
            <a:pPr lvl="1"/>
            <a:r>
              <a:rPr lang="en-US" altLang="en-US" smtClean="0"/>
              <a:t>Project Team: Based on the premise that every member can and must make a valuable contribution to the project.</a:t>
            </a:r>
          </a:p>
          <a:p>
            <a:r>
              <a:rPr lang="en-US" altLang="en-US" b="1" smtClean="0"/>
              <a:t>Committee:</a:t>
            </a:r>
            <a:r>
              <a:rPr lang="en-US" altLang="en-US" smtClean="0"/>
              <a:t> Comprised of people who come together to review and critique issues, propose recommendations for action. </a:t>
            </a:r>
          </a:p>
          <a:p>
            <a:endParaRPr lang="en-US" altLang="en-US"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4"/>
          <p:cNvSpPr>
            <a:spLocks noGrp="1" noChangeArrowheads="1"/>
          </p:cNvSpPr>
          <p:nvPr>
            <p:ph type="title"/>
          </p:nvPr>
        </p:nvSpPr>
        <p:spPr/>
        <p:txBody>
          <a:bodyPr/>
          <a:lstStyle/>
          <a:p>
            <a:r>
              <a:rPr lang="en-US" altLang="en-US" smtClean="0"/>
              <a:t>Organization</a:t>
            </a:r>
          </a:p>
        </p:txBody>
      </p:sp>
      <p:sp>
        <p:nvSpPr>
          <p:cNvPr id="18435" name="Rectangle 5"/>
          <p:cNvSpPr>
            <a:spLocks noGrp="1" noChangeArrowheads="1"/>
          </p:cNvSpPr>
          <p:nvPr>
            <p:ph idx="1"/>
          </p:nvPr>
        </p:nvSpPr>
        <p:spPr/>
        <p:txBody>
          <a:bodyPr/>
          <a:lstStyle/>
          <a:p>
            <a:r>
              <a:rPr lang="en-US" altLang="en-US" b="1" u="sng" smtClean="0"/>
              <a:t>Definition</a:t>
            </a:r>
            <a:r>
              <a:rPr lang="en-US" altLang="en-US" b="1" smtClean="0"/>
              <a:t> Organization</a:t>
            </a:r>
            <a:r>
              <a:rPr lang="en-US" altLang="en-US" smtClean="0"/>
              <a:t>: A set of </a:t>
            </a:r>
            <a:r>
              <a:rPr lang="en-US" altLang="en-US" i="1" smtClean="0"/>
              <a:t>organizational</a:t>
            </a:r>
            <a:r>
              <a:rPr lang="en-US" altLang="en-US" smtClean="0"/>
              <a:t> units and their different </a:t>
            </a:r>
            <a:r>
              <a:rPr lang="en-US" altLang="en-US" i="1" smtClean="0"/>
              <a:t>relationships</a:t>
            </a:r>
            <a:r>
              <a:rPr lang="en-US" altLang="en-US" smtClean="0"/>
              <a:t> with each other. </a:t>
            </a:r>
          </a:p>
          <a:p>
            <a:r>
              <a:rPr lang="en-US" altLang="en-US" smtClean="0"/>
              <a:t>Organizational units can be organized according to many different categories, for example by function or by project type.  Typical examples of organizational units: </a:t>
            </a:r>
          </a:p>
          <a:p>
            <a:pPr lvl="1"/>
            <a:r>
              <a:rPr lang="en-US" altLang="en-US" smtClean="0"/>
              <a:t>Functional organization: Research, Development, Marketing, Sales</a:t>
            </a:r>
          </a:p>
          <a:p>
            <a:pPr lvl="1"/>
            <a:r>
              <a:rPr lang="en-US" altLang="en-US" smtClean="0"/>
              <a:t>Project organization:  Project 1, Project 2, ….</a:t>
            </a:r>
          </a:p>
          <a:p>
            <a:r>
              <a:rPr lang="en-US" altLang="en-US" smtClean="0"/>
              <a:t>An organization usually has 3 different types of relationships between organizational units.  </a:t>
            </a:r>
          </a:p>
          <a:p>
            <a:pPr lvl="1"/>
            <a:r>
              <a:rPr lang="en-US" altLang="en-US" smtClean="0"/>
              <a:t>Reporting structure: To report status information</a:t>
            </a:r>
          </a:p>
          <a:p>
            <a:pPr lvl="1"/>
            <a:r>
              <a:rPr lang="en-US" altLang="en-US" smtClean="0"/>
              <a:t>Decision structure:  To propagating decisions</a:t>
            </a:r>
          </a:p>
          <a:p>
            <a:pPr lvl="1"/>
            <a:r>
              <a:rPr lang="en-US" altLang="en-US" smtClean="0"/>
              <a:t>Communication structure: To exchange of information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p:txBody>
          <a:bodyPr/>
          <a:lstStyle/>
          <a:p>
            <a:r>
              <a:rPr lang="de-DE" altLang="en-US" smtClean="0"/>
              <a:t>Functional Organization</a:t>
            </a:r>
          </a:p>
        </p:txBody>
      </p:sp>
      <p:sp>
        <p:nvSpPr>
          <p:cNvPr id="19459" name="Rectangle 5"/>
          <p:cNvSpPr>
            <a:spLocks noGrp="1" noChangeArrowheads="1"/>
          </p:cNvSpPr>
          <p:nvPr>
            <p:ph idx="1"/>
          </p:nvPr>
        </p:nvSpPr>
        <p:spPr/>
        <p:txBody>
          <a:bodyPr/>
          <a:lstStyle/>
          <a:p>
            <a:pPr>
              <a:lnSpc>
                <a:spcPct val="80000"/>
              </a:lnSpc>
            </a:pPr>
            <a:r>
              <a:rPr lang="de-DE" altLang="en-US" b="1" smtClean="0"/>
              <a:t>Definition</a:t>
            </a:r>
            <a:r>
              <a:rPr lang="de-DE" altLang="en-US" smtClean="0"/>
              <a:t>: In a </a:t>
            </a:r>
            <a:r>
              <a:rPr lang="de-DE" altLang="en-US" b="1" smtClean="0"/>
              <a:t>functional organization</a:t>
            </a:r>
            <a:r>
              <a:rPr lang="de-DE" altLang="en-US" smtClean="0"/>
              <a:t> participants are grouped into so-called </a:t>
            </a:r>
            <a:r>
              <a:rPr lang="de-DE" altLang="en-US" b="1" smtClean="0"/>
              <a:t>departments</a:t>
            </a:r>
            <a:r>
              <a:rPr lang="de-DE" altLang="en-US" smtClean="0"/>
              <a:t>, each of which addresses a function.</a:t>
            </a:r>
          </a:p>
          <a:p>
            <a:pPr>
              <a:lnSpc>
                <a:spcPct val="80000"/>
              </a:lnSpc>
            </a:pPr>
            <a:r>
              <a:rPr lang="de-DE" altLang="en-US" smtClean="0"/>
              <a:t>Examples of departments: </a:t>
            </a:r>
          </a:p>
          <a:p>
            <a:pPr lvl="1">
              <a:lnSpc>
                <a:spcPct val="80000"/>
              </a:lnSpc>
            </a:pPr>
            <a:r>
              <a:rPr lang="de-DE" altLang="en-US" smtClean="0"/>
              <a:t>Traditional businesses: Research, development, production, sales, finance. </a:t>
            </a:r>
          </a:p>
          <a:p>
            <a:pPr lvl="1">
              <a:lnSpc>
                <a:spcPct val="80000"/>
              </a:lnSpc>
            </a:pPr>
            <a:r>
              <a:rPr lang="de-DE" altLang="en-US" smtClean="0"/>
              <a:t>In software companies the departments correspond to the activities in the software process: Analysis, design, integration, testing departments.</a:t>
            </a:r>
          </a:p>
          <a:p>
            <a:pPr>
              <a:lnSpc>
                <a:spcPct val="80000"/>
              </a:lnSpc>
            </a:pPr>
            <a:r>
              <a:rPr lang="de-DE" altLang="en-US" smtClean="0"/>
              <a:t>Key properties: </a:t>
            </a:r>
          </a:p>
          <a:p>
            <a:pPr lvl="1">
              <a:lnSpc>
                <a:spcPct val="80000"/>
              </a:lnSpc>
            </a:pPr>
            <a:r>
              <a:rPr lang="de-DE" altLang="en-US" smtClean="0"/>
              <a:t>Projects are usually pipelined through the departments of a functional organization. The project starts in research, then it moves to development, then it moves to production, ….</a:t>
            </a:r>
          </a:p>
          <a:p>
            <a:pPr lvl="1">
              <a:lnSpc>
                <a:spcPct val="80000"/>
              </a:lnSpc>
            </a:pPr>
            <a:r>
              <a:rPr lang="de-DE" altLang="en-US" smtClean="0"/>
              <a:t>Only a few participants are involved in the complete project. </a:t>
            </a:r>
          </a:p>
          <a:p>
            <a:pPr lvl="1">
              <a:lnSpc>
                <a:spcPct val="80000"/>
              </a:lnSpc>
            </a:pPr>
            <a:r>
              <a:rPr lang="de-DE" altLang="en-US" smtClean="0"/>
              <a:t>Separate departments often address the same cross-functional needs (Examples: configuration management, IT infrastructure)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de-DE" altLang="en-US" smtClean="0"/>
              <a:t>Example of a Functional Organization</a:t>
            </a:r>
          </a:p>
        </p:txBody>
      </p:sp>
      <p:sp>
        <p:nvSpPr>
          <p:cNvPr id="20483" name="Rectangle 4"/>
          <p:cNvSpPr>
            <a:spLocks noChangeArrowheads="1"/>
          </p:cNvSpPr>
          <p:nvPr/>
        </p:nvSpPr>
        <p:spPr bwMode="auto">
          <a:xfrm>
            <a:off x="3581400" y="1295400"/>
            <a:ext cx="1981200" cy="685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Executive Office</a:t>
            </a:r>
          </a:p>
        </p:txBody>
      </p:sp>
      <p:sp>
        <p:nvSpPr>
          <p:cNvPr id="20484" name="Rectangle 6"/>
          <p:cNvSpPr>
            <a:spLocks noChangeArrowheads="1"/>
          </p:cNvSpPr>
          <p:nvPr/>
        </p:nvSpPr>
        <p:spPr bwMode="auto">
          <a:xfrm>
            <a:off x="1295400" y="2362200"/>
            <a:ext cx="1600200" cy="685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Finance</a:t>
            </a:r>
          </a:p>
        </p:txBody>
      </p:sp>
      <p:sp>
        <p:nvSpPr>
          <p:cNvPr id="20485" name="Rectangle 7"/>
          <p:cNvSpPr>
            <a:spLocks noChangeArrowheads="1"/>
          </p:cNvSpPr>
          <p:nvPr/>
        </p:nvSpPr>
        <p:spPr bwMode="auto">
          <a:xfrm>
            <a:off x="3048000" y="2362200"/>
            <a:ext cx="1676400" cy="685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Production</a:t>
            </a:r>
          </a:p>
        </p:txBody>
      </p:sp>
      <p:sp>
        <p:nvSpPr>
          <p:cNvPr id="20486" name="Rectangle 8"/>
          <p:cNvSpPr>
            <a:spLocks noChangeArrowheads="1"/>
          </p:cNvSpPr>
          <p:nvPr/>
        </p:nvSpPr>
        <p:spPr bwMode="auto">
          <a:xfrm>
            <a:off x="4876800" y="2362200"/>
            <a:ext cx="1219200" cy="685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Sales</a:t>
            </a:r>
          </a:p>
        </p:txBody>
      </p:sp>
      <p:sp>
        <p:nvSpPr>
          <p:cNvPr id="20487" name="Rectangle 9"/>
          <p:cNvSpPr>
            <a:spLocks noChangeArrowheads="1"/>
          </p:cNvSpPr>
          <p:nvPr/>
        </p:nvSpPr>
        <p:spPr bwMode="auto">
          <a:xfrm>
            <a:off x="6324600" y="2362200"/>
            <a:ext cx="1219200" cy="685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Marketing</a:t>
            </a:r>
          </a:p>
        </p:txBody>
      </p:sp>
      <p:sp>
        <p:nvSpPr>
          <p:cNvPr id="20488" name="Rectangle 10"/>
          <p:cNvSpPr>
            <a:spLocks noChangeArrowheads="1"/>
          </p:cNvSpPr>
          <p:nvPr/>
        </p:nvSpPr>
        <p:spPr bwMode="auto">
          <a:xfrm>
            <a:off x="5943600" y="3276600"/>
            <a:ext cx="838200" cy="381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sz="1600">
                <a:latin typeface="Palatino" pitchFamily="18" charset="0"/>
              </a:rPr>
              <a:t>Region1</a:t>
            </a:r>
          </a:p>
        </p:txBody>
      </p:sp>
      <p:sp>
        <p:nvSpPr>
          <p:cNvPr id="20489" name="Rectangle 11"/>
          <p:cNvSpPr>
            <a:spLocks noChangeArrowheads="1"/>
          </p:cNvSpPr>
          <p:nvPr/>
        </p:nvSpPr>
        <p:spPr bwMode="auto">
          <a:xfrm>
            <a:off x="5943600" y="3886200"/>
            <a:ext cx="838200" cy="304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sz="1600">
                <a:latin typeface="Palatino" pitchFamily="18" charset="0"/>
              </a:rPr>
              <a:t>Region2</a:t>
            </a:r>
          </a:p>
        </p:txBody>
      </p:sp>
      <p:sp>
        <p:nvSpPr>
          <p:cNvPr id="20490" name="Rectangle 13"/>
          <p:cNvSpPr>
            <a:spLocks noChangeArrowheads="1"/>
          </p:cNvSpPr>
          <p:nvPr/>
        </p:nvSpPr>
        <p:spPr bwMode="auto">
          <a:xfrm>
            <a:off x="5943600" y="4876800"/>
            <a:ext cx="838200" cy="304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sz="1600">
                <a:latin typeface="Palatino" pitchFamily="18" charset="0"/>
              </a:rPr>
              <a:t>IT</a:t>
            </a:r>
          </a:p>
        </p:txBody>
      </p:sp>
      <p:sp>
        <p:nvSpPr>
          <p:cNvPr id="20491" name="Rectangle 14"/>
          <p:cNvSpPr>
            <a:spLocks noChangeArrowheads="1"/>
          </p:cNvSpPr>
          <p:nvPr/>
        </p:nvSpPr>
        <p:spPr bwMode="auto">
          <a:xfrm>
            <a:off x="7315200" y="3276600"/>
            <a:ext cx="838200" cy="381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sz="1600">
                <a:latin typeface="Palatino" pitchFamily="18" charset="0"/>
              </a:rPr>
              <a:t>Region1</a:t>
            </a:r>
          </a:p>
        </p:txBody>
      </p:sp>
      <p:sp>
        <p:nvSpPr>
          <p:cNvPr id="20492" name="Rectangle 15"/>
          <p:cNvSpPr>
            <a:spLocks noChangeArrowheads="1"/>
          </p:cNvSpPr>
          <p:nvPr/>
        </p:nvSpPr>
        <p:spPr bwMode="auto">
          <a:xfrm>
            <a:off x="7315200" y="3886200"/>
            <a:ext cx="838200" cy="304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sz="1600">
                <a:latin typeface="Palatino" pitchFamily="18" charset="0"/>
              </a:rPr>
              <a:t>Region2</a:t>
            </a:r>
          </a:p>
        </p:txBody>
      </p:sp>
      <p:sp>
        <p:nvSpPr>
          <p:cNvPr id="20493" name="Rectangle 17"/>
          <p:cNvSpPr>
            <a:spLocks noChangeArrowheads="1"/>
          </p:cNvSpPr>
          <p:nvPr/>
        </p:nvSpPr>
        <p:spPr bwMode="auto">
          <a:xfrm>
            <a:off x="7315200" y="4876800"/>
            <a:ext cx="838200" cy="304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sz="1600">
                <a:latin typeface="Palatino" pitchFamily="18" charset="0"/>
              </a:rPr>
              <a:t>IT</a:t>
            </a:r>
          </a:p>
        </p:txBody>
      </p:sp>
      <p:sp>
        <p:nvSpPr>
          <p:cNvPr id="20494" name="Rectangle 18"/>
          <p:cNvSpPr>
            <a:spLocks noChangeArrowheads="1"/>
          </p:cNvSpPr>
          <p:nvPr/>
        </p:nvSpPr>
        <p:spPr bwMode="auto">
          <a:xfrm>
            <a:off x="2362200" y="3276600"/>
            <a:ext cx="838200" cy="381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sz="1600">
                <a:latin typeface="Palatino" pitchFamily="18" charset="0"/>
              </a:rPr>
              <a:t>Region1</a:t>
            </a:r>
          </a:p>
        </p:txBody>
      </p:sp>
      <p:sp>
        <p:nvSpPr>
          <p:cNvPr id="20495" name="Rectangle 19"/>
          <p:cNvSpPr>
            <a:spLocks noChangeArrowheads="1"/>
          </p:cNvSpPr>
          <p:nvPr/>
        </p:nvSpPr>
        <p:spPr bwMode="auto">
          <a:xfrm>
            <a:off x="2362200" y="3886200"/>
            <a:ext cx="838200" cy="304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sz="1600">
                <a:latin typeface="Palatino" pitchFamily="18" charset="0"/>
              </a:rPr>
              <a:t>Region2</a:t>
            </a:r>
          </a:p>
        </p:txBody>
      </p:sp>
      <p:sp>
        <p:nvSpPr>
          <p:cNvPr id="20496" name="Rectangle 21"/>
          <p:cNvSpPr>
            <a:spLocks noChangeArrowheads="1"/>
          </p:cNvSpPr>
          <p:nvPr/>
        </p:nvSpPr>
        <p:spPr bwMode="auto">
          <a:xfrm>
            <a:off x="2362200" y="4876800"/>
            <a:ext cx="838200" cy="304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sz="1600">
                <a:latin typeface="Palatino" pitchFamily="18" charset="0"/>
              </a:rPr>
              <a:t>IT</a:t>
            </a:r>
          </a:p>
        </p:txBody>
      </p:sp>
      <p:sp>
        <p:nvSpPr>
          <p:cNvPr id="20497" name="Rectangle 26"/>
          <p:cNvSpPr>
            <a:spLocks noChangeArrowheads="1"/>
          </p:cNvSpPr>
          <p:nvPr/>
        </p:nvSpPr>
        <p:spPr bwMode="auto">
          <a:xfrm>
            <a:off x="4114800" y="3276600"/>
            <a:ext cx="838200" cy="381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sz="1600">
                <a:latin typeface="Palatino" pitchFamily="18" charset="0"/>
              </a:rPr>
              <a:t>Region1</a:t>
            </a:r>
          </a:p>
        </p:txBody>
      </p:sp>
      <p:sp>
        <p:nvSpPr>
          <p:cNvPr id="20498" name="Rectangle 27"/>
          <p:cNvSpPr>
            <a:spLocks noChangeArrowheads="1"/>
          </p:cNvSpPr>
          <p:nvPr/>
        </p:nvSpPr>
        <p:spPr bwMode="auto">
          <a:xfrm>
            <a:off x="4114800" y="3886200"/>
            <a:ext cx="838200" cy="304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sz="1600">
                <a:latin typeface="Palatino" pitchFamily="18" charset="0"/>
              </a:rPr>
              <a:t>Region2</a:t>
            </a:r>
          </a:p>
        </p:txBody>
      </p:sp>
      <p:sp>
        <p:nvSpPr>
          <p:cNvPr id="20499" name="Rectangle 28"/>
          <p:cNvSpPr>
            <a:spLocks noChangeArrowheads="1"/>
          </p:cNvSpPr>
          <p:nvPr/>
        </p:nvSpPr>
        <p:spPr bwMode="auto">
          <a:xfrm>
            <a:off x="4114800" y="4876800"/>
            <a:ext cx="838200" cy="304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sz="1600">
                <a:latin typeface="Palatino" pitchFamily="18" charset="0"/>
              </a:rPr>
              <a:t>IT</a:t>
            </a:r>
          </a:p>
        </p:txBody>
      </p:sp>
      <p:cxnSp>
        <p:nvCxnSpPr>
          <p:cNvPr id="20500" name="AutoShape 29"/>
          <p:cNvCxnSpPr>
            <a:cxnSpLocks noChangeShapeType="1"/>
            <a:stCxn id="20483" idx="2"/>
            <a:endCxn id="20484" idx="0"/>
          </p:cNvCxnSpPr>
          <p:nvPr/>
        </p:nvCxnSpPr>
        <p:spPr bwMode="auto">
          <a:xfrm rot="5400000">
            <a:off x="3143250" y="933450"/>
            <a:ext cx="381000" cy="2476500"/>
          </a:xfrm>
          <a:prstGeom prst="bentConnector3">
            <a:avLst>
              <a:gd name="adj1" fmla="val 50000"/>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1" name="AutoShape 30"/>
          <p:cNvCxnSpPr>
            <a:cxnSpLocks noChangeShapeType="1"/>
            <a:stCxn id="20483" idx="2"/>
            <a:endCxn id="20485" idx="0"/>
          </p:cNvCxnSpPr>
          <p:nvPr/>
        </p:nvCxnSpPr>
        <p:spPr bwMode="auto">
          <a:xfrm rot="5400000">
            <a:off x="4038600" y="1828800"/>
            <a:ext cx="381000" cy="685800"/>
          </a:xfrm>
          <a:prstGeom prst="bentConnector3">
            <a:avLst>
              <a:gd name="adj1" fmla="val 50000"/>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2" name="AutoShape 31"/>
          <p:cNvCxnSpPr>
            <a:cxnSpLocks noChangeShapeType="1"/>
            <a:stCxn id="20483" idx="2"/>
            <a:endCxn id="20486" idx="0"/>
          </p:cNvCxnSpPr>
          <p:nvPr/>
        </p:nvCxnSpPr>
        <p:spPr bwMode="auto">
          <a:xfrm rot="16200000" flipH="1">
            <a:off x="4838700" y="1714500"/>
            <a:ext cx="381000" cy="914400"/>
          </a:xfrm>
          <a:prstGeom prst="bentConnector3">
            <a:avLst>
              <a:gd name="adj1" fmla="val 50000"/>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3" name="AutoShape 32"/>
          <p:cNvCxnSpPr>
            <a:cxnSpLocks noChangeShapeType="1"/>
            <a:stCxn id="20483" idx="2"/>
            <a:endCxn id="20487" idx="0"/>
          </p:cNvCxnSpPr>
          <p:nvPr/>
        </p:nvCxnSpPr>
        <p:spPr bwMode="auto">
          <a:xfrm rot="16200000" flipH="1">
            <a:off x="5562600" y="990600"/>
            <a:ext cx="381000" cy="2362200"/>
          </a:xfrm>
          <a:prstGeom prst="bentConnector3">
            <a:avLst>
              <a:gd name="adj1" fmla="val 50000"/>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4" name="AutoShape 37"/>
          <p:cNvCxnSpPr>
            <a:cxnSpLocks noChangeShapeType="1"/>
            <a:stCxn id="20484" idx="2"/>
            <a:endCxn id="20494" idx="1"/>
          </p:cNvCxnSpPr>
          <p:nvPr/>
        </p:nvCxnSpPr>
        <p:spPr bwMode="auto">
          <a:xfrm rot="16200000" flipH="1">
            <a:off x="2019300" y="3124200"/>
            <a:ext cx="419100" cy="266700"/>
          </a:xfrm>
          <a:prstGeom prst="bentConnector2">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5" name="AutoShape 38"/>
          <p:cNvCxnSpPr>
            <a:cxnSpLocks noChangeShapeType="1"/>
            <a:stCxn id="20495" idx="1"/>
            <a:endCxn id="20484" idx="2"/>
          </p:cNvCxnSpPr>
          <p:nvPr/>
        </p:nvCxnSpPr>
        <p:spPr bwMode="auto">
          <a:xfrm rot="10800000">
            <a:off x="2095500" y="3048000"/>
            <a:ext cx="266700" cy="990600"/>
          </a:xfrm>
          <a:prstGeom prst="bentConnector2">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6" name="AutoShape 39"/>
          <p:cNvCxnSpPr>
            <a:cxnSpLocks noChangeShapeType="1"/>
            <a:stCxn id="20496" idx="1"/>
            <a:endCxn id="20484" idx="2"/>
          </p:cNvCxnSpPr>
          <p:nvPr/>
        </p:nvCxnSpPr>
        <p:spPr bwMode="auto">
          <a:xfrm rot="10800000">
            <a:off x="2095500" y="3048000"/>
            <a:ext cx="266700" cy="1981200"/>
          </a:xfrm>
          <a:prstGeom prst="bentConnector2">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7" name="AutoShape 40"/>
          <p:cNvCxnSpPr>
            <a:cxnSpLocks noChangeShapeType="1"/>
            <a:stCxn id="20485" idx="2"/>
            <a:endCxn id="20497" idx="1"/>
          </p:cNvCxnSpPr>
          <p:nvPr/>
        </p:nvCxnSpPr>
        <p:spPr bwMode="auto">
          <a:xfrm rot="16200000" flipH="1">
            <a:off x="3790950" y="3143250"/>
            <a:ext cx="419100" cy="228600"/>
          </a:xfrm>
          <a:prstGeom prst="bentConnector2">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8" name="AutoShape 41"/>
          <p:cNvCxnSpPr>
            <a:cxnSpLocks noChangeShapeType="1"/>
            <a:stCxn id="20485" idx="2"/>
            <a:endCxn id="20498" idx="1"/>
          </p:cNvCxnSpPr>
          <p:nvPr/>
        </p:nvCxnSpPr>
        <p:spPr bwMode="auto">
          <a:xfrm rot="16200000" flipH="1">
            <a:off x="3505200" y="3429000"/>
            <a:ext cx="990600" cy="228600"/>
          </a:xfrm>
          <a:prstGeom prst="bentConnector2">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9" name="AutoShape 42"/>
          <p:cNvCxnSpPr>
            <a:cxnSpLocks noChangeShapeType="1"/>
            <a:stCxn id="20485" idx="2"/>
            <a:endCxn id="20499" idx="1"/>
          </p:cNvCxnSpPr>
          <p:nvPr/>
        </p:nvCxnSpPr>
        <p:spPr bwMode="auto">
          <a:xfrm rot="16200000" flipH="1">
            <a:off x="3009900" y="3924300"/>
            <a:ext cx="1981200" cy="228600"/>
          </a:xfrm>
          <a:prstGeom prst="bentConnector2">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10" name="AutoShape 43"/>
          <p:cNvCxnSpPr>
            <a:cxnSpLocks noChangeShapeType="1"/>
            <a:stCxn id="20486" idx="2"/>
            <a:endCxn id="20488" idx="1"/>
          </p:cNvCxnSpPr>
          <p:nvPr/>
        </p:nvCxnSpPr>
        <p:spPr bwMode="auto">
          <a:xfrm rot="16200000" flipH="1">
            <a:off x="5505450" y="3028950"/>
            <a:ext cx="419100" cy="457200"/>
          </a:xfrm>
          <a:prstGeom prst="bentConnector2">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11" name="AutoShape 44"/>
          <p:cNvCxnSpPr>
            <a:cxnSpLocks noChangeShapeType="1"/>
            <a:stCxn id="20486" idx="2"/>
            <a:endCxn id="20489" idx="1"/>
          </p:cNvCxnSpPr>
          <p:nvPr/>
        </p:nvCxnSpPr>
        <p:spPr bwMode="auto">
          <a:xfrm rot="16200000" flipH="1">
            <a:off x="5219700" y="3314700"/>
            <a:ext cx="990600" cy="457200"/>
          </a:xfrm>
          <a:prstGeom prst="bentConnector2">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12" name="AutoShape 45"/>
          <p:cNvCxnSpPr>
            <a:cxnSpLocks noChangeShapeType="1"/>
            <a:stCxn id="20486" idx="2"/>
            <a:endCxn id="20490" idx="1"/>
          </p:cNvCxnSpPr>
          <p:nvPr/>
        </p:nvCxnSpPr>
        <p:spPr bwMode="auto">
          <a:xfrm rot="16200000" flipH="1">
            <a:off x="4724400" y="3810000"/>
            <a:ext cx="1981200" cy="457200"/>
          </a:xfrm>
          <a:prstGeom prst="bentConnector2">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13" name="AutoShape 46"/>
          <p:cNvCxnSpPr>
            <a:cxnSpLocks noChangeShapeType="1"/>
            <a:stCxn id="20487" idx="2"/>
            <a:endCxn id="20491" idx="1"/>
          </p:cNvCxnSpPr>
          <p:nvPr/>
        </p:nvCxnSpPr>
        <p:spPr bwMode="auto">
          <a:xfrm rot="16200000" flipH="1">
            <a:off x="6915150" y="3067050"/>
            <a:ext cx="419100" cy="381000"/>
          </a:xfrm>
          <a:prstGeom prst="bentConnector2">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14" name="AutoShape 47"/>
          <p:cNvCxnSpPr>
            <a:cxnSpLocks noChangeShapeType="1"/>
            <a:stCxn id="20487" idx="2"/>
            <a:endCxn id="20492" idx="1"/>
          </p:cNvCxnSpPr>
          <p:nvPr/>
        </p:nvCxnSpPr>
        <p:spPr bwMode="auto">
          <a:xfrm rot="16200000" flipH="1">
            <a:off x="6629400" y="3352800"/>
            <a:ext cx="990600" cy="381000"/>
          </a:xfrm>
          <a:prstGeom prst="bentConnector2">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15" name="AutoShape 48"/>
          <p:cNvCxnSpPr>
            <a:cxnSpLocks noChangeShapeType="1"/>
            <a:stCxn id="20487" idx="2"/>
            <a:endCxn id="20493" idx="1"/>
          </p:cNvCxnSpPr>
          <p:nvPr/>
        </p:nvCxnSpPr>
        <p:spPr bwMode="auto">
          <a:xfrm rot="16200000" flipH="1">
            <a:off x="6134100" y="3848100"/>
            <a:ext cx="1981200" cy="381000"/>
          </a:xfrm>
          <a:prstGeom prst="bentConnector2">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16" name="Text Box 49"/>
          <p:cNvSpPr txBox="1">
            <a:spLocks noChangeArrowheads="1"/>
          </p:cNvSpPr>
          <p:nvPr/>
        </p:nvSpPr>
        <p:spPr bwMode="auto">
          <a:xfrm>
            <a:off x="1355725" y="5775325"/>
            <a:ext cx="5584825"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sz="2400" b="0"/>
              <a:t>Line organization of a “traditional business“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de-DE" altLang="en-US" smtClean="0"/>
              <a:t>Properties of Functional Organizations</a:t>
            </a:r>
          </a:p>
        </p:txBody>
      </p:sp>
      <p:sp>
        <p:nvSpPr>
          <p:cNvPr id="624643" name="Rectangle 3"/>
          <p:cNvSpPr>
            <a:spLocks noGrp="1" noChangeArrowheads="1"/>
          </p:cNvSpPr>
          <p:nvPr>
            <p:ph idx="1"/>
          </p:nvPr>
        </p:nvSpPr>
        <p:spPr>
          <a:xfrm>
            <a:off x="152400" y="1143000"/>
            <a:ext cx="8915400" cy="4800600"/>
          </a:xfrm>
        </p:spPr>
        <p:txBody>
          <a:bodyPr/>
          <a:lstStyle/>
          <a:p>
            <a:r>
              <a:rPr lang="de-DE" altLang="en-US" smtClean="0"/>
              <a:t>Advantages:</a:t>
            </a:r>
          </a:p>
          <a:p>
            <a:pPr lvl="1"/>
            <a:r>
              <a:rPr lang="de-DE" altLang="en-US" smtClean="0"/>
              <a:t>Members of a department have a good understanding of the functional area they support.</a:t>
            </a:r>
          </a:p>
          <a:p>
            <a:pPr lvl="1"/>
            <a:r>
              <a:rPr lang="de-DE" altLang="en-US" smtClean="0"/>
              <a:t>Departments don‘t compete with another to get the support of their support teams </a:t>
            </a:r>
          </a:p>
          <a:p>
            <a:r>
              <a:rPr lang="de-DE" altLang="en-US" smtClean="0"/>
              <a:t>Disadvantages:</a:t>
            </a:r>
          </a:p>
          <a:p>
            <a:pPr lvl="1"/>
            <a:r>
              <a:rPr lang="de-DE" altLang="en-US" smtClean="0"/>
              <a:t>Because each department has its own support team, different work  procedures and reporting systems are the rule.</a:t>
            </a:r>
          </a:p>
          <a:p>
            <a:pPr lvl="1"/>
            <a:r>
              <a:rPr lang="de-DE" altLang="en-US" smtClean="0"/>
              <a:t>It is difficult to make major investments in equipment  and facilities. </a:t>
            </a:r>
          </a:p>
          <a:p>
            <a:pPr lvl="2"/>
            <a:r>
              <a:rPr lang="de-DE" altLang="en-US" smtClean="0"/>
              <a:t>Example: </a:t>
            </a:r>
            <a:r>
              <a:rPr lang="de-DE" altLang="en-US" b="0" smtClean="0"/>
              <a:t>Two departments with a budget of 50,000 Euro each need a printer that costs 100,000 Euro.</a:t>
            </a:r>
          </a:p>
          <a:p>
            <a:pPr lvl="2"/>
            <a:r>
              <a:rPr lang="de-DE" altLang="en-US" b="0" smtClean="0"/>
              <a:t>Both need only 50% of the maximum capacity. </a:t>
            </a:r>
          </a:p>
          <a:p>
            <a:pPr lvl="2"/>
            <a:r>
              <a:rPr lang="de-DE" altLang="en-US" b="0" smtClean="0"/>
              <a:t>Neither department can buy it, because they don‘t have sufficient funds. </a:t>
            </a:r>
          </a:p>
          <a:p>
            <a:pPr lvl="1"/>
            <a:r>
              <a:rPr lang="de-DE" altLang="en-US" smtClean="0"/>
              <a:t>High chance for overlap or duplication of work among departments</a:t>
            </a:r>
            <a:endParaRPr lang="de-DE" altLang="en-US" b="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46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62464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62464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2464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62464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62464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62464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62464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62464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6246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3"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de-DE" altLang="en-US" smtClean="0"/>
              <a:t>Project Organization</a:t>
            </a:r>
          </a:p>
        </p:txBody>
      </p:sp>
      <p:sp>
        <p:nvSpPr>
          <p:cNvPr id="22531" name="Rectangle 3"/>
          <p:cNvSpPr>
            <a:spLocks noGrp="1" noChangeArrowheads="1"/>
          </p:cNvSpPr>
          <p:nvPr>
            <p:ph idx="1"/>
          </p:nvPr>
        </p:nvSpPr>
        <p:spPr/>
        <p:txBody>
          <a:bodyPr/>
          <a:lstStyle/>
          <a:p>
            <a:r>
              <a:rPr lang="de-DE" altLang="en-US" smtClean="0"/>
              <a:t>In a </a:t>
            </a:r>
            <a:r>
              <a:rPr lang="de-DE" altLang="en-US" b="1" smtClean="0"/>
              <a:t>project organization</a:t>
            </a:r>
            <a:r>
              <a:rPr lang="de-DE" altLang="en-US" smtClean="0"/>
              <a:t> participants are grouped into </a:t>
            </a:r>
            <a:r>
              <a:rPr lang="de-DE" altLang="en-US" b="1" smtClean="0"/>
              <a:t>projects</a:t>
            </a:r>
            <a:r>
              <a:rPr lang="de-DE" altLang="en-US" smtClean="0"/>
              <a:t>, each of which has a problem to be solved within time and budget.</a:t>
            </a:r>
          </a:p>
          <a:p>
            <a:r>
              <a:rPr lang="de-DE" altLang="en-US" b="1" smtClean="0"/>
              <a:t>Key properties: </a:t>
            </a:r>
          </a:p>
          <a:p>
            <a:pPr lvl="1"/>
            <a:r>
              <a:rPr lang="de-DE" altLang="en-US" smtClean="0"/>
              <a:t>Teams are assembled for a project as it is created. Each project has a project leader. </a:t>
            </a:r>
          </a:p>
          <a:p>
            <a:pPr lvl="1"/>
            <a:r>
              <a:rPr lang="de-DE" altLang="en-US" smtClean="0"/>
              <a:t>All participants are involved in the  complete project.</a:t>
            </a:r>
          </a:p>
          <a:p>
            <a:pPr lvl="1"/>
            <a:r>
              <a:rPr lang="de-DE" altLang="en-US" smtClean="0"/>
              <a:t>Teams are disassembled when the project terminates</a:t>
            </a:r>
          </a:p>
          <a:p>
            <a:pPr lvl="1"/>
            <a:endParaRPr lang="de-DE" altLang="en-US" smtClean="0"/>
          </a:p>
          <a:p>
            <a:pPr lvl="1"/>
            <a:endParaRPr lang="de-DE" altLang="en-US" smtClean="0"/>
          </a:p>
          <a:p>
            <a:pPr lvl="1"/>
            <a:endParaRPr lang="de-DE" altLang="en-US"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1026"/>
          <p:cNvSpPr>
            <a:spLocks noGrp="1" noChangeArrowheads="1"/>
          </p:cNvSpPr>
          <p:nvPr>
            <p:ph type="title"/>
          </p:nvPr>
        </p:nvSpPr>
        <p:spPr/>
        <p:txBody>
          <a:bodyPr/>
          <a:lstStyle/>
          <a:p>
            <a:r>
              <a:rPr lang="de-DE" altLang="en-US" smtClean="0"/>
              <a:t>Properties of Project Organizations</a:t>
            </a:r>
          </a:p>
        </p:txBody>
      </p:sp>
      <p:sp>
        <p:nvSpPr>
          <p:cNvPr id="23555" name="Rectangle 1027"/>
          <p:cNvSpPr>
            <a:spLocks noGrp="1" noChangeArrowheads="1"/>
          </p:cNvSpPr>
          <p:nvPr>
            <p:ph idx="1"/>
          </p:nvPr>
        </p:nvSpPr>
        <p:spPr/>
        <p:txBody>
          <a:bodyPr/>
          <a:lstStyle/>
          <a:p>
            <a:r>
              <a:rPr lang="de-DE" altLang="en-US" smtClean="0"/>
              <a:t>Advantages</a:t>
            </a:r>
          </a:p>
          <a:p>
            <a:pPr lvl="1"/>
            <a:r>
              <a:rPr lang="de-DE" altLang="en-US" smtClean="0"/>
              <a:t>Very responsive to new project requests </a:t>
            </a:r>
          </a:p>
          <a:p>
            <a:pPr lvl="1"/>
            <a:r>
              <a:rPr lang="de-DE" altLang="en-US" smtClean="0"/>
              <a:t>New people can be hired/selected who are very familiar with the problem or who have special capabilities. </a:t>
            </a:r>
          </a:p>
          <a:p>
            <a:pPr lvl="1"/>
            <a:r>
              <a:rPr lang="de-DE" altLang="en-US" smtClean="0"/>
              <a:t>There is no waste  of staff workload</a:t>
            </a:r>
          </a:p>
          <a:p>
            <a:r>
              <a:rPr lang="de-DE" altLang="en-US" smtClean="0"/>
              <a:t>Disadvantages:</a:t>
            </a:r>
          </a:p>
          <a:p>
            <a:pPr lvl="1"/>
            <a:r>
              <a:rPr lang="de-DE" altLang="en-US" smtClean="0"/>
              <a:t>Teams cannot be assembled rapidly. Often it is difficult to manage the staffing/hiring process. </a:t>
            </a:r>
          </a:p>
          <a:p>
            <a:pPr lvl="1"/>
            <a:r>
              <a:rPr lang="de-DE" altLang="en-US" smtClean="0"/>
              <a:t>Because there are “no predefined lines“,  roles and responsibilities need to be defined at the beginning of the project</a:t>
            </a:r>
          </a:p>
          <a:p>
            <a:pPr lvl="1"/>
            <a:endParaRPr lang="de-DE" altLang="en-US" smtClean="0"/>
          </a:p>
          <a:p>
            <a:pPr lvl="1"/>
            <a:endParaRPr lang="de-DE" altLang="en-US"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1026"/>
          <p:cNvSpPr>
            <a:spLocks noGrp="1" noChangeArrowheads="1"/>
          </p:cNvSpPr>
          <p:nvPr>
            <p:ph type="title"/>
          </p:nvPr>
        </p:nvSpPr>
        <p:spPr>
          <a:xfrm>
            <a:off x="419100" y="222250"/>
            <a:ext cx="8153400" cy="503238"/>
          </a:xfrm>
        </p:spPr>
        <p:txBody>
          <a:bodyPr/>
          <a:lstStyle/>
          <a:p>
            <a:r>
              <a:rPr lang="de-DE" altLang="en-US" smtClean="0"/>
              <a:t>Matrix Organization</a:t>
            </a:r>
          </a:p>
        </p:txBody>
      </p:sp>
      <p:sp>
        <p:nvSpPr>
          <p:cNvPr id="24579" name="Rectangle 1027"/>
          <p:cNvSpPr>
            <a:spLocks noGrp="1" noChangeArrowheads="1"/>
          </p:cNvSpPr>
          <p:nvPr>
            <p:ph idx="1"/>
          </p:nvPr>
        </p:nvSpPr>
        <p:spPr>
          <a:xfrm>
            <a:off x="381000" y="914400"/>
            <a:ext cx="8458200" cy="1905000"/>
          </a:xfrm>
        </p:spPr>
        <p:txBody>
          <a:bodyPr/>
          <a:lstStyle/>
          <a:p>
            <a:r>
              <a:rPr lang="de-DE" altLang="en-US" sz="2000" smtClean="0"/>
              <a:t>In a matrix organization, participants from different departments of the functional organizastion are assigned to work on projects as they are created. </a:t>
            </a:r>
          </a:p>
          <a:p>
            <a:r>
              <a:rPr lang="de-DE" altLang="en-US" sz="2000" smtClean="0"/>
              <a:t>The project manager and team members may be assigned to the project for &lt;= 100 % of their time</a:t>
            </a:r>
          </a:p>
        </p:txBody>
      </p:sp>
      <p:sp>
        <p:nvSpPr>
          <p:cNvPr id="24580" name="Rectangle 1028"/>
          <p:cNvSpPr>
            <a:spLocks noChangeArrowheads="1"/>
          </p:cNvSpPr>
          <p:nvPr/>
        </p:nvSpPr>
        <p:spPr bwMode="auto">
          <a:xfrm>
            <a:off x="4495800" y="2257425"/>
            <a:ext cx="1981200" cy="4572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Executive Office</a:t>
            </a:r>
          </a:p>
        </p:txBody>
      </p:sp>
      <p:sp>
        <p:nvSpPr>
          <p:cNvPr id="24581" name="Rectangle 1029"/>
          <p:cNvSpPr>
            <a:spLocks noChangeArrowheads="1"/>
          </p:cNvSpPr>
          <p:nvPr/>
        </p:nvSpPr>
        <p:spPr bwMode="auto">
          <a:xfrm>
            <a:off x="2209800" y="3095625"/>
            <a:ext cx="1600200" cy="685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Finance</a:t>
            </a:r>
          </a:p>
        </p:txBody>
      </p:sp>
      <p:sp>
        <p:nvSpPr>
          <p:cNvPr id="24582" name="Rectangle 1030"/>
          <p:cNvSpPr>
            <a:spLocks noChangeArrowheads="1"/>
          </p:cNvSpPr>
          <p:nvPr/>
        </p:nvSpPr>
        <p:spPr bwMode="auto">
          <a:xfrm>
            <a:off x="3962400" y="3095625"/>
            <a:ext cx="1676400" cy="685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Production</a:t>
            </a:r>
          </a:p>
        </p:txBody>
      </p:sp>
      <p:sp>
        <p:nvSpPr>
          <p:cNvPr id="24583" name="Rectangle 1031"/>
          <p:cNvSpPr>
            <a:spLocks noChangeArrowheads="1"/>
          </p:cNvSpPr>
          <p:nvPr/>
        </p:nvSpPr>
        <p:spPr bwMode="auto">
          <a:xfrm>
            <a:off x="5791200" y="3095625"/>
            <a:ext cx="1219200" cy="685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Sales</a:t>
            </a:r>
          </a:p>
        </p:txBody>
      </p:sp>
      <p:sp>
        <p:nvSpPr>
          <p:cNvPr id="24584" name="Rectangle 1032"/>
          <p:cNvSpPr>
            <a:spLocks noChangeArrowheads="1"/>
          </p:cNvSpPr>
          <p:nvPr/>
        </p:nvSpPr>
        <p:spPr bwMode="auto">
          <a:xfrm>
            <a:off x="7239000" y="3095625"/>
            <a:ext cx="1219200" cy="685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Marketing</a:t>
            </a:r>
          </a:p>
        </p:txBody>
      </p:sp>
      <p:cxnSp>
        <p:nvCxnSpPr>
          <p:cNvPr id="24585" name="AutoShape 1045"/>
          <p:cNvCxnSpPr>
            <a:cxnSpLocks noChangeShapeType="1"/>
            <a:stCxn id="24580" idx="2"/>
            <a:endCxn id="24581" idx="0"/>
          </p:cNvCxnSpPr>
          <p:nvPr/>
        </p:nvCxnSpPr>
        <p:spPr bwMode="auto">
          <a:xfrm rot="5400000">
            <a:off x="4057650" y="1666875"/>
            <a:ext cx="381000" cy="2476500"/>
          </a:xfrm>
          <a:prstGeom prst="bentConnector3">
            <a:avLst>
              <a:gd name="adj1" fmla="val 50000"/>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86" name="AutoShape 1046"/>
          <p:cNvCxnSpPr>
            <a:cxnSpLocks noChangeShapeType="1"/>
            <a:stCxn id="24580" idx="2"/>
            <a:endCxn id="24582" idx="0"/>
          </p:cNvCxnSpPr>
          <p:nvPr/>
        </p:nvCxnSpPr>
        <p:spPr bwMode="auto">
          <a:xfrm rot="5400000">
            <a:off x="4953000" y="2562225"/>
            <a:ext cx="381000" cy="685800"/>
          </a:xfrm>
          <a:prstGeom prst="bentConnector3">
            <a:avLst>
              <a:gd name="adj1" fmla="val 50000"/>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87" name="AutoShape 1047"/>
          <p:cNvCxnSpPr>
            <a:cxnSpLocks noChangeShapeType="1"/>
            <a:stCxn id="24580" idx="2"/>
            <a:endCxn id="24583" idx="0"/>
          </p:cNvCxnSpPr>
          <p:nvPr/>
        </p:nvCxnSpPr>
        <p:spPr bwMode="auto">
          <a:xfrm rot="16200000" flipH="1">
            <a:off x="5753100" y="2447925"/>
            <a:ext cx="381000" cy="914400"/>
          </a:xfrm>
          <a:prstGeom prst="bentConnector3">
            <a:avLst>
              <a:gd name="adj1" fmla="val 50000"/>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88" name="AutoShape 1048"/>
          <p:cNvCxnSpPr>
            <a:cxnSpLocks noChangeShapeType="1"/>
            <a:stCxn id="24580" idx="2"/>
            <a:endCxn id="24584" idx="0"/>
          </p:cNvCxnSpPr>
          <p:nvPr/>
        </p:nvCxnSpPr>
        <p:spPr bwMode="auto">
          <a:xfrm rot="16200000" flipH="1">
            <a:off x="6477000" y="1724025"/>
            <a:ext cx="381000" cy="2362200"/>
          </a:xfrm>
          <a:prstGeom prst="bentConnector3">
            <a:avLst>
              <a:gd name="adj1" fmla="val 50000"/>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589" name="Line 1062"/>
          <p:cNvSpPr>
            <a:spLocks noChangeShapeType="1"/>
          </p:cNvSpPr>
          <p:nvPr/>
        </p:nvSpPr>
        <p:spPr bwMode="auto">
          <a:xfrm>
            <a:off x="3124200" y="3781425"/>
            <a:ext cx="0" cy="2057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0" name="Line 1063"/>
          <p:cNvSpPr>
            <a:spLocks noChangeShapeType="1"/>
          </p:cNvSpPr>
          <p:nvPr/>
        </p:nvSpPr>
        <p:spPr bwMode="auto">
          <a:xfrm>
            <a:off x="4876800" y="3781425"/>
            <a:ext cx="0" cy="1981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1" name="Line 1064"/>
          <p:cNvSpPr>
            <a:spLocks noChangeShapeType="1"/>
          </p:cNvSpPr>
          <p:nvPr/>
        </p:nvSpPr>
        <p:spPr bwMode="auto">
          <a:xfrm>
            <a:off x="6400800" y="3781425"/>
            <a:ext cx="0" cy="1905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2" name="Line 1065"/>
          <p:cNvSpPr>
            <a:spLocks noChangeShapeType="1"/>
          </p:cNvSpPr>
          <p:nvPr/>
        </p:nvSpPr>
        <p:spPr bwMode="auto">
          <a:xfrm>
            <a:off x="7924800" y="3781425"/>
            <a:ext cx="0" cy="1981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3" name="Line 1066"/>
          <p:cNvSpPr>
            <a:spLocks noChangeShapeType="1"/>
          </p:cNvSpPr>
          <p:nvPr/>
        </p:nvSpPr>
        <p:spPr bwMode="auto">
          <a:xfrm>
            <a:off x="1676400" y="4391025"/>
            <a:ext cx="6858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4" name="Line 1067"/>
          <p:cNvSpPr>
            <a:spLocks noChangeShapeType="1"/>
          </p:cNvSpPr>
          <p:nvPr/>
        </p:nvSpPr>
        <p:spPr bwMode="auto">
          <a:xfrm>
            <a:off x="1676400" y="5000625"/>
            <a:ext cx="67818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5" name="Line 1068"/>
          <p:cNvSpPr>
            <a:spLocks noChangeShapeType="1"/>
          </p:cNvSpPr>
          <p:nvPr/>
        </p:nvSpPr>
        <p:spPr bwMode="auto">
          <a:xfrm>
            <a:off x="1676400" y="5534025"/>
            <a:ext cx="67818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6" name="Rectangle 1069"/>
          <p:cNvSpPr>
            <a:spLocks noChangeArrowheads="1"/>
          </p:cNvSpPr>
          <p:nvPr/>
        </p:nvSpPr>
        <p:spPr bwMode="auto">
          <a:xfrm>
            <a:off x="533400" y="4086225"/>
            <a:ext cx="1143000" cy="4572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Project A</a:t>
            </a:r>
          </a:p>
        </p:txBody>
      </p:sp>
      <p:sp>
        <p:nvSpPr>
          <p:cNvPr id="24597" name="Rectangle 1070"/>
          <p:cNvSpPr>
            <a:spLocks noChangeArrowheads="1"/>
          </p:cNvSpPr>
          <p:nvPr/>
        </p:nvSpPr>
        <p:spPr bwMode="auto">
          <a:xfrm>
            <a:off x="533400" y="4772025"/>
            <a:ext cx="1143000" cy="4572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Project B</a:t>
            </a:r>
          </a:p>
        </p:txBody>
      </p:sp>
      <p:sp>
        <p:nvSpPr>
          <p:cNvPr id="24598" name="Rectangle 1071"/>
          <p:cNvSpPr>
            <a:spLocks noChangeArrowheads="1"/>
          </p:cNvSpPr>
          <p:nvPr/>
        </p:nvSpPr>
        <p:spPr bwMode="auto">
          <a:xfrm>
            <a:off x="533400" y="5381625"/>
            <a:ext cx="1143000" cy="4572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Project C</a:t>
            </a:r>
          </a:p>
        </p:txBody>
      </p:sp>
      <p:sp>
        <p:nvSpPr>
          <p:cNvPr id="24599" name="AutoShape 1075"/>
          <p:cNvSpPr>
            <a:spLocks noChangeArrowheads="1"/>
          </p:cNvSpPr>
          <p:nvPr/>
        </p:nvSpPr>
        <p:spPr bwMode="auto">
          <a:xfrm>
            <a:off x="2590800" y="4086225"/>
            <a:ext cx="5638800" cy="685800"/>
          </a:xfrm>
          <a:prstGeom prst="cloudCallout">
            <a:avLst>
              <a:gd name="adj1" fmla="val -43750"/>
              <a:gd name="adj2" fmla="val 70000"/>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Participants of Project A</a:t>
            </a:r>
          </a:p>
        </p:txBody>
      </p:sp>
      <p:sp>
        <p:nvSpPr>
          <p:cNvPr id="24600" name="AutoShape 1076"/>
          <p:cNvSpPr>
            <a:spLocks noChangeArrowheads="1"/>
          </p:cNvSpPr>
          <p:nvPr/>
        </p:nvSpPr>
        <p:spPr bwMode="auto">
          <a:xfrm>
            <a:off x="2590800" y="5229225"/>
            <a:ext cx="5638800" cy="685800"/>
          </a:xfrm>
          <a:prstGeom prst="cloudCallout">
            <a:avLst>
              <a:gd name="adj1" fmla="val -43750"/>
              <a:gd name="adj2" fmla="val 70000"/>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Participants of Project B</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de-DE" altLang="en-US" smtClean="0"/>
              <a:t>Properties of  Matrix Organizations</a:t>
            </a:r>
          </a:p>
        </p:txBody>
      </p:sp>
      <p:sp>
        <p:nvSpPr>
          <p:cNvPr id="25603" name="Rectangle 3"/>
          <p:cNvSpPr>
            <a:spLocks noGrp="1" noChangeArrowheads="1"/>
          </p:cNvSpPr>
          <p:nvPr>
            <p:ph idx="1"/>
          </p:nvPr>
        </p:nvSpPr>
        <p:spPr>
          <a:xfrm>
            <a:off x="304800" y="1143000"/>
            <a:ext cx="8610600" cy="4800600"/>
          </a:xfrm>
        </p:spPr>
        <p:txBody>
          <a:bodyPr/>
          <a:lstStyle/>
          <a:p>
            <a:r>
              <a:rPr lang="de-DE" altLang="en-US" smtClean="0"/>
              <a:t>Advantages:</a:t>
            </a:r>
          </a:p>
          <a:p>
            <a:pPr lvl="1"/>
            <a:r>
              <a:rPr lang="de-DE" altLang="en-US" smtClean="0"/>
              <a:t>Teams for projects can be assembled rapidly</a:t>
            </a:r>
          </a:p>
          <a:p>
            <a:pPr lvl="1"/>
            <a:r>
              <a:rPr lang="de-DE" altLang="en-US" smtClean="0"/>
              <a:t>Scarce expertise can be applied to different projects as needed </a:t>
            </a:r>
          </a:p>
          <a:p>
            <a:pPr lvl="1"/>
            <a:r>
              <a:rPr lang="de-DE" altLang="en-US" smtClean="0"/>
              <a:t>Consistent work and reporting procedures can be used for projects of the same type.</a:t>
            </a:r>
          </a:p>
          <a:p>
            <a:r>
              <a:rPr lang="de-DE" altLang="en-US" smtClean="0"/>
              <a:t>Disadvantages:</a:t>
            </a:r>
          </a:p>
          <a:p>
            <a:pPr lvl="1"/>
            <a:r>
              <a:rPr lang="de-DE" altLang="en-US" smtClean="0"/>
              <a:t>Team members usually are not familiar with each </a:t>
            </a:r>
          </a:p>
          <a:p>
            <a:pPr lvl="1"/>
            <a:r>
              <a:rPr lang="de-DE" altLang="en-US" smtClean="0"/>
              <a:t>Team member have different working styles</a:t>
            </a:r>
          </a:p>
          <a:p>
            <a:pPr lvl="1"/>
            <a:r>
              <a:rPr lang="de-DE" altLang="en-US" smtClean="0"/>
              <a:t>Team members must get used to each other</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4"/>
          <p:cNvSpPr>
            <a:spLocks noGrp="1" noChangeArrowheads="1"/>
          </p:cNvSpPr>
          <p:nvPr>
            <p:ph type="title"/>
          </p:nvPr>
        </p:nvSpPr>
        <p:spPr/>
        <p:txBody>
          <a:bodyPr/>
          <a:lstStyle/>
          <a:p>
            <a:r>
              <a:rPr lang="en-US" altLang="en-US" smtClean="0"/>
              <a:t>When to use a Functional  Organization</a:t>
            </a:r>
          </a:p>
        </p:txBody>
      </p:sp>
      <p:sp>
        <p:nvSpPr>
          <p:cNvPr id="26627" name="Rectangle 5"/>
          <p:cNvSpPr>
            <a:spLocks noGrp="1" noChangeArrowheads="1"/>
          </p:cNvSpPr>
          <p:nvPr>
            <p:ph idx="1"/>
          </p:nvPr>
        </p:nvSpPr>
        <p:spPr/>
        <p:txBody>
          <a:bodyPr/>
          <a:lstStyle/>
          <a:p>
            <a:r>
              <a:rPr lang="en-US" altLang="en-US" smtClean="0"/>
              <a:t>Projects with high degree of certainty, stability, uniformity and repetition.</a:t>
            </a:r>
          </a:p>
          <a:p>
            <a:pPr lvl="1"/>
            <a:r>
              <a:rPr lang="en-US" altLang="en-US" smtClean="0"/>
              <a:t>Requires little communication</a:t>
            </a:r>
          </a:p>
          <a:p>
            <a:pPr lvl="1"/>
            <a:r>
              <a:rPr lang="en-US" altLang="en-US" smtClean="0"/>
              <a:t>Role definitions are clear</a:t>
            </a:r>
          </a:p>
          <a:p>
            <a:r>
              <a:rPr lang="en-US" altLang="en-US" smtClean="0"/>
              <a:t>When?</a:t>
            </a:r>
          </a:p>
          <a:p>
            <a:pPr lvl="1"/>
            <a:r>
              <a:rPr lang="en-US" altLang="en-US" smtClean="0"/>
              <a:t>The more people on the project, the more need for a formal structure</a:t>
            </a:r>
          </a:p>
          <a:p>
            <a:pPr lvl="1"/>
            <a:r>
              <a:rPr lang="en-US" altLang="en-US" smtClean="0"/>
              <a:t>Customer might insist that the test team be independent from the design team </a:t>
            </a:r>
          </a:p>
          <a:p>
            <a:pPr lvl="1"/>
            <a:r>
              <a:rPr lang="en-US" altLang="en-US" smtClean="0"/>
              <a:t>Project manager insists on a previously successful  structure </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4"/>
          <p:cNvSpPr>
            <a:spLocks noGrp="1" noChangeArrowheads="1"/>
          </p:cNvSpPr>
          <p:nvPr>
            <p:ph type="title"/>
          </p:nvPr>
        </p:nvSpPr>
        <p:spPr/>
        <p:txBody>
          <a:bodyPr/>
          <a:lstStyle/>
          <a:p>
            <a:r>
              <a:rPr lang="en-US" altLang="en-US" smtClean="0"/>
              <a:t>When to Use a Project or Matrix Organization</a:t>
            </a:r>
          </a:p>
        </p:txBody>
      </p:sp>
      <p:sp>
        <p:nvSpPr>
          <p:cNvPr id="28675" name="Rectangle 5"/>
          <p:cNvSpPr>
            <a:spLocks noGrp="1" noChangeArrowheads="1"/>
          </p:cNvSpPr>
          <p:nvPr>
            <p:ph idx="1"/>
          </p:nvPr>
        </p:nvSpPr>
        <p:spPr/>
        <p:txBody>
          <a:bodyPr/>
          <a:lstStyle/>
          <a:p>
            <a:r>
              <a:rPr lang="en-US" altLang="en-US" smtClean="0"/>
              <a:t>Project with degree of uncertainty</a:t>
            </a:r>
          </a:p>
          <a:p>
            <a:pPr lvl="1"/>
            <a:r>
              <a:rPr lang="en-US" altLang="en-US" smtClean="0"/>
              <a:t>Open communication needed among members</a:t>
            </a:r>
          </a:p>
          <a:p>
            <a:pPr lvl="1"/>
            <a:r>
              <a:rPr lang="en-US" altLang="en-US" smtClean="0"/>
              <a:t>Roles are defined on  project basis</a:t>
            </a:r>
          </a:p>
          <a:p>
            <a:r>
              <a:rPr lang="en-US" altLang="en-US" smtClean="0"/>
              <a:t>When?</a:t>
            </a:r>
          </a:p>
          <a:p>
            <a:pPr lvl="1"/>
            <a:r>
              <a:rPr lang="en-US" altLang="en-US" smtClean="0"/>
              <a:t>Requirements change during development</a:t>
            </a:r>
          </a:p>
          <a:p>
            <a:pPr lvl="1"/>
            <a:r>
              <a:rPr lang="en-US" altLang="en-US" smtClean="0"/>
              <a:t>New technology develops during project</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de-DE" altLang="en-US" smtClean="0"/>
              <a:t>Metamodel for Organizations</a:t>
            </a:r>
          </a:p>
        </p:txBody>
      </p:sp>
      <p:sp>
        <p:nvSpPr>
          <p:cNvPr id="29699" name="Rectangle 4"/>
          <p:cNvSpPr>
            <a:spLocks noChangeArrowheads="1"/>
          </p:cNvSpPr>
          <p:nvPr/>
        </p:nvSpPr>
        <p:spPr bwMode="auto">
          <a:xfrm>
            <a:off x="1676400" y="1981200"/>
            <a:ext cx="1828800" cy="762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Functional </a:t>
            </a:r>
          </a:p>
          <a:p>
            <a:pPr algn="ctr"/>
            <a:r>
              <a:rPr lang="de-DE" altLang="en-US">
                <a:latin typeface="Palatino" pitchFamily="18" charset="0"/>
              </a:rPr>
              <a:t>Organization</a:t>
            </a:r>
          </a:p>
        </p:txBody>
      </p:sp>
      <p:sp>
        <p:nvSpPr>
          <p:cNvPr id="29700" name="Rectangle 5"/>
          <p:cNvSpPr>
            <a:spLocks noChangeArrowheads="1"/>
          </p:cNvSpPr>
          <p:nvPr/>
        </p:nvSpPr>
        <p:spPr bwMode="auto">
          <a:xfrm>
            <a:off x="5257800" y="2057400"/>
            <a:ext cx="1828800" cy="762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Project</a:t>
            </a:r>
          </a:p>
          <a:p>
            <a:pPr algn="ctr"/>
            <a:r>
              <a:rPr lang="de-DE" altLang="en-US">
                <a:latin typeface="Palatino" pitchFamily="18" charset="0"/>
              </a:rPr>
              <a:t>Organization</a:t>
            </a:r>
          </a:p>
        </p:txBody>
      </p:sp>
      <p:sp>
        <p:nvSpPr>
          <p:cNvPr id="29701" name="Rectangle 6"/>
          <p:cNvSpPr>
            <a:spLocks noChangeArrowheads="1"/>
          </p:cNvSpPr>
          <p:nvPr/>
        </p:nvSpPr>
        <p:spPr bwMode="auto">
          <a:xfrm>
            <a:off x="3657600" y="3886200"/>
            <a:ext cx="1828800" cy="762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de-DE" altLang="en-US">
                <a:latin typeface="Palatino" pitchFamily="18" charset="0"/>
              </a:rPr>
              <a:t>Matrix </a:t>
            </a:r>
          </a:p>
          <a:p>
            <a:pPr algn="ctr"/>
            <a:r>
              <a:rPr lang="de-DE" altLang="en-US">
                <a:latin typeface="Palatino" pitchFamily="18" charset="0"/>
              </a:rPr>
              <a:t>Organization</a:t>
            </a:r>
          </a:p>
        </p:txBody>
      </p:sp>
      <p:sp>
        <p:nvSpPr>
          <p:cNvPr id="29702" name="AutoShape 7"/>
          <p:cNvSpPr>
            <a:spLocks noChangeArrowheads="1"/>
          </p:cNvSpPr>
          <p:nvPr/>
        </p:nvSpPr>
        <p:spPr bwMode="auto">
          <a:xfrm>
            <a:off x="6019800" y="2819400"/>
            <a:ext cx="381000" cy="228600"/>
          </a:xfrm>
          <a:prstGeom prst="triangle">
            <a:avLst>
              <a:gd name="adj" fmla="val 5000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9703" name="AutoShape 8"/>
          <p:cNvSpPr>
            <a:spLocks noChangeArrowheads="1"/>
          </p:cNvSpPr>
          <p:nvPr/>
        </p:nvSpPr>
        <p:spPr bwMode="auto">
          <a:xfrm>
            <a:off x="2438400" y="2743200"/>
            <a:ext cx="381000" cy="228600"/>
          </a:xfrm>
          <a:prstGeom prst="triangle">
            <a:avLst>
              <a:gd name="adj" fmla="val 50000"/>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9704" name="Line 9"/>
          <p:cNvSpPr>
            <a:spLocks noChangeShapeType="1"/>
          </p:cNvSpPr>
          <p:nvPr/>
        </p:nvSpPr>
        <p:spPr bwMode="auto">
          <a:xfrm>
            <a:off x="2667000" y="2971800"/>
            <a:ext cx="0" cy="533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5" name="Line 10"/>
          <p:cNvSpPr>
            <a:spLocks noChangeShapeType="1"/>
          </p:cNvSpPr>
          <p:nvPr/>
        </p:nvSpPr>
        <p:spPr bwMode="auto">
          <a:xfrm>
            <a:off x="2667000" y="3505200"/>
            <a:ext cx="1828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6" name="Line 11"/>
          <p:cNvSpPr>
            <a:spLocks noChangeShapeType="1"/>
          </p:cNvSpPr>
          <p:nvPr/>
        </p:nvSpPr>
        <p:spPr bwMode="auto">
          <a:xfrm>
            <a:off x="4495800" y="3505200"/>
            <a:ext cx="0" cy="381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7" name="Line 12"/>
          <p:cNvSpPr>
            <a:spLocks noChangeShapeType="1"/>
          </p:cNvSpPr>
          <p:nvPr/>
        </p:nvSpPr>
        <p:spPr bwMode="auto">
          <a:xfrm>
            <a:off x="6172200" y="304800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8" name="Line 13"/>
          <p:cNvSpPr>
            <a:spLocks noChangeShapeType="1"/>
          </p:cNvSpPr>
          <p:nvPr/>
        </p:nvSpPr>
        <p:spPr bwMode="auto">
          <a:xfrm flipH="1">
            <a:off x="4343400" y="3505200"/>
            <a:ext cx="1828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1026"/>
          <p:cNvSpPr>
            <a:spLocks noGrp="1" noChangeArrowheads="1"/>
          </p:cNvSpPr>
          <p:nvPr>
            <p:ph type="title"/>
          </p:nvPr>
        </p:nvSpPr>
        <p:spPr/>
        <p:txBody>
          <a:bodyPr/>
          <a:lstStyle/>
          <a:p>
            <a:r>
              <a:rPr lang="de-DE" altLang="en-US" smtClean="0"/>
              <a:t>Definition: Role</a:t>
            </a:r>
          </a:p>
        </p:txBody>
      </p:sp>
      <p:sp>
        <p:nvSpPr>
          <p:cNvPr id="30723" name="Rectangle 1027"/>
          <p:cNvSpPr>
            <a:spLocks noGrp="1" noChangeArrowheads="1"/>
          </p:cNvSpPr>
          <p:nvPr>
            <p:ph idx="1"/>
          </p:nvPr>
        </p:nvSpPr>
        <p:spPr/>
        <p:txBody>
          <a:bodyPr/>
          <a:lstStyle/>
          <a:p>
            <a:r>
              <a:rPr lang="de-DE" altLang="en-US" smtClean="0"/>
              <a:t>A </a:t>
            </a:r>
            <a:r>
              <a:rPr lang="de-DE" altLang="en-US" b="1" smtClean="0"/>
              <a:t>role</a:t>
            </a:r>
            <a:r>
              <a:rPr lang="de-DE" altLang="en-US" smtClean="0"/>
              <a:t> is a set of responsibilities </a:t>
            </a:r>
          </a:p>
          <a:p>
            <a:r>
              <a:rPr lang="de-DE" altLang="en-US" smtClean="0"/>
              <a:t>A role is instantiated during a project and assigned to one or more persons.</a:t>
            </a:r>
          </a:p>
          <a:p>
            <a:r>
              <a:rPr lang="de-DE" altLang="en-US" smtClean="0"/>
              <a:t>Instances of roles are often also called </a:t>
            </a:r>
            <a:r>
              <a:rPr lang="de-DE" altLang="en-US" b="1" smtClean="0"/>
              <a:t>players</a:t>
            </a:r>
            <a:r>
              <a:rPr lang="de-DE" altLang="en-US" smtClean="0"/>
              <a:t> (“who are the key players?“) or </a:t>
            </a:r>
            <a:r>
              <a:rPr lang="de-DE" altLang="en-US" b="1" smtClean="0"/>
              <a:t>stakeholders</a:t>
            </a:r>
            <a:r>
              <a:rPr lang="de-DE" altLang="en-US" smtClean="0"/>
              <a:t> </a:t>
            </a:r>
          </a:p>
          <a:p>
            <a:endParaRPr lang="de-DE" altLang="en-US" smtClean="0"/>
          </a:p>
          <a:p>
            <a:endParaRPr lang="de-DE" altLang="en-US" smtClean="0"/>
          </a:p>
          <a:p>
            <a:pPr lvl="1"/>
            <a:endParaRPr lang="de-DE" altLang="en-US"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746" name="Rectangle 8"/>
          <p:cNvSpPr>
            <a:spLocks noGrp="1" noChangeArrowheads="1"/>
          </p:cNvSpPr>
          <p:nvPr>
            <p:ph type="title"/>
          </p:nvPr>
        </p:nvSpPr>
        <p:spPr/>
        <p:txBody>
          <a:bodyPr/>
          <a:lstStyle/>
          <a:p>
            <a:r>
              <a:rPr lang="de-DE" altLang="en-US" smtClean="0"/>
              <a:t>Key  Roles in Organizations</a:t>
            </a:r>
          </a:p>
        </p:txBody>
      </p:sp>
      <p:sp>
        <p:nvSpPr>
          <p:cNvPr id="632841" name="Rectangle 9"/>
          <p:cNvSpPr>
            <a:spLocks noGrp="1" noChangeArrowheads="1"/>
          </p:cNvSpPr>
          <p:nvPr>
            <p:ph idx="1"/>
          </p:nvPr>
        </p:nvSpPr>
        <p:spPr>
          <a:xfrm>
            <a:off x="304800" y="1219200"/>
            <a:ext cx="8255000" cy="4800600"/>
          </a:xfrm>
        </p:spPr>
        <p:txBody>
          <a:bodyPr/>
          <a:lstStyle/>
          <a:p>
            <a:r>
              <a:rPr lang="de-DE" altLang="en-US" b="1" smtClean="0"/>
              <a:t>Project Manager:</a:t>
            </a:r>
            <a:r>
              <a:rPr lang="de-DE" altLang="en-US" smtClean="0"/>
              <a:t> The person ultimately responsible for the successful completion of the project</a:t>
            </a:r>
          </a:p>
          <a:p>
            <a:r>
              <a:rPr lang="de-DE" altLang="en-US" b="1" smtClean="0"/>
              <a:t>Project Team Member:</a:t>
            </a:r>
            <a:r>
              <a:rPr lang="de-DE" altLang="en-US" smtClean="0"/>
              <a:t> Participants who are responsible for performing individual activities and tasks (in a project or matrix organization)</a:t>
            </a:r>
          </a:p>
          <a:p>
            <a:r>
              <a:rPr lang="de-DE" altLang="en-US" b="1" smtClean="0"/>
              <a:t>Functional Manager:</a:t>
            </a:r>
            <a:r>
              <a:rPr lang="de-DE" altLang="en-US" smtClean="0"/>
              <a:t> The team member‘s supervisor in the department (in a functional organization)</a:t>
            </a:r>
          </a:p>
          <a:p>
            <a:r>
              <a:rPr lang="de-DE" altLang="en-US" b="1" smtClean="0"/>
              <a:t>Upper management:</a:t>
            </a:r>
            <a:r>
              <a:rPr lang="de-DE" altLang="en-US" smtClean="0"/>
              <a:t> People in charge of the departments or projects</a:t>
            </a:r>
          </a:p>
          <a:p>
            <a:endParaRPr lang="de-DE" altLang="en-US"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3284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3284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3284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3284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841"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p:spPr>
        <p:txBody>
          <a:bodyPr/>
          <a:lstStyle/>
          <a:p>
            <a:r>
              <a:rPr lang="en-US" altLang="en-US" smtClean="0"/>
              <a:t>Assigning Responsibilities To  People</a:t>
            </a:r>
          </a:p>
        </p:txBody>
      </p:sp>
      <p:sp>
        <p:nvSpPr>
          <p:cNvPr id="32771" name="Rectangle 7"/>
          <p:cNvSpPr>
            <a:spLocks noChangeArrowheads="1"/>
          </p:cNvSpPr>
          <p:nvPr/>
        </p:nvSpPr>
        <p:spPr bwMode="auto">
          <a:xfrm>
            <a:off x="228600" y="885825"/>
            <a:ext cx="298767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Project To Do List</a:t>
            </a:r>
          </a:p>
          <a:p>
            <a:r>
              <a:rPr lang="en-US" altLang="en-US" b="0">
                <a:solidFill>
                  <a:srgbClr val="000000"/>
                </a:solidFill>
                <a:latin typeface="Helvetica" pitchFamily="34" charset="0"/>
              </a:rPr>
              <a:t>(from your project template)</a:t>
            </a:r>
          </a:p>
        </p:txBody>
      </p:sp>
      <p:grpSp>
        <p:nvGrpSpPr>
          <p:cNvPr id="642126" name="Group 78"/>
          <p:cNvGrpSpPr>
            <a:grpSpLocks/>
          </p:cNvGrpSpPr>
          <p:nvPr/>
        </p:nvGrpSpPr>
        <p:grpSpPr bwMode="auto">
          <a:xfrm>
            <a:off x="1022350" y="1460500"/>
            <a:ext cx="1835150" cy="4175125"/>
            <a:chOff x="644" y="1078"/>
            <a:chExt cx="1156" cy="2630"/>
          </a:xfrm>
        </p:grpSpPr>
        <p:sp>
          <p:nvSpPr>
            <p:cNvPr id="32839" name="AutoShape 3"/>
            <p:cNvSpPr>
              <a:spLocks noChangeArrowheads="1"/>
            </p:cNvSpPr>
            <p:nvPr/>
          </p:nvSpPr>
          <p:spPr bwMode="auto">
            <a:xfrm>
              <a:off x="736" y="1280"/>
              <a:ext cx="1064" cy="1576"/>
            </a:xfrm>
            <a:prstGeom prst="roundRect">
              <a:avLst>
                <a:gd name="adj" fmla="val 24995"/>
              </a:avLst>
            </a:prstGeom>
            <a:solidFill>
              <a:srgbClr val="FFFFFF"/>
            </a:solidFill>
            <a:ln>
              <a:noFill/>
            </a:ln>
            <a:effectLst/>
            <a:extLst>
              <a:ext uri="{91240B29-F687-4F45-9708-019B960494DF}">
                <a14:hiddenLine xmlns:a14="http://schemas.microsoft.com/office/drawing/2010/main" w="1270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40" name="Oval 4"/>
            <p:cNvSpPr>
              <a:spLocks noChangeArrowheads="1"/>
            </p:cNvSpPr>
            <p:nvPr/>
          </p:nvSpPr>
          <p:spPr bwMode="auto">
            <a:xfrm>
              <a:off x="1312" y="2048"/>
              <a:ext cx="1" cy="8"/>
            </a:xfrm>
            <a:prstGeom prst="ellipse">
              <a:avLst/>
            </a:prstGeom>
            <a:solidFill>
              <a:srgbClr val="FFFFFF"/>
            </a:solidFill>
            <a:ln>
              <a:noFill/>
            </a:ln>
            <a:effectLst/>
            <a:extLst>
              <a:ext uri="{91240B29-F687-4F45-9708-019B960494DF}">
                <a14:hiddenLine xmlns:a14="http://schemas.microsoft.com/office/drawing/2010/main" w="1270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41" name="AutoShape 5"/>
            <p:cNvSpPr>
              <a:spLocks noChangeArrowheads="1"/>
            </p:cNvSpPr>
            <p:nvPr/>
          </p:nvSpPr>
          <p:spPr bwMode="auto">
            <a:xfrm>
              <a:off x="676" y="1116"/>
              <a:ext cx="976" cy="2592"/>
            </a:xfrm>
            <a:prstGeom prst="roundRect">
              <a:avLst>
                <a:gd name="adj" fmla="val 24995"/>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42" name="AutoShape 6"/>
            <p:cNvSpPr>
              <a:spLocks noChangeArrowheads="1"/>
            </p:cNvSpPr>
            <p:nvPr/>
          </p:nvSpPr>
          <p:spPr bwMode="auto">
            <a:xfrm>
              <a:off x="644" y="1084"/>
              <a:ext cx="976" cy="2592"/>
            </a:xfrm>
            <a:prstGeom prst="roundRect">
              <a:avLst>
                <a:gd name="adj" fmla="val 24995"/>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43" name="Rectangle 8"/>
            <p:cNvSpPr>
              <a:spLocks noChangeArrowheads="1"/>
            </p:cNvSpPr>
            <p:nvPr/>
          </p:nvSpPr>
          <p:spPr bwMode="auto">
            <a:xfrm>
              <a:off x="843" y="1078"/>
              <a:ext cx="60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 Item 1</a:t>
              </a:r>
            </a:p>
          </p:txBody>
        </p:sp>
        <p:sp>
          <p:nvSpPr>
            <p:cNvPr id="32844" name="Rectangle 9"/>
            <p:cNvSpPr>
              <a:spLocks noChangeArrowheads="1"/>
            </p:cNvSpPr>
            <p:nvPr/>
          </p:nvSpPr>
          <p:spPr bwMode="auto">
            <a:xfrm>
              <a:off x="1227" y="1078"/>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45" name="Rectangle 10"/>
            <p:cNvSpPr>
              <a:spLocks noChangeArrowheads="1"/>
            </p:cNvSpPr>
            <p:nvPr/>
          </p:nvSpPr>
          <p:spPr bwMode="auto">
            <a:xfrm>
              <a:off x="843" y="1190"/>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46" name="Rectangle 11"/>
            <p:cNvSpPr>
              <a:spLocks noChangeArrowheads="1"/>
            </p:cNvSpPr>
            <p:nvPr/>
          </p:nvSpPr>
          <p:spPr bwMode="auto">
            <a:xfrm>
              <a:off x="843" y="1302"/>
              <a:ext cx="60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 Item 2</a:t>
              </a:r>
            </a:p>
          </p:txBody>
        </p:sp>
        <p:sp>
          <p:nvSpPr>
            <p:cNvPr id="32847" name="Rectangle 12"/>
            <p:cNvSpPr>
              <a:spLocks noChangeArrowheads="1"/>
            </p:cNvSpPr>
            <p:nvPr/>
          </p:nvSpPr>
          <p:spPr bwMode="auto">
            <a:xfrm>
              <a:off x="1227" y="1302"/>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48" name="Rectangle 13"/>
            <p:cNvSpPr>
              <a:spLocks noChangeArrowheads="1"/>
            </p:cNvSpPr>
            <p:nvPr/>
          </p:nvSpPr>
          <p:spPr bwMode="auto">
            <a:xfrm>
              <a:off x="843" y="1414"/>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49" name="Rectangle 14"/>
            <p:cNvSpPr>
              <a:spLocks noChangeArrowheads="1"/>
            </p:cNvSpPr>
            <p:nvPr/>
          </p:nvSpPr>
          <p:spPr bwMode="auto">
            <a:xfrm>
              <a:off x="843" y="1526"/>
              <a:ext cx="60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 Item 3</a:t>
              </a:r>
            </a:p>
          </p:txBody>
        </p:sp>
        <p:sp>
          <p:nvSpPr>
            <p:cNvPr id="32850" name="Rectangle 15"/>
            <p:cNvSpPr>
              <a:spLocks noChangeArrowheads="1"/>
            </p:cNvSpPr>
            <p:nvPr/>
          </p:nvSpPr>
          <p:spPr bwMode="auto">
            <a:xfrm>
              <a:off x="1227" y="1526"/>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51" name="Rectangle 16"/>
            <p:cNvSpPr>
              <a:spLocks noChangeArrowheads="1"/>
            </p:cNvSpPr>
            <p:nvPr/>
          </p:nvSpPr>
          <p:spPr bwMode="auto">
            <a:xfrm>
              <a:off x="843" y="1638"/>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52" name="Rectangle 17"/>
            <p:cNvSpPr>
              <a:spLocks noChangeArrowheads="1"/>
            </p:cNvSpPr>
            <p:nvPr/>
          </p:nvSpPr>
          <p:spPr bwMode="auto">
            <a:xfrm>
              <a:off x="843" y="1750"/>
              <a:ext cx="60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 Item 4</a:t>
              </a:r>
            </a:p>
          </p:txBody>
        </p:sp>
        <p:sp>
          <p:nvSpPr>
            <p:cNvPr id="32853" name="Rectangle 18"/>
            <p:cNvSpPr>
              <a:spLocks noChangeArrowheads="1"/>
            </p:cNvSpPr>
            <p:nvPr/>
          </p:nvSpPr>
          <p:spPr bwMode="auto">
            <a:xfrm>
              <a:off x="1227" y="1750"/>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54" name="Rectangle 19"/>
            <p:cNvSpPr>
              <a:spLocks noChangeArrowheads="1"/>
            </p:cNvSpPr>
            <p:nvPr/>
          </p:nvSpPr>
          <p:spPr bwMode="auto">
            <a:xfrm>
              <a:off x="843" y="1862"/>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55" name="Rectangle 20"/>
            <p:cNvSpPr>
              <a:spLocks noChangeArrowheads="1"/>
            </p:cNvSpPr>
            <p:nvPr/>
          </p:nvSpPr>
          <p:spPr bwMode="auto">
            <a:xfrm>
              <a:off x="843" y="1974"/>
              <a:ext cx="60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 Item 5</a:t>
              </a:r>
            </a:p>
          </p:txBody>
        </p:sp>
        <p:sp>
          <p:nvSpPr>
            <p:cNvPr id="32856" name="Rectangle 21"/>
            <p:cNvSpPr>
              <a:spLocks noChangeArrowheads="1"/>
            </p:cNvSpPr>
            <p:nvPr/>
          </p:nvSpPr>
          <p:spPr bwMode="auto">
            <a:xfrm>
              <a:off x="1227" y="1974"/>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57" name="Rectangle 22"/>
            <p:cNvSpPr>
              <a:spLocks noChangeArrowheads="1"/>
            </p:cNvSpPr>
            <p:nvPr/>
          </p:nvSpPr>
          <p:spPr bwMode="auto">
            <a:xfrm>
              <a:off x="843" y="2086"/>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58" name="Rectangle 23"/>
            <p:cNvSpPr>
              <a:spLocks noChangeArrowheads="1"/>
            </p:cNvSpPr>
            <p:nvPr/>
          </p:nvSpPr>
          <p:spPr bwMode="auto">
            <a:xfrm>
              <a:off x="843" y="2198"/>
              <a:ext cx="60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 Item 6</a:t>
              </a:r>
            </a:p>
          </p:txBody>
        </p:sp>
        <p:sp>
          <p:nvSpPr>
            <p:cNvPr id="32859" name="Rectangle 24"/>
            <p:cNvSpPr>
              <a:spLocks noChangeArrowheads="1"/>
            </p:cNvSpPr>
            <p:nvPr/>
          </p:nvSpPr>
          <p:spPr bwMode="auto">
            <a:xfrm>
              <a:off x="1227" y="2198"/>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60" name="Rectangle 25"/>
            <p:cNvSpPr>
              <a:spLocks noChangeArrowheads="1"/>
            </p:cNvSpPr>
            <p:nvPr/>
          </p:nvSpPr>
          <p:spPr bwMode="auto">
            <a:xfrm>
              <a:off x="843" y="2310"/>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61" name="Rectangle 26"/>
            <p:cNvSpPr>
              <a:spLocks noChangeArrowheads="1"/>
            </p:cNvSpPr>
            <p:nvPr/>
          </p:nvSpPr>
          <p:spPr bwMode="auto">
            <a:xfrm>
              <a:off x="843" y="2422"/>
              <a:ext cx="60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 Item 7</a:t>
              </a:r>
            </a:p>
          </p:txBody>
        </p:sp>
        <p:sp>
          <p:nvSpPr>
            <p:cNvPr id="32862" name="Rectangle 27"/>
            <p:cNvSpPr>
              <a:spLocks noChangeArrowheads="1"/>
            </p:cNvSpPr>
            <p:nvPr/>
          </p:nvSpPr>
          <p:spPr bwMode="auto">
            <a:xfrm>
              <a:off x="1227" y="2422"/>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63" name="Rectangle 28"/>
            <p:cNvSpPr>
              <a:spLocks noChangeArrowheads="1"/>
            </p:cNvSpPr>
            <p:nvPr/>
          </p:nvSpPr>
          <p:spPr bwMode="auto">
            <a:xfrm>
              <a:off x="843" y="2534"/>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64" name="Rectangle 29"/>
            <p:cNvSpPr>
              <a:spLocks noChangeArrowheads="1"/>
            </p:cNvSpPr>
            <p:nvPr/>
          </p:nvSpPr>
          <p:spPr bwMode="auto">
            <a:xfrm>
              <a:off x="843" y="2646"/>
              <a:ext cx="60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 Item 8</a:t>
              </a:r>
            </a:p>
          </p:txBody>
        </p:sp>
        <p:sp>
          <p:nvSpPr>
            <p:cNvPr id="32865" name="Rectangle 30"/>
            <p:cNvSpPr>
              <a:spLocks noChangeArrowheads="1"/>
            </p:cNvSpPr>
            <p:nvPr/>
          </p:nvSpPr>
          <p:spPr bwMode="auto">
            <a:xfrm>
              <a:off x="1227" y="2646"/>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66" name="Rectangle 31"/>
            <p:cNvSpPr>
              <a:spLocks noChangeArrowheads="1"/>
            </p:cNvSpPr>
            <p:nvPr/>
          </p:nvSpPr>
          <p:spPr bwMode="auto">
            <a:xfrm>
              <a:off x="843" y="2758"/>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67" name="Rectangle 32"/>
            <p:cNvSpPr>
              <a:spLocks noChangeArrowheads="1"/>
            </p:cNvSpPr>
            <p:nvPr/>
          </p:nvSpPr>
          <p:spPr bwMode="auto">
            <a:xfrm>
              <a:off x="843" y="2870"/>
              <a:ext cx="60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 Item 9</a:t>
              </a:r>
            </a:p>
          </p:txBody>
        </p:sp>
      </p:grpSp>
      <p:grpSp>
        <p:nvGrpSpPr>
          <p:cNvPr id="642081" name="Group 33"/>
          <p:cNvGrpSpPr>
            <a:grpSpLocks/>
          </p:cNvGrpSpPr>
          <p:nvPr/>
        </p:nvGrpSpPr>
        <p:grpSpPr bwMode="auto">
          <a:xfrm>
            <a:off x="3549650" y="1143000"/>
            <a:ext cx="1093788" cy="1374775"/>
            <a:chOff x="2236" y="878"/>
            <a:chExt cx="689" cy="866"/>
          </a:xfrm>
        </p:grpSpPr>
        <p:sp>
          <p:nvSpPr>
            <p:cNvPr id="32828" name="Oval 34"/>
            <p:cNvSpPr>
              <a:spLocks noChangeArrowheads="1"/>
            </p:cNvSpPr>
            <p:nvPr/>
          </p:nvSpPr>
          <p:spPr bwMode="auto">
            <a:xfrm>
              <a:off x="2888" y="1552"/>
              <a:ext cx="8" cy="8"/>
            </a:xfrm>
            <a:prstGeom prst="ellipse">
              <a:avLst/>
            </a:prstGeom>
            <a:solidFill>
              <a:srgbClr val="FFFFFF"/>
            </a:solidFill>
            <a:ln>
              <a:noFill/>
            </a:ln>
            <a:effectLst/>
            <a:extLst>
              <a:ext uri="{91240B29-F687-4F45-9708-019B960494DF}">
                <a14:hiddenLine xmlns:a14="http://schemas.microsoft.com/office/drawing/2010/main" w="127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29" name="AutoShape 35"/>
            <p:cNvSpPr>
              <a:spLocks noChangeArrowheads="1"/>
            </p:cNvSpPr>
            <p:nvPr/>
          </p:nvSpPr>
          <p:spPr bwMode="auto">
            <a:xfrm>
              <a:off x="2268" y="1100"/>
              <a:ext cx="640" cy="552"/>
            </a:xfrm>
            <a:prstGeom prst="roundRect">
              <a:avLst>
                <a:gd name="adj" fmla="val 24639"/>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30" name="AutoShape 36"/>
            <p:cNvSpPr>
              <a:spLocks noChangeArrowheads="1"/>
            </p:cNvSpPr>
            <p:nvPr/>
          </p:nvSpPr>
          <p:spPr bwMode="auto">
            <a:xfrm>
              <a:off x="2236" y="1068"/>
              <a:ext cx="640" cy="552"/>
            </a:xfrm>
            <a:prstGeom prst="roundRect">
              <a:avLst>
                <a:gd name="adj" fmla="val 24639"/>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31" name="Rectangle 37"/>
            <p:cNvSpPr>
              <a:spLocks noChangeArrowheads="1"/>
            </p:cNvSpPr>
            <p:nvPr/>
          </p:nvSpPr>
          <p:spPr bwMode="auto">
            <a:xfrm>
              <a:off x="2371" y="1054"/>
              <a:ext cx="51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Item 1</a:t>
              </a:r>
            </a:p>
          </p:txBody>
        </p:sp>
        <p:sp>
          <p:nvSpPr>
            <p:cNvPr id="32832" name="Rectangle 38"/>
            <p:cNvSpPr>
              <a:spLocks noChangeArrowheads="1"/>
            </p:cNvSpPr>
            <p:nvPr/>
          </p:nvSpPr>
          <p:spPr bwMode="auto">
            <a:xfrm>
              <a:off x="2635" y="1054"/>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33" name="Rectangle 39"/>
            <p:cNvSpPr>
              <a:spLocks noChangeArrowheads="1"/>
            </p:cNvSpPr>
            <p:nvPr/>
          </p:nvSpPr>
          <p:spPr bwMode="auto">
            <a:xfrm>
              <a:off x="2371" y="1150"/>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34" name="Rectangle 40"/>
            <p:cNvSpPr>
              <a:spLocks noChangeArrowheads="1"/>
            </p:cNvSpPr>
            <p:nvPr/>
          </p:nvSpPr>
          <p:spPr bwMode="auto">
            <a:xfrm>
              <a:off x="2371" y="1246"/>
              <a:ext cx="51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Item 2</a:t>
              </a:r>
            </a:p>
          </p:txBody>
        </p:sp>
        <p:sp>
          <p:nvSpPr>
            <p:cNvPr id="32835" name="Rectangle 41"/>
            <p:cNvSpPr>
              <a:spLocks noChangeArrowheads="1"/>
            </p:cNvSpPr>
            <p:nvPr/>
          </p:nvSpPr>
          <p:spPr bwMode="auto">
            <a:xfrm>
              <a:off x="2635" y="1246"/>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36" name="Rectangle 42"/>
            <p:cNvSpPr>
              <a:spLocks noChangeArrowheads="1"/>
            </p:cNvSpPr>
            <p:nvPr/>
          </p:nvSpPr>
          <p:spPr bwMode="auto">
            <a:xfrm>
              <a:off x="2371" y="1342"/>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37" name="Rectangle 43"/>
            <p:cNvSpPr>
              <a:spLocks noChangeArrowheads="1"/>
            </p:cNvSpPr>
            <p:nvPr/>
          </p:nvSpPr>
          <p:spPr bwMode="auto">
            <a:xfrm>
              <a:off x="2371" y="1438"/>
              <a:ext cx="51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Item 9</a:t>
              </a:r>
            </a:p>
          </p:txBody>
        </p:sp>
        <p:sp>
          <p:nvSpPr>
            <p:cNvPr id="32838" name="Rectangle 44"/>
            <p:cNvSpPr>
              <a:spLocks noChangeArrowheads="1"/>
            </p:cNvSpPr>
            <p:nvPr/>
          </p:nvSpPr>
          <p:spPr bwMode="auto">
            <a:xfrm>
              <a:off x="2379" y="878"/>
              <a:ext cx="546"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a:solidFill>
                    <a:srgbClr val="000000"/>
                  </a:solidFill>
                  <a:latin typeface="Helvetica" pitchFamily="34" charset="0"/>
                </a:rPr>
                <a:t>Role 1</a:t>
              </a:r>
            </a:p>
          </p:txBody>
        </p:sp>
      </p:grpSp>
      <p:grpSp>
        <p:nvGrpSpPr>
          <p:cNvPr id="642093" name="Group 45"/>
          <p:cNvGrpSpPr>
            <a:grpSpLocks/>
          </p:cNvGrpSpPr>
          <p:nvPr/>
        </p:nvGrpSpPr>
        <p:grpSpPr bwMode="auto">
          <a:xfrm>
            <a:off x="4730750" y="2438400"/>
            <a:ext cx="1131888" cy="1400175"/>
            <a:chOff x="2980" y="1694"/>
            <a:chExt cx="713" cy="882"/>
          </a:xfrm>
        </p:grpSpPr>
        <p:sp>
          <p:nvSpPr>
            <p:cNvPr id="32818" name="AutoShape 46"/>
            <p:cNvSpPr>
              <a:spLocks noChangeArrowheads="1"/>
            </p:cNvSpPr>
            <p:nvPr/>
          </p:nvSpPr>
          <p:spPr bwMode="auto">
            <a:xfrm>
              <a:off x="3012" y="1908"/>
              <a:ext cx="680" cy="584"/>
            </a:xfrm>
            <a:prstGeom prst="roundRect">
              <a:avLst>
                <a:gd name="adj" fmla="val 24662"/>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19" name="AutoShape 47"/>
            <p:cNvSpPr>
              <a:spLocks noChangeArrowheads="1"/>
            </p:cNvSpPr>
            <p:nvPr/>
          </p:nvSpPr>
          <p:spPr bwMode="auto">
            <a:xfrm>
              <a:off x="2980" y="1876"/>
              <a:ext cx="680" cy="584"/>
            </a:xfrm>
            <a:prstGeom prst="roundRect">
              <a:avLst>
                <a:gd name="adj" fmla="val 24662"/>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20" name="Rectangle 48"/>
            <p:cNvSpPr>
              <a:spLocks noChangeArrowheads="1"/>
            </p:cNvSpPr>
            <p:nvPr/>
          </p:nvSpPr>
          <p:spPr bwMode="auto">
            <a:xfrm>
              <a:off x="3155" y="1886"/>
              <a:ext cx="51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Item 4</a:t>
              </a:r>
            </a:p>
          </p:txBody>
        </p:sp>
        <p:sp>
          <p:nvSpPr>
            <p:cNvPr id="32821" name="Rectangle 49"/>
            <p:cNvSpPr>
              <a:spLocks noChangeArrowheads="1"/>
            </p:cNvSpPr>
            <p:nvPr/>
          </p:nvSpPr>
          <p:spPr bwMode="auto">
            <a:xfrm>
              <a:off x="3419" y="1886"/>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22" name="Rectangle 50"/>
            <p:cNvSpPr>
              <a:spLocks noChangeArrowheads="1"/>
            </p:cNvSpPr>
            <p:nvPr/>
          </p:nvSpPr>
          <p:spPr bwMode="auto">
            <a:xfrm>
              <a:off x="3155" y="1982"/>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23" name="Rectangle 51"/>
            <p:cNvSpPr>
              <a:spLocks noChangeArrowheads="1"/>
            </p:cNvSpPr>
            <p:nvPr/>
          </p:nvSpPr>
          <p:spPr bwMode="auto">
            <a:xfrm>
              <a:off x="3155" y="2078"/>
              <a:ext cx="51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Item 5</a:t>
              </a:r>
            </a:p>
          </p:txBody>
        </p:sp>
        <p:sp>
          <p:nvSpPr>
            <p:cNvPr id="32824" name="Rectangle 52"/>
            <p:cNvSpPr>
              <a:spLocks noChangeArrowheads="1"/>
            </p:cNvSpPr>
            <p:nvPr/>
          </p:nvSpPr>
          <p:spPr bwMode="auto">
            <a:xfrm>
              <a:off x="3419" y="2078"/>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25" name="Rectangle 53"/>
            <p:cNvSpPr>
              <a:spLocks noChangeArrowheads="1"/>
            </p:cNvSpPr>
            <p:nvPr/>
          </p:nvSpPr>
          <p:spPr bwMode="auto">
            <a:xfrm>
              <a:off x="3155" y="2174"/>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26" name="Rectangle 54"/>
            <p:cNvSpPr>
              <a:spLocks noChangeArrowheads="1"/>
            </p:cNvSpPr>
            <p:nvPr/>
          </p:nvSpPr>
          <p:spPr bwMode="auto">
            <a:xfrm>
              <a:off x="3155" y="2270"/>
              <a:ext cx="51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Item 7</a:t>
              </a:r>
            </a:p>
          </p:txBody>
        </p:sp>
        <p:sp>
          <p:nvSpPr>
            <p:cNvPr id="32827" name="Rectangle 55"/>
            <p:cNvSpPr>
              <a:spLocks noChangeArrowheads="1"/>
            </p:cNvSpPr>
            <p:nvPr/>
          </p:nvSpPr>
          <p:spPr bwMode="auto">
            <a:xfrm>
              <a:off x="3147" y="1694"/>
              <a:ext cx="546"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a:solidFill>
                    <a:srgbClr val="000000"/>
                  </a:solidFill>
                  <a:latin typeface="Helvetica" pitchFamily="34" charset="0"/>
                </a:rPr>
                <a:t>Role 2</a:t>
              </a:r>
            </a:p>
          </p:txBody>
        </p:sp>
      </p:grpSp>
      <p:grpSp>
        <p:nvGrpSpPr>
          <p:cNvPr id="642104" name="Group 56"/>
          <p:cNvGrpSpPr>
            <a:grpSpLocks/>
          </p:cNvGrpSpPr>
          <p:nvPr/>
        </p:nvGrpSpPr>
        <p:grpSpPr bwMode="auto">
          <a:xfrm>
            <a:off x="3651250" y="4152900"/>
            <a:ext cx="1144588" cy="1400175"/>
            <a:chOff x="2300" y="2774"/>
            <a:chExt cx="721" cy="882"/>
          </a:xfrm>
        </p:grpSpPr>
        <p:sp>
          <p:nvSpPr>
            <p:cNvPr id="32808" name="AutoShape 57"/>
            <p:cNvSpPr>
              <a:spLocks noChangeArrowheads="1"/>
            </p:cNvSpPr>
            <p:nvPr/>
          </p:nvSpPr>
          <p:spPr bwMode="auto">
            <a:xfrm>
              <a:off x="2332" y="2988"/>
              <a:ext cx="688" cy="592"/>
            </a:xfrm>
            <a:prstGeom prst="roundRect">
              <a:avLst>
                <a:gd name="adj" fmla="val 24995"/>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09" name="AutoShape 58"/>
            <p:cNvSpPr>
              <a:spLocks noChangeArrowheads="1"/>
            </p:cNvSpPr>
            <p:nvPr/>
          </p:nvSpPr>
          <p:spPr bwMode="auto">
            <a:xfrm>
              <a:off x="2300" y="2956"/>
              <a:ext cx="688" cy="592"/>
            </a:xfrm>
            <a:prstGeom prst="roundRect">
              <a:avLst>
                <a:gd name="adj" fmla="val 24995"/>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10" name="Rectangle 59"/>
            <p:cNvSpPr>
              <a:spLocks noChangeArrowheads="1"/>
            </p:cNvSpPr>
            <p:nvPr/>
          </p:nvSpPr>
          <p:spPr bwMode="auto">
            <a:xfrm>
              <a:off x="2451" y="2966"/>
              <a:ext cx="51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Item 3</a:t>
              </a:r>
            </a:p>
          </p:txBody>
        </p:sp>
        <p:sp>
          <p:nvSpPr>
            <p:cNvPr id="32811" name="Rectangle 60"/>
            <p:cNvSpPr>
              <a:spLocks noChangeArrowheads="1"/>
            </p:cNvSpPr>
            <p:nvPr/>
          </p:nvSpPr>
          <p:spPr bwMode="auto">
            <a:xfrm>
              <a:off x="2715" y="2966"/>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12" name="Rectangle 61"/>
            <p:cNvSpPr>
              <a:spLocks noChangeArrowheads="1"/>
            </p:cNvSpPr>
            <p:nvPr/>
          </p:nvSpPr>
          <p:spPr bwMode="auto">
            <a:xfrm>
              <a:off x="2451" y="3062"/>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13" name="Rectangle 62"/>
            <p:cNvSpPr>
              <a:spLocks noChangeArrowheads="1"/>
            </p:cNvSpPr>
            <p:nvPr/>
          </p:nvSpPr>
          <p:spPr bwMode="auto">
            <a:xfrm>
              <a:off x="2451" y="3158"/>
              <a:ext cx="51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Item 6</a:t>
              </a:r>
            </a:p>
          </p:txBody>
        </p:sp>
        <p:sp>
          <p:nvSpPr>
            <p:cNvPr id="32814" name="Rectangle 63"/>
            <p:cNvSpPr>
              <a:spLocks noChangeArrowheads="1"/>
            </p:cNvSpPr>
            <p:nvPr/>
          </p:nvSpPr>
          <p:spPr bwMode="auto">
            <a:xfrm>
              <a:off x="2715" y="3158"/>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15" name="Rectangle 64"/>
            <p:cNvSpPr>
              <a:spLocks noChangeArrowheads="1"/>
            </p:cNvSpPr>
            <p:nvPr/>
          </p:nvSpPr>
          <p:spPr bwMode="auto">
            <a:xfrm>
              <a:off x="2451" y="3254"/>
              <a:ext cx="114"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endParaRPr lang="en-US" altLang="en-US" b="0">
                <a:solidFill>
                  <a:srgbClr val="000000"/>
                </a:solidFill>
                <a:latin typeface="Helvetica" pitchFamily="34" charset="0"/>
              </a:endParaRPr>
            </a:p>
            <a:p>
              <a:endParaRPr lang="en-US" altLang="en-US" b="0">
                <a:solidFill>
                  <a:srgbClr val="000000"/>
                </a:solidFill>
                <a:latin typeface="Helvetica" pitchFamily="34" charset="0"/>
              </a:endParaRPr>
            </a:p>
          </p:txBody>
        </p:sp>
        <p:sp>
          <p:nvSpPr>
            <p:cNvPr id="32816" name="Rectangle 65"/>
            <p:cNvSpPr>
              <a:spLocks noChangeArrowheads="1"/>
            </p:cNvSpPr>
            <p:nvPr/>
          </p:nvSpPr>
          <p:spPr bwMode="auto">
            <a:xfrm>
              <a:off x="2451" y="3350"/>
              <a:ext cx="514"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solidFill>
                    <a:srgbClr val="000000"/>
                  </a:solidFill>
                  <a:latin typeface="Helvetica" pitchFamily="34" charset="0"/>
                </a:rPr>
                <a:t>Item 8</a:t>
              </a:r>
            </a:p>
          </p:txBody>
        </p:sp>
        <p:sp>
          <p:nvSpPr>
            <p:cNvPr id="32817" name="Rectangle 66"/>
            <p:cNvSpPr>
              <a:spLocks noChangeArrowheads="1"/>
            </p:cNvSpPr>
            <p:nvPr/>
          </p:nvSpPr>
          <p:spPr bwMode="auto">
            <a:xfrm>
              <a:off x="2475" y="2774"/>
              <a:ext cx="546"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a:solidFill>
                    <a:srgbClr val="000000"/>
                  </a:solidFill>
                  <a:latin typeface="Helvetica" pitchFamily="34" charset="0"/>
                </a:rPr>
                <a:t>Role 3</a:t>
              </a:r>
            </a:p>
          </p:txBody>
        </p:sp>
      </p:grpSp>
      <p:grpSp>
        <p:nvGrpSpPr>
          <p:cNvPr id="642115" name="Group 67"/>
          <p:cNvGrpSpPr>
            <a:grpSpLocks/>
          </p:cNvGrpSpPr>
          <p:nvPr/>
        </p:nvGrpSpPr>
        <p:grpSpPr bwMode="auto">
          <a:xfrm>
            <a:off x="6699250" y="1308100"/>
            <a:ext cx="1676400" cy="1914525"/>
            <a:chOff x="4220" y="982"/>
            <a:chExt cx="1056" cy="1206"/>
          </a:xfrm>
        </p:grpSpPr>
        <p:sp>
          <p:nvSpPr>
            <p:cNvPr id="32805" name="Oval 68"/>
            <p:cNvSpPr>
              <a:spLocks noChangeArrowheads="1"/>
            </p:cNvSpPr>
            <p:nvPr/>
          </p:nvSpPr>
          <p:spPr bwMode="auto">
            <a:xfrm>
              <a:off x="4252" y="1236"/>
              <a:ext cx="1024" cy="952"/>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06" name="Oval 69"/>
            <p:cNvSpPr>
              <a:spLocks noChangeArrowheads="1"/>
            </p:cNvSpPr>
            <p:nvPr/>
          </p:nvSpPr>
          <p:spPr bwMode="auto">
            <a:xfrm>
              <a:off x="4220" y="1204"/>
              <a:ext cx="1024" cy="952"/>
            </a:xfrm>
            <a:prstGeom prst="ellipse">
              <a:avLst/>
            </a:prstGeom>
            <a:solidFill>
              <a:srgbClr val="FFFFFF"/>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07" name="Rectangle 70"/>
            <p:cNvSpPr>
              <a:spLocks noChangeArrowheads="1"/>
            </p:cNvSpPr>
            <p:nvPr/>
          </p:nvSpPr>
          <p:spPr bwMode="auto">
            <a:xfrm>
              <a:off x="4435" y="982"/>
              <a:ext cx="746"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a:solidFill>
                    <a:srgbClr val="000000"/>
                  </a:solidFill>
                  <a:latin typeface="Helvetica" pitchFamily="34" charset="0"/>
                </a:rPr>
                <a:t>Person A</a:t>
              </a:r>
            </a:p>
          </p:txBody>
        </p:sp>
      </p:grpSp>
      <p:grpSp>
        <p:nvGrpSpPr>
          <p:cNvPr id="642149" name="Group 101"/>
          <p:cNvGrpSpPr>
            <a:grpSpLocks/>
          </p:cNvGrpSpPr>
          <p:nvPr/>
        </p:nvGrpSpPr>
        <p:grpSpPr bwMode="auto">
          <a:xfrm>
            <a:off x="6661150" y="3632200"/>
            <a:ext cx="1676400" cy="2130425"/>
            <a:chOff x="4196" y="2288"/>
            <a:chExt cx="1056" cy="1342"/>
          </a:xfrm>
        </p:grpSpPr>
        <p:sp>
          <p:nvSpPr>
            <p:cNvPr id="32801" name="Oval 71"/>
            <p:cNvSpPr>
              <a:spLocks noChangeArrowheads="1"/>
            </p:cNvSpPr>
            <p:nvPr/>
          </p:nvSpPr>
          <p:spPr bwMode="auto">
            <a:xfrm>
              <a:off x="4228" y="2638"/>
              <a:ext cx="1024" cy="952"/>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02" name="Oval 72"/>
            <p:cNvSpPr>
              <a:spLocks noChangeArrowheads="1"/>
            </p:cNvSpPr>
            <p:nvPr/>
          </p:nvSpPr>
          <p:spPr bwMode="auto">
            <a:xfrm>
              <a:off x="4196" y="2678"/>
              <a:ext cx="1024" cy="952"/>
            </a:xfrm>
            <a:prstGeom prst="ellipse">
              <a:avLst/>
            </a:prstGeom>
            <a:blipFill dpi="0" rotWithShape="0">
              <a:blip r:embed="rId3"/>
              <a:srcRect/>
              <a:tile tx="0" ty="0" sx="100000" sy="100000" flip="none" algn="tl"/>
            </a:blip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03" name="Rectangle 73"/>
            <p:cNvSpPr>
              <a:spLocks noChangeArrowheads="1"/>
            </p:cNvSpPr>
            <p:nvPr/>
          </p:nvSpPr>
          <p:spPr bwMode="auto">
            <a:xfrm>
              <a:off x="4424" y="2410"/>
              <a:ext cx="584" cy="200"/>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2804" name="Rectangle 74"/>
            <p:cNvSpPr>
              <a:spLocks noChangeArrowheads="1"/>
            </p:cNvSpPr>
            <p:nvPr/>
          </p:nvSpPr>
          <p:spPr bwMode="auto">
            <a:xfrm>
              <a:off x="4375" y="2288"/>
              <a:ext cx="746"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a:solidFill>
                    <a:srgbClr val="000000"/>
                  </a:solidFill>
                  <a:latin typeface="Helvetica" pitchFamily="34" charset="0"/>
                </a:rPr>
                <a:t>Person B</a:t>
              </a:r>
            </a:p>
          </p:txBody>
        </p:sp>
      </p:grpSp>
      <p:grpSp>
        <p:nvGrpSpPr>
          <p:cNvPr id="642139" name="Group 91"/>
          <p:cNvGrpSpPr>
            <a:grpSpLocks/>
          </p:cNvGrpSpPr>
          <p:nvPr/>
        </p:nvGrpSpPr>
        <p:grpSpPr bwMode="auto">
          <a:xfrm>
            <a:off x="2209800" y="2339975"/>
            <a:ext cx="1752600" cy="2895600"/>
            <a:chOff x="1392" y="1632"/>
            <a:chExt cx="1104" cy="1824"/>
          </a:xfrm>
        </p:grpSpPr>
        <p:sp>
          <p:nvSpPr>
            <p:cNvPr id="32798" name="Line 82"/>
            <p:cNvSpPr>
              <a:spLocks noChangeShapeType="1"/>
            </p:cNvSpPr>
            <p:nvPr/>
          </p:nvSpPr>
          <p:spPr bwMode="auto">
            <a:xfrm>
              <a:off x="1440" y="1632"/>
              <a:ext cx="1008" cy="144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9" name="Line 83"/>
            <p:cNvSpPr>
              <a:spLocks noChangeShapeType="1"/>
            </p:cNvSpPr>
            <p:nvPr/>
          </p:nvSpPr>
          <p:spPr bwMode="auto">
            <a:xfrm>
              <a:off x="1392" y="2304"/>
              <a:ext cx="1056" cy="91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00" name="Line 84"/>
            <p:cNvSpPr>
              <a:spLocks noChangeShapeType="1"/>
            </p:cNvSpPr>
            <p:nvPr/>
          </p:nvSpPr>
          <p:spPr bwMode="auto">
            <a:xfrm>
              <a:off x="1392" y="2736"/>
              <a:ext cx="1104" cy="72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42137" name="Group 89"/>
          <p:cNvGrpSpPr>
            <a:grpSpLocks/>
          </p:cNvGrpSpPr>
          <p:nvPr/>
        </p:nvGrpSpPr>
        <p:grpSpPr bwMode="auto">
          <a:xfrm>
            <a:off x="2209800" y="1577975"/>
            <a:ext cx="1600200" cy="2819400"/>
            <a:chOff x="1392" y="1152"/>
            <a:chExt cx="1008" cy="1776"/>
          </a:xfrm>
        </p:grpSpPr>
        <p:sp>
          <p:nvSpPr>
            <p:cNvPr id="32795" name="Line 79"/>
            <p:cNvSpPr>
              <a:spLocks noChangeShapeType="1"/>
            </p:cNvSpPr>
            <p:nvPr/>
          </p:nvSpPr>
          <p:spPr bwMode="auto">
            <a:xfrm>
              <a:off x="1392" y="1152"/>
              <a:ext cx="100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6" name="Line 80"/>
            <p:cNvSpPr>
              <a:spLocks noChangeShapeType="1"/>
            </p:cNvSpPr>
            <p:nvPr/>
          </p:nvSpPr>
          <p:spPr bwMode="auto">
            <a:xfrm flipV="1">
              <a:off x="1392" y="1344"/>
              <a:ext cx="1008" cy="4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7" name="Line 81"/>
            <p:cNvSpPr>
              <a:spLocks noChangeShapeType="1"/>
            </p:cNvSpPr>
            <p:nvPr/>
          </p:nvSpPr>
          <p:spPr bwMode="auto">
            <a:xfrm flipV="1">
              <a:off x="1440" y="1536"/>
              <a:ext cx="960" cy="13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42138" name="Group 90"/>
          <p:cNvGrpSpPr>
            <a:grpSpLocks/>
          </p:cNvGrpSpPr>
          <p:nvPr/>
        </p:nvGrpSpPr>
        <p:grpSpPr bwMode="auto">
          <a:xfrm>
            <a:off x="2286000" y="2720975"/>
            <a:ext cx="2819400" cy="990600"/>
            <a:chOff x="1440" y="1872"/>
            <a:chExt cx="1776" cy="624"/>
          </a:xfrm>
        </p:grpSpPr>
        <p:sp>
          <p:nvSpPr>
            <p:cNvPr id="32792" name="Line 85"/>
            <p:cNvSpPr>
              <a:spLocks noChangeShapeType="1"/>
            </p:cNvSpPr>
            <p:nvPr/>
          </p:nvSpPr>
          <p:spPr bwMode="auto">
            <a:xfrm>
              <a:off x="1440" y="1872"/>
              <a:ext cx="1728"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3" name="Line 86"/>
            <p:cNvSpPr>
              <a:spLocks noChangeShapeType="1"/>
            </p:cNvSpPr>
            <p:nvPr/>
          </p:nvSpPr>
          <p:spPr bwMode="auto">
            <a:xfrm>
              <a:off x="1440" y="2064"/>
              <a:ext cx="1728" cy="9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4" name="Line 87"/>
            <p:cNvSpPr>
              <a:spLocks noChangeShapeType="1"/>
            </p:cNvSpPr>
            <p:nvPr/>
          </p:nvSpPr>
          <p:spPr bwMode="auto">
            <a:xfrm flipV="1">
              <a:off x="1440" y="2352"/>
              <a:ext cx="1776" cy="1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42148" name="Group 100"/>
          <p:cNvGrpSpPr>
            <a:grpSpLocks/>
          </p:cNvGrpSpPr>
          <p:nvPr/>
        </p:nvGrpSpPr>
        <p:grpSpPr bwMode="auto">
          <a:xfrm>
            <a:off x="4648200" y="1730375"/>
            <a:ext cx="3373438" cy="1447800"/>
            <a:chOff x="2928" y="1186"/>
            <a:chExt cx="2125" cy="912"/>
          </a:xfrm>
        </p:grpSpPr>
        <p:sp>
          <p:nvSpPr>
            <p:cNvPr id="32787" name="Rectangle 75"/>
            <p:cNvSpPr>
              <a:spLocks noChangeArrowheads="1"/>
            </p:cNvSpPr>
            <p:nvPr/>
          </p:nvSpPr>
          <p:spPr bwMode="auto">
            <a:xfrm>
              <a:off x="4507" y="1376"/>
              <a:ext cx="546"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a:solidFill>
                    <a:srgbClr val="000000"/>
                  </a:solidFill>
                  <a:latin typeface="Helvetica" pitchFamily="34" charset="0"/>
                </a:rPr>
                <a:t>Role 1</a:t>
              </a:r>
            </a:p>
          </p:txBody>
        </p:sp>
        <p:sp>
          <p:nvSpPr>
            <p:cNvPr id="32788" name="Rectangle 76"/>
            <p:cNvSpPr>
              <a:spLocks noChangeArrowheads="1"/>
            </p:cNvSpPr>
            <p:nvPr/>
          </p:nvSpPr>
          <p:spPr bwMode="auto">
            <a:xfrm>
              <a:off x="4499" y="1672"/>
              <a:ext cx="546"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a:solidFill>
                    <a:srgbClr val="000000"/>
                  </a:solidFill>
                  <a:latin typeface="Helvetica" pitchFamily="34" charset="0"/>
                </a:rPr>
                <a:t>Role 2</a:t>
              </a:r>
            </a:p>
          </p:txBody>
        </p:sp>
        <p:grpSp>
          <p:nvGrpSpPr>
            <p:cNvPr id="32789" name="Group 98"/>
            <p:cNvGrpSpPr>
              <a:grpSpLocks/>
            </p:cNvGrpSpPr>
            <p:nvPr/>
          </p:nvGrpSpPr>
          <p:grpSpPr bwMode="auto">
            <a:xfrm>
              <a:off x="2928" y="1186"/>
              <a:ext cx="1584" cy="912"/>
              <a:chOff x="2928" y="1186"/>
              <a:chExt cx="1584" cy="912"/>
            </a:xfrm>
          </p:grpSpPr>
          <p:sp>
            <p:nvSpPr>
              <p:cNvPr id="32790" name="Line 92"/>
              <p:cNvSpPr>
                <a:spLocks noChangeShapeType="1"/>
              </p:cNvSpPr>
              <p:nvPr/>
            </p:nvSpPr>
            <p:spPr bwMode="auto">
              <a:xfrm>
                <a:off x="2928" y="1186"/>
                <a:ext cx="1584" cy="2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91" name="Line 93"/>
              <p:cNvSpPr>
                <a:spLocks noChangeShapeType="1"/>
              </p:cNvSpPr>
              <p:nvPr/>
            </p:nvSpPr>
            <p:spPr bwMode="auto">
              <a:xfrm flipV="1">
                <a:off x="3648" y="1762"/>
                <a:ext cx="864" cy="33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642150" name="Group 102"/>
          <p:cNvGrpSpPr>
            <a:grpSpLocks/>
          </p:cNvGrpSpPr>
          <p:nvPr/>
        </p:nvGrpSpPr>
        <p:grpSpPr bwMode="auto">
          <a:xfrm>
            <a:off x="4800600" y="4572000"/>
            <a:ext cx="3157538" cy="434975"/>
            <a:chOff x="3024" y="2976"/>
            <a:chExt cx="1989" cy="274"/>
          </a:xfrm>
        </p:grpSpPr>
        <p:sp>
          <p:nvSpPr>
            <p:cNvPr id="32785" name="Rectangle 77"/>
            <p:cNvSpPr>
              <a:spLocks noChangeArrowheads="1"/>
            </p:cNvSpPr>
            <p:nvPr/>
          </p:nvSpPr>
          <p:spPr bwMode="auto">
            <a:xfrm>
              <a:off x="4467" y="2976"/>
              <a:ext cx="546"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a:solidFill>
                    <a:srgbClr val="000000"/>
                  </a:solidFill>
                  <a:latin typeface="Helvetica" pitchFamily="34" charset="0"/>
                </a:rPr>
                <a:t>Role 3</a:t>
              </a:r>
            </a:p>
          </p:txBody>
        </p:sp>
        <p:sp>
          <p:nvSpPr>
            <p:cNvPr id="32786" name="Line 94"/>
            <p:cNvSpPr>
              <a:spLocks noChangeShapeType="1"/>
            </p:cNvSpPr>
            <p:nvPr/>
          </p:nvSpPr>
          <p:spPr bwMode="auto">
            <a:xfrm flipV="1">
              <a:off x="3024" y="3058"/>
              <a:ext cx="1488"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42144" name="Rectangle 96"/>
          <p:cNvSpPr>
            <a:spLocks noChangeArrowheads="1"/>
          </p:cNvSpPr>
          <p:nvPr/>
        </p:nvSpPr>
        <p:spPr bwMode="auto">
          <a:xfrm>
            <a:off x="1841500" y="5791200"/>
            <a:ext cx="233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0"/>
              <a:t>Bindings made During </a:t>
            </a:r>
          </a:p>
          <a:p>
            <a:r>
              <a:rPr lang="en-US" altLang="en-US" b="0"/>
              <a:t>Project-Initiation Phase</a:t>
            </a:r>
            <a:endParaRPr lang="de-DE" altLang="en-US" b="0"/>
          </a:p>
        </p:txBody>
      </p:sp>
      <p:sp>
        <p:nvSpPr>
          <p:cNvPr id="642145" name="Rectangle 97"/>
          <p:cNvSpPr>
            <a:spLocks noChangeArrowheads="1"/>
          </p:cNvSpPr>
          <p:nvPr/>
        </p:nvSpPr>
        <p:spPr bwMode="auto">
          <a:xfrm>
            <a:off x="4840288" y="5599113"/>
            <a:ext cx="294640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0"/>
              <a:t>Bindings made during </a:t>
            </a:r>
          </a:p>
          <a:p>
            <a:pPr algn="ctr"/>
            <a:r>
              <a:rPr lang="en-US" altLang="en-US" b="0"/>
              <a:t>Hiring, Initial Planning phase </a:t>
            </a:r>
          </a:p>
          <a:p>
            <a:pPr algn="ctr"/>
            <a:r>
              <a:rPr lang="en-US" altLang="en-US" b="0"/>
              <a:t>(First team meeting, etc …)</a:t>
            </a:r>
            <a:endParaRPr lang="de-DE" altLang="en-US" b="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421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4208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4209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4210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64213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4213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64213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64211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642149"/>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499"/>
                                          </p:stCondLst>
                                        </p:cTn>
                                        <p:tgtEl>
                                          <p:spTgt spid="64214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642150"/>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642144">
                                            <p:txEl>
                                              <p:pRg st="0" end="0"/>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642144">
                                            <p:txEl>
                                              <p:pRg st="1" end="1"/>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642145">
                                            <p:txEl>
                                              <p:pRg st="0" end="0"/>
                                            </p:txEl>
                                          </p:spTgt>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642145">
                                            <p:txEl>
                                              <p:pRg st="1" end="1"/>
                                            </p:txEl>
                                          </p:spTgt>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64214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144" grpId="0" build="p" autoUpdateAnimBg="0"/>
      <p:bldP spid="642145"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smtClean="0"/>
              <a:t>Towards A Project Role Taxonomy</a:t>
            </a:r>
          </a:p>
        </p:txBody>
      </p:sp>
      <p:sp>
        <p:nvSpPr>
          <p:cNvPr id="34819" name="Rectangle 3"/>
          <p:cNvSpPr>
            <a:spLocks noGrp="1" noChangeArrowheads="1"/>
          </p:cNvSpPr>
          <p:nvPr>
            <p:ph idx="1"/>
          </p:nvPr>
        </p:nvSpPr>
        <p:spPr>
          <a:xfrm>
            <a:off x="381000" y="914400"/>
            <a:ext cx="8255000" cy="4921250"/>
          </a:xfrm>
        </p:spPr>
        <p:txBody>
          <a:bodyPr/>
          <a:lstStyle/>
          <a:p>
            <a:r>
              <a:rPr lang="en-US" altLang="en-US" sz="2000" smtClean="0"/>
              <a:t>Management roles </a:t>
            </a:r>
          </a:p>
          <a:p>
            <a:pPr lvl="1"/>
            <a:r>
              <a:rPr lang="en-US" altLang="en-US" sz="1800" smtClean="0"/>
              <a:t>Organization and execution of the project within constraints.  Examples:  project manager, team leader.</a:t>
            </a:r>
          </a:p>
          <a:p>
            <a:r>
              <a:rPr lang="en-US" altLang="en-US" sz="2000" smtClean="0"/>
              <a:t>Development roles</a:t>
            </a:r>
          </a:p>
          <a:p>
            <a:pPr lvl="1"/>
            <a:r>
              <a:rPr lang="en-US" altLang="en-US" sz="1800" smtClean="0"/>
              <a:t>Specification, design and construction of subsystems. Examples:  Analyst, software architect, prgrammer.</a:t>
            </a:r>
          </a:p>
          <a:p>
            <a:r>
              <a:rPr lang="en-US" altLang="en-US" sz="2000" smtClean="0"/>
              <a:t>Cross functional roles</a:t>
            </a:r>
          </a:p>
          <a:p>
            <a:pPr lvl="1"/>
            <a:r>
              <a:rPr lang="en-US" altLang="en-US" sz="1800" smtClean="0"/>
              <a:t>Execute project functions.  Example: API Liasion, configuration manager</a:t>
            </a:r>
          </a:p>
          <a:p>
            <a:r>
              <a:rPr lang="en-US" altLang="en-US" sz="2000" smtClean="0"/>
              <a:t>Consultant roles</a:t>
            </a:r>
          </a:p>
          <a:p>
            <a:pPr lvl="1"/>
            <a:r>
              <a:rPr lang="en-US" altLang="en-US" sz="1800" smtClean="0"/>
              <a:t>Supports in areas where the project participants lack expertise. Examples:  End user, client, application domain specialist ( problem domain), technical consultant (solution domain).</a:t>
            </a:r>
          </a:p>
          <a:p>
            <a:r>
              <a:rPr lang="en-US" altLang="en-US" sz="2000" smtClean="0"/>
              <a:t>Promoter roles </a:t>
            </a:r>
          </a:p>
          <a:p>
            <a:pPr lvl="1"/>
            <a:r>
              <a:rPr lang="en-US" altLang="en-US" sz="1800" smtClean="0"/>
              <a:t>Deals with change in the organization, application/solution domain or process.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smtClean="0"/>
              <a:t>Hierarchical  Project Structure</a:t>
            </a:r>
          </a:p>
        </p:txBody>
      </p:sp>
      <p:sp>
        <p:nvSpPr>
          <p:cNvPr id="673795" name="Rectangle 3"/>
          <p:cNvSpPr>
            <a:spLocks noGrp="1" noChangeArrowheads="1"/>
          </p:cNvSpPr>
          <p:nvPr>
            <p:ph idx="1"/>
          </p:nvPr>
        </p:nvSpPr>
        <p:spPr>
          <a:xfrm>
            <a:off x="304800" y="1066800"/>
            <a:ext cx="8255000" cy="4800600"/>
          </a:xfrm>
        </p:spPr>
        <p:txBody>
          <a:bodyPr/>
          <a:lstStyle/>
          <a:p>
            <a:r>
              <a:rPr lang="en-US" altLang="en-US" sz="2000" smtClean="0"/>
              <a:t>Often also called </a:t>
            </a:r>
            <a:r>
              <a:rPr lang="en-US" altLang="en-US" sz="2000" b="1" i="1" smtClean="0"/>
              <a:t>centralized organization</a:t>
            </a:r>
            <a:r>
              <a:rPr lang="en-US" altLang="en-US" sz="2000" smtClean="0"/>
              <a:t>. Examples: Military, Church, Traditional businesses. </a:t>
            </a:r>
          </a:p>
          <a:p>
            <a:r>
              <a:rPr lang="en-US" altLang="en-US" sz="2000" b="1" smtClean="0"/>
              <a:t>Key property:</a:t>
            </a:r>
            <a:r>
              <a:rPr lang="en-US" altLang="en-US" sz="2000" smtClean="0"/>
              <a:t> The organization has a tree structure. Decisions are made at the root and communicated to the leaf nodes. The decision association is also used for reporting and communication. </a:t>
            </a:r>
          </a:p>
          <a:p>
            <a:r>
              <a:rPr lang="en-US" altLang="en-US" sz="2000" smtClean="0"/>
              <a:t>Advantages: </a:t>
            </a:r>
          </a:p>
          <a:p>
            <a:pPr lvl="1"/>
            <a:r>
              <a:rPr lang="en-US" altLang="en-US" sz="1800" smtClean="0"/>
              <a:t>Centralized control over project selection</a:t>
            </a:r>
          </a:p>
          <a:p>
            <a:pPr lvl="1"/>
            <a:r>
              <a:rPr lang="en-US" altLang="en-US" sz="1800" smtClean="0"/>
              <a:t>One set of management and reporting procedures for all project participants across all projects</a:t>
            </a:r>
          </a:p>
          <a:p>
            <a:pPr lvl="1"/>
            <a:r>
              <a:rPr lang="en-US" altLang="en-US" sz="1800" smtClean="0"/>
              <a:t>Established working relationships among people</a:t>
            </a:r>
          </a:p>
          <a:p>
            <a:pPr lvl="1"/>
            <a:r>
              <a:rPr lang="en-US" altLang="en-US" sz="1800" smtClean="0"/>
              <a:t>Clearly established lines of authority to set priorities and resolved conflicts</a:t>
            </a:r>
          </a:p>
          <a:p>
            <a:pPr lvl="1"/>
            <a:r>
              <a:rPr lang="en-US" altLang="en-US" sz="1800" smtClean="0"/>
              <a:t>Authority to pressure people to honor their action items</a:t>
            </a:r>
          </a:p>
          <a:p>
            <a:pPr lvl="1"/>
            <a:r>
              <a:rPr lang="en-US" altLang="en-US" sz="1800" smtClean="0"/>
              <a:t>Clearly defined career path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7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737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7379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67379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67379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67379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67379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67379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67379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5"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p:spPr>
        <p:txBody>
          <a:bodyPr/>
          <a:lstStyle/>
          <a:p>
            <a:r>
              <a:rPr lang="en-US" altLang="en-US" smtClean="0"/>
              <a:t>Hierarchical Project Structure</a:t>
            </a:r>
          </a:p>
        </p:txBody>
      </p:sp>
      <p:grpSp>
        <p:nvGrpSpPr>
          <p:cNvPr id="36867" name="Group 3"/>
          <p:cNvGrpSpPr>
            <a:grpSpLocks/>
          </p:cNvGrpSpPr>
          <p:nvPr/>
        </p:nvGrpSpPr>
        <p:grpSpPr bwMode="auto">
          <a:xfrm>
            <a:off x="539750" y="1111250"/>
            <a:ext cx="5245100" cy="2654300"/>
            <a:chOff x="916" y="916"/>
            <a:chExt cx="3304" cy="1672"/>
          </a:xfrm>
        </p:grpSpPr>
        <p:sp>
          <p:nvSpPr>
            <p:cNvPr id="36895" name="Oval 4"/>
            <p:cNvSpPr>
              <a:spLocks noChangeArrowheads="1"/>
            </p:cNvSpPr>
            <p:nvPr/>
          </p:nvSpPr>
          <p:spPr bwMode="auto">
            <a:xfrm>
              <a:off x="2365" y="916"/>
              <a:ext cx="489" cy="412"/>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896" name="Oval 5"/>
            <p:cNvSpPr>
              <a:spLocks noChangeArrowheads="1"/>
            </p:cNvSpPr>
            <p:nvPr/>
          </p:nvSpPr>
          <p:spPr bwMode="auto">
            <a:xfrm>
              <a:off x="2365" y="1527"/>
              <a:ext cx="489" cy="412"/>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897" name="Line 6"/>
            <p:cNvSpPr>
              <a:spLocks noChangeShapeType="1"/>
            </p:cNvSpPr>
            <p:nvPr/>
          </p:nvSpPr>
          <p:spPr bwMode="auto">
            <a:xfrm>
              <a:off x="2609" y="1336"/>
              <a:ext cx="0" cy="22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98" name="Line 7"/>
            <p:cNvSpPr>
              <a:spLocks noChangeShapeType="1"/>
            </p:cNvSpPr>
            <p:nvPr/>
          </p:nvSpPr>
          <p:spPr bwMode="auto">
            <a:xfrm>
              <a:off x="2862" y="1183"/>
              <a:ext cx="737" cy="3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99" name="Oval 8"/>
            <p:cNvSpPr>
              <a:spLocks noChangeArrowheads="1"/>
            </p:cNvSpPr>
            <p:nvPr/>
          </p:nvSpPr>
          <p:spPr bwMode="auto">
            <a:xfrm>
              <a:off x="2158" y="2367"/>
              <a:ext cx="240" cy="221"/>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900" name="Oval 9"/>
            <p:cNvSpPr>
              <a:spLocks noChangeArrowheads="1"/>
            </p:cNvSpPr>
            <p:nvPr/>
          </p:nvSpPr>
          <p:spPr bwMode="auto">
            <a:xfrm>
              <a:off x="2489" y="2367"/>
              <a:ext cx="241" cy="221"/>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901" name="Oval 10"/>
            <p:cNvSpPr>
              <a:spLocks noChangeArrowheads="1"/>
            </p:cNvSpPr>
            <p:nvPr/>
          </p:nvSpPr>
          <p:spPr bwMode="auto">
            <a:xfrm>
              <a:off x="2820" y="2367"/>
              <a:ext cx="241" cy="221"/>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902" name="Line 11"/>
            <p:cNvSpPr>
              <a:spLocks noChangeShapeType="1"/>
            </p:cNvSpPr>
            <p:nvPr/>
          </p:nvSpPr>
          <p:spPr bwMode="auto">
            <a:xfrm flipH="1">
              <a:off x="2320" y="1947"/>
              <a:ext cx="207" cy="4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03" name="Line 12"/>
            <p:cNvSpPr>
              <a:spLocks noChangeShapeType="1"/>
            </p:cNvSpPr>
            <p:nvPr/>
          </p:nvSpPr>
          <p:spPr bwMode="auto">
            <a:xfrm>
              <a:off x="2609" y="1947"/>
              <a:ext cx="0" cy="4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04" name="Line 13"/>
            <p:cNvSpPr>
              <a:spLocks noChangeShapeType="1"/>
            </p:cNvSpPr>
            <p:nvPr/>
          </p:nvSpPr>
          <p:spPr bwMode="auto">
            <a:xfrm>
              <a:off x="2696" y="1947"/>
              <a:ext cx="199" cy="4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05" name="Oval 14"/>
            <p:cNvSpPr>
              <a:spLocks noChangeArrowheads="1"/>
            </p:cNvSpPr>
            <p:nvPr/>
          </p:nvSpPr>
          <p:spPr bwMode="auto">
            <a:xfrm>
              <a:off x="3524" y="1527"/>
              <a:ext cx="489" cy="412"/>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906" name="Oval 15"/>
            <p:cNvSpPr>
              <a:spLocks noChangeArrowheads="1"/>
            </p:cNvSpPr>
            <p:nvPr/>
          </p:nvSpPr>
          <p:spPr bwMode="auto">
            <a:xfrm>
              <a:off x="3317" y="2367"/>
              <a:ext cx="241" cy="221"/>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907" name="Oval 16"/>
            <p:cNvSpPr>
              <a:spLocks noChangeArrowheads="1"/>
            </p:cNvSpPr>
            <p:nvPr/>
          </p:nvSpPr>
          <p:spPr bwMode="auto">
            <a:xfrm>
              <a:off x="3648" y="2367"/>
              <a:ext cx="241" cy="221"/>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908" name="Oval 17"/>
            <p:cNvSpPr>
              <a:spLocks noChangeArrowheads="1"/>
            </p:cNvSpPr>
            <p:nvPr/>
          </p:nvSpPr>
          <p:spPr bwMode="auto">
            <a:xfrm>
              <a:off x="3980" y="2367"/>
              <a:ext cx="240" cy="221"/>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909" name="Line 18"/>
            <p:cNvSpPr>
              <a:spLocks noChangeShapeType="1"/>
            </p:cNvSpPr>
            <p:nvPr/>
          </p:nvSpPr>
          <p:spPr bwMode="auto">
            <a:xfrm flipH="1">
              <a:off x="3479" y="1947"/>
              <a:ext cx="207" cy="4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10" name="Line 19"/>
            <p:cNvSpPr>
              <a:spLocks noChangeShapeType="1"/>
            </p:cNvSpPr>
            <p:nvPr/>
          </p:nvSpPr>
          <p:spPr bwMode="auto">
            <a:xfrm>
              <a:off x="3769" y="1947"/>
              <a:ext cx="0" cy="4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11" name="Line 20"/>
            <p:cNvSpPr>
              <a:spLocks noChangeShapeType="1"/>
            </p:cNvSpPr>
            <p:nvPr/>
          </p:nvSpPr>
          <p:spPr bwMode="auto">
            <a:xfrm>
              <a:off x="3855" y="1947"/>
              <a:ext cx="199" cy="4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12" name="Oval 21"/>
            <p:cNvSpPr>
              <a:spLocks noChangeArrowheads="1"/>
            </p:cNvSpPr>
            <p:nvPr/>
          </p:nvSpPr>
          <p:spPr bwMode="auto">
            <a:xfrm>
              <a:off x="1123" y="1527"/>
              <a:ext cx="489" cy="412"/>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913" name="Oval 22"/>
            <p:cNvSpPr>
              <a:spLocks noChangeArrowheads="1"/>
            </p:cNvSpPr>
            <p:nvPr/>
          </p:nvSpPr>
          <p:spPr bwMode="auto">
            <a:xfrm>
              <a:off x="916" y="2367"/>
              <a:ext cx="240" cy="221"/>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914" name="Oval 23"/>
            <p:cNvSpPr>
              <a:spLocks noChangeArrowheads="1"/>
            </p:cNvSpPr>
            <p:nvPr/>
          </p:nvSpPr>
          <p:spPr bwMode="auto">
            <a:xfrm>
              <a:off x="1247" y="2367"/>
              <a:ext cx="241" cy="221"/>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915" name="Oval 24"/>
            <p:cNvSpPr>
              <a:spLocks noChangeArrowheads="1"/>
            </p:cNvSpPr>
            <p:nvPr/>
          </p:nvSpPr>
          <p:spPr bwMode="auto">
            <a:xfrm>
              <a:off x="1578" y="2367"/>
              <a:ext cx="241" cy="221"/>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6916" name="Line 25"/>
            <p:cNvSpPr>
              <a:spLocks noChangeShapeType="1"/>
            </p:cNvSpPr>
            <p:nvPr/>
          </p:nvSpPr>
          <p:spPr bwMode="auto">
            <a:xfrm flipH="1">
              <a:off x="1078" y="1947"/>
              <a:ext cx="207" cy="4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17" name="Line 26"/>
            <p:cNvSpPr>
              <a:spLocks noChangeShapeType="1"/>
            </p:cNvSpPr>
            <p:nvPr/>
          </p:nvSpPr>
          <p:spPr bwMode="auto">
            <a:xfrm>
              <a:off x="1367" y="1947"/>
              <a:ext cx="0" cy="4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18" name="Line 27"/>
            <p:cNvSpPr>
              <a:spLocks noChangeShapeType="1"/>
            </p:cNvSpPr>
            <p:nvPr/>
          </p:nvSpPr>
          <p:spPr bwMode="auto">
            <a:xfrm>
              <a:off x="1454" y="1947"/>
              <a:ext cx="199" cy="4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919" name="Line 28"/>
            <p:cNvSpPr>
              <a:spLocks noChangeShapeType="1"/>
            </p:cNvSpPr>
            <p:nvPr/>
          </p:nvSpPr>
          <p:spPr bwMode="auto">
            <a:xfrm flipV="1">
              <a:off x="1537" y="1179"/>
              <a:ext cx="820" cy="38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6868" name="Rectangle 29"/>
          <p:cNvSpPr>
            <a:spLocks noChangeArrowheads="1"/>
          </p:cNvSpPr>
          <p:nvPr/>
        </p:nvSpPr>
        <p:spPr bwMode="auto">
          <a:xfrm>
            <a:off x="6019800" y="1257300"/>
            <a:ext cx="2149475"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sz="2400" b="0"/>
              <a:t>Chief Executive</a:t>
            </a:r>
          </a:p>
        </p:txBody>
      </p:sp>
      <p:sp>
        <p:nvSpPr>
          <p:cNvPr id="36869" name="Rectangle 30"/>
          <p:cNvSpPr>
            <a:spLocks noChangeArrowheads="1"/>
          </p:cNvSpPr>
          <p:nvPr/>
        </p:nvSpPr>
        <p:spPr bwMode="auto">
          <a:xfrm>
            <a:off x="5715000" y="2095500"/>
            <a:ext cx="3132138" cy="819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sz="2400" b="0"/>
              <a:t>First Level Manager</a:t>
            </a:r>
          </a:p>
          <a:p>
            <a:r>
              <a:rPr lang="en-US" altLang="en-US" sz="2400" b="0"/>
              <a:t>(“Front-Line Manager”)</a:t>
            </a:r>
          </a:p>
        </p:txBody>
      </p:sp>
      <p:sp>
        <p:nvSpPr>
          <p:cNvPr id="36870" name="Rectangle 31"/>
          <p:cNvSpPr>
            <a:spLocks noChangeArrowheads="1"/>
          </p:cNvSpPr>
          <p:nvPr/>
        </p:nvSpPr>
        <p:spPr bwMode="auto">
          <a:xfrm>
            <a:off x="5943600" y="3238500"/>
            <a:ext cx="2270125"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sz="2400" b="0"/>
              <a:t>Project Members</a:t>
            </a:r>
          </a:p>
        </p:txBody>
      </p:sp>
      <p:sp>
        <p:nvSpPr>
          <p:cNvPr id="36871" name="Rectangle 32"/>
          <p:cNvSpPr>
            <a:spLocks noChangeArrowheads="1"/>
          </p:cNvSpPr>
          <p:nvPr/>
        </p:nvSpPr>
        <p:spPr bwMode="auto">
          <a:xfrm>
            <a:off x="1066800" y="4838700"/>
            <a:ext cx="7010400" cy="1196975"/>
          </a:xfrm>
          <a:prstGeom prst="rect">
            <a:avLst/>
          </a:prstGeom>
          <a:gradFill rotWithShape="0">
            <a:gsLst>
              <a:gs pos="0">
                <a:srgbClr val="26474C"/>
              </a:gs>
              <a:gs pos="100000">
                <a:srgbClr val="97A7A9"/>
              </a:gs>
            </a:gsLst>
            <a:lin ang="2700000" scaled="1"/>
          </a:gradFill>
          <a:ln w="12700">
            <a:solidFill>
              <a:schemeClr val="tx1"/>
            </a:solidFill>
            <a:miter lim="800000"/>
            <a:headEnd/>
            <a:tailEnd/>
          </a:ln>
          <a:effectLst>
            <a:outerShdw dist="107763" dir="2700000" algn="ctr" rotWithShape="0">
              <a:schemeClr val="bg2"/>
            </a:outerShdw>
          </a:effectLst>
        </p:spPr>
        <p:txBody>
          <a:bodyPr lIns="90487" tIns="44450" rIns="90487" bIns="44450">
            <a:spAutoFit/>
          </a:bodyPr>
          <a:lstStyle/>
          <a:p>
            <a:pPr algn="ctr"/>
            <a:r>
              <a:rPr lang="en-US" altLang="en-US" sz="2400" b="0">
                <a:solidFill>
                  <a:schemeClr val="bg1"/>
                </a:solidFill>
              </a:rPr>
              <a:t>Basis of the structure:</a:t>
            </a:r>
          </a:p>
          <a:p>
            <a:pPr algn="ctr"/>
            <a:r>
              <a:rPr lang="en-US" altLang="en-US" sz="2400" b="0">
                <a:solidFill>
                  <a:schemeClr val="bg1"/>
                </a:solidFill>
              </a:rPr>
              <a:t>Complicated information and control flow </a:t>
            </a:r>
          </a:p>
          <a:p>
            <a:pPr algn="ctr"/>
            <a:r>
              <a:rPr lang="en-US" altLang="en-US" sz="2400" b="0">
                <a:solidFill>
                  <a:schemeClr val="bg1"/>
                </a:solidFill>
              </a:rPr>
              <a:t>across hierarchical boundaries</a:t>
            </a:r>
          </a:p>
        </p:txBody>
      </p:sp>
      <p:sp>
        <p:nvSpPr>
          <p:cNvPr id="663585" name="Line 33"/>
          <p:cNvSpPr>
            <a:spLocks noChangeShapeType="1"/>
          </p:cNvSpPr>
          <p:nvPr/>
        </p:nvSpPr>
        <p:spPr bwMode="auto">
          <a:xfrm flipV="1">
            <a:off x="762000" y="2400300"/>
            <a:ext cx="533400" cy="11430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3586" name="Line 34"/>
          <p:cNvSpPr>
            <a:spLocks noChangeShapeType="1"/>
          </p:cNvSpPr>
          <p:nvPr/>
        </p:nvSpPr>
        <p:spPr bwMode="auto">
          <a:xfrm flipV="1">
            <a:off x="1295400" y="1485900"/>
            <a:ext cx="1981200" cy="9144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3587" name="Line 35"/>
          <p:cNvSpPr>
            <a:spLocks noChangeShapeType="1"/>
          </p:cNvSpPr>
          <p:nvPr/>
        </p:nvSpPr>
        <p:spPr bwMode="auto">
          <a:xfrm>
            <a:off x="3276600" y="1485900"/>
            <a:ext cx="1752600" cy="9906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3588" name="Line 36"/>
          <p:cNvSpPr>
            <a:spLocks noChangeShapeType="1"/>
          </p:cNvSpPr>
          <p:nvPr/>
        </p:nvSpPr>
        <p:spPr bwMode="auto">
          <a:xfrm>
            <a:off x="5029200" y="2476500"/>
            <a:ext cx="533400" cy="11430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76" name="Text Box 37"/>
          <p:cNvSpPr txBox="1">
            <a:spLocks noChangeArrowheads="1"/>
          </p:cNvSpPr>
          <p:nvPr/>
        </p:nvSpPr>
        <p:spPr bwMode="auto">
          <a:xfrm>
            <a:off x="1127125" y="4206875"/>
            <a:ext cx="1841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endParaRPr lang="de-DE" altLang="en-US">
              <a:latin typeface="Palatino" pitchFamily="18" charset="0"/>
            </a:endParaRPr>
          </a:p>
        </p:txBody>
      </p:sp>
      <p:sp>
        <p:nvSpPr>
          <p:cNvPr id="36877" name="Text Box 38"/>
          <p:cNvSpPr txBox="1">
            <a:spLocks noChangeArrowheads="1"/>
          </p:cNvSpPr>
          <p:nvPr/>
        </p:nvSpPr>
        <p:spPr bwMode="auto">
          <a:xfrm>
            <a:off x="1127125" y="3978275"/>
            <a:ext cx="1841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endParaRPr lang="de-DE" altLang="en-US">
              <a:latin typeface="Palatino" pitchFamily="18" charset="0"/>
            </a:endParaRPr>
          </a:p>
        </p:txBody>
      </p:sp>
      <p:grpSp>
        <p:nvGrpSpPr>
          <p:cNvPr id="663591" name="Group 39"/>
          <p:cNvGrpSpPr>
            <a:grpSpLocks/>
          </p:cNvGrpSpPr>
          <p:nvPr/>
        </p:nvGrpSpPr>
        <p:grpSpPr bwMode="auto">
          <a:xfrm>
            <a:off x="533400" y="3419475"/>
            <a:ext cx="5816600" cy="1038225"/>
            <a:chOff x="336" y="2361"/>
            <a:chExt cx="3664" cy="654"/>
          </a:xfrm>
        </p:grpSpPr>
        <p:sp>
          <p:nvSpPr>
            <p:cNvPr id="36892" name="Text Box 40"/>
            <p:cNvSpPr txBox="1">
              <a:spLocks noChangeArrowheads="1"/>
            </p:cNvSpPr>
            <p:nvPr/>
          </p:nvSpPr>
          <p:spPr bwMode="auto">
            <a:xfrm>
              <a:off x="336" y="2361"/>
              <a:ext cx="228"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en-US" altLang="en-US">
                  <a:solidFill>
                    <a:srgbClr val="FF3300"/>
                  </a:solidFill>
                  <a:latin typeface="Palatino" pitchFamily="18" charset="0"/>
                </a:rPr>
                <a:t>A</a:t>
              </a:r>
            </a:p>
          </p:txBody>
        </p:sp>
        <p:sp>
          <p:nvSpPr>
            <p:cNvPr id="36893" name="Text Box 41"/>
            <p:cNvSpPr txBox="1">
              <a:spLocks noChangeArrowheads="1"/>
            </p:cNvSpPr>
            <p:nvPr/>
          </p:nvSpPr>
          <p:spPr bwMode="auto">
            <a:xfrm>
              <a:off x="3408" y="2386"/>
              <a:ext cx="212"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en-US" altLang="en-US">
                  <a:solidFill>
                    <a:srgbClr val="FF3300"/>
                  </a:solidFill>
                  <a:latin typeface="Palatino" pitchFamily="18" charset="0"/>
                </a:rPr>
                <a:t>B</a:t>
              </a:r>
            </a:p>
          </p:txBody>
        </p:sp>
        <p:sp>
          <p:nvSpPr>
            <p:cNvPr id="36894" name="Text Box 42"/>
            <p:cNvSpPr txBox="1">
              <a:spLocks noChangeArrowheads="1"/>
            </p:cNvSpPr>
            <p:nvPr/>
          </p:nvSpPr>
          <p:spPr bwMode="auto">
            <a:xfrm>
              <a:off x="480" y="2784"/>
              <a:ext cx="3520"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en-US" altLang="en-US">
                  <a:solidFill>
                    <a:srgbClr val="FF3300"/>
                  </a:solidFill>
                  <a:latin typeface="Palatino" pitchFamily="18" charset="0"/>
                </a:rPr>
                <a:t>A wants to talk to B: Complicated Information Flow</a:t>
              </a:r>
            </a:p>
          </p:txBody>
        </p:sp>
      </p:grpSp>
      <p:grpSp>
        <p:nvGrpSpPr>
          <p:cNvPr id="663616" name="Group 64"/>
          <p:cNvGrpSpPr>
            <a:grpSpLocks/>
          </p:cNvGrpSpPr>
          <p:nvPr/>
        </p:nvGrpSpPr>
        <p:grpSpPr bwMode="auto">
          <a:xfrm>
            <a:off x="836613" y="1408113"/>
            <a:ext cx="2133600" cy="2133600"/>
            <a:chOff x="527" y="1103"/>
            <a:chExt cx="1344" cy="1344"/>
          </a:xfrm>
        </p:grpSpPr>
        <p:sp>
          <p:nvSpPr>
            <p:cNvPr id="36890" name="Line 48"/>
            <p:cNvSpPr>
              <a:spLocks noChangeShapeType="1"/>
            </p:cNvSpPr>
            <p:nvPr/>
          </p:nvSpPr>
          <p:spPr bwMode="auto">
            <a:xfrm rot="-5400000">
              <a:off x="288" y="1871"/>
              <a:ext cx="815" cy="337"/>
            </a:xfrm>
            <a:prstGeom prst="line">
              <a:avLst/>
            </a:prstGeom>
            <a:noFill/>
            <a:ln w="28575">
              <a:solidFill>
                <a:srgbClr val="0000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891" name="Line 49"/>
            <p:cNvSpPr>
              <a:spLocks noChangeShapeType="1"/>
            </p:cNvSpPr>
            <p:nvPr/>
          </p:nvSpPr>
          <p:spPr bwMode="auto">
            <a:xfrm rot="-5400000">
              <a:off x="1103" y="864"/>
              <a:ext cx="529" cy="1007"/>
            </a:xfrm>
            <a:prstGeom prst="line">
              <a:avLst/>
            </a:prstGeom>
            <a:noFill/>
            <a:ln w="28575">
              <a:solidFill>
                <a:srgbClr val="0000FF"/>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63602" name="Group 50"/>
          <p:cNvGrpSpPr>
            <a:grpSpLocks/>
          </p:cNvGrpSpPr>
          <p:nvPr/>
        </p:nvGrpSpPr>
        <p:grpSpPr bwMode="auto">
          <a:xfrm>
            <a:off x="669925" y="876300"/>
            <a:ext cx="5172075" cy="1066800"/>
            <a:chOff x="422" y="816"/>
            <a:chExt cx="3258" cy="672"/>
          </a:xfrm>
        </p:grpSpPr>
        <p:grpSp>
          <p:nvGrpSpPr>
            <p:cNvPr id="36884" name="Group 51"/>
            <p:cNvGrpSpPr>
              <a:grpSpLocks/>
            </p:cNvGrpSpPr>
            <p:nvPr/>
          </p:nvGrpSpPr>
          <p:grpSpPr bwMode="auto">
            <a:xfrm>
              <a:off x="422" y="1042"/>
              <a:ext cx="984" cy="446"/>
              <a:chOff x="422" y="1042"/>
              <a:chExt cx="984" cy="446"/>
            </a:xfrm>
          </p:grpSpPr>
          <p:sp>
            <p:nvSpPr>
              <p:cNvPr id="36888" name="Text Box 52"/>
              <p:cNvSpPr txBox="1">
                <a:spLocks noChangeArrowheads="1"/>
              </p:cNvSpPr>
              <p:nvPr/>
            </p:nvSpPr>
            <p:spPr bwMode="auto">
              <a:xfrm>
                <a:off x="422" y="1042"/>
                <a:ext cx="984"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en-US" altLang="en-US">
                    <a:latin typeface="Palatino" pitchFamily="18" charset="0"/>
                  </a:rPr>
                  <a:t>Control Flow</a:t>
                </a:r>
              </a:p>
            </p:txBody>
          </p:sp>
          <p:sp>
            <p:nvSpPr>
              <p:cNvPr id="36889" name="Line 53"/>
              <p:cNvSpPr>
                <a:spLocks noChangeShapeType="1"/>
              </p:cNvSpPr>
              <p:nvPr/>
            </p:nvSpPr>
            <p:spPr bwMode="auto">
              <a:xfrm>
                <a:off x="912" y="1296"/>
                <a:ext cx="336" cy="192"/>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6885" name="Group 54"/>
            <p:cNvGrpSpPr>
              <a:grpSpLocks/>
            </p:cNvGrpSpPr>
            <p:nvPr/>
          </p:nvGrpSpPr>
          <p:grpSpPr bwMode="auto">
            <a:xfrm>
              <a:off x="2400" y="816"/>
              <a:ext cx="1280" cy="576"/>
              <a:chOff x="2400" y="816"/>
              <a:chExt cx="1280" cy="576"/>
            </a:xfrm>
          </p:grpSpPr>
          <p:sp>
            <p:nvSpPr>
              <p:cNvPr id="36886" name="Text Box 55"/>
              <p:cNvSpPr txBox="1">
                <a:spLocks noChangeArrowheads="1"/>
              </p:cNvSpPr>
              <p:nvPr/>
            </p:nvSpPr>
            <p:spPr bwMode="auto">
              <a:xfrm>
                <a:off x="2400" y="816"/>
                <a:ext cx="1280"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en-US" altLang="en-US">
                    <a:latin typeface="Palatino" pitchFamily="18" charset="0"/>
                  </a:rPr>
                  <a:t>Information Flow</a:t>
                </a:r>
              </a:p>
            </p:txBody>
          </p:sp>
          <p:sp>
            <p:nvSpPr>
              <p:cNvPr id="36887" name="Line 56"/>
              <p:cNvSpPr>
                <a:spLocks noChangeShapeType="1"/>
              </p:cNvSpPr>
              <p:nvPr/>
            </p:nvSpPr>
            <p:spPr bwMode="auto">
              <a:xfrm flipH="1">
                <a:off x="2736" y="1008"/>
                <a:ext cx="240" cy="38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663609" name="Line 57"/>
          <p:cNvSpPr>
            <a:spLocks noChangeShapeType="1"/>
          </p:cNvSpPr>
          <p:nvPr/>
        </p:nvSpPr>
        <p:spPr bwMode="auto">
          <a:xfrm flipH="1" flipV="1">
            <a:off x="5029200" y="2324100"/>
            <a:ext cx="685800" cy="12192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3610" name="Line 58"/>
          <p:cNvSpPr>
            <a:spLocks noChangeShapeType="1"/>
          </p:cNvSpPr>
          <p:nvPr/>
        </p:nvSpPr>
        <p:spPr bwMode="auto">
          <a:xfrm flipH="1" flipV="1">
            <a:off x="3276600" y="1409700"/>
            <a:ext cx="1676400" cy="9144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3614" name="Text Box 62"/>
          <p:cNvSpPr txBox="1">
            <a:spLocks noChangeArrowheads="1"/>
          </p:cNvSpPr>
          <p:nvPr/>
        </p:nvSpPr>
        <p:spPr bwMode="auto">
          <a:xfrm>
            <a:off x="762000" y="4381500"/>
            <a:ext cx="73215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en-US" altLang="en-US">
                <a:solidFill>
                  <a:srgbClr val="0000FF"/>
                </a:solidFill>
                <a:latin typeface="Palatino" pitchFamily="18" charset="0"/>
              </a:rPr>
              <a:t>B wants to make sure A does a certain change: Complicated Control flow</a:t>
            </a:r>
            <a:endParaRPr lang="en-US" altLang="en-US">
              <a:solidFill>
                <a:srgbClr val="FF3300"/>
              </a:solidFill>
              <a:latin typeface="Palatino"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635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63585"/>
                                        </p:tgtEl>
                                        <p:attrNameLst>
                                          <p:attrName>style.visibility</p:attrName>
                                        </p:attrNameLst>
                                      </p:cBhvr>
                                      <p:to>
                                        <p:strVal val="visible"/>
                                      </p:to>
                                    </p:set>
                                    <p:animEffect transition="in" filter="wipe(left)">
                                      <p:cBhvr>
                                        <p:cTn id="11" dur="500"/>
                                        <p:tgtEl>
                                          <p:spTgt spid="663585"/>
                                        </p:tgtEl>
                                      </p:cBhvr>
                                    </p:animEffect>
                                  </p:childTnLst>
                                </p:cTn>
                              </p:par>
                            </p:childTnLst>
                          </p:cTn>
                        </p:par>
                        <p:par>
                          <p:cTn id="12" fill="hold" nodeType="afterGroup">
                            <p:stCondLst>
                              <p:cond delay="500"/>
                            </p:stCondLst>
                            <p:childTnLst>
                              <p:par>
                                <p:cTn id="13" presetID="22" presetClass="entr" presetSubtype="8" fill="hold" grpId="0" nodeType="afterEffect">
                                  <p:stCondLst>
                                    <p:cond delay="3000"/>
                                  </p:stCondLst>
                                  <p:childTnLst>
                                    <p:set>
                                      <p:cBhvr>
                                        <p:cTn id="14" dur="1" fill="hold">
                                          <p:stCondLst>
                                            <p:cond delay="0"/>
                                          </p:stCondLst>
                                        </p:cTn>
                                        <p:tgtEl>
                                          <p:spTgt spid="663586"/>
                                        </p:tgtEl>
                                        <p:attrNameLst>
                                          <p:attrName>style.visibility</p:attrName>
                                        </p:attrNameLst>
                                      </p:cBhvr>
                                      <p:to>
                                        <p:strVal val="visible"/>
                                      </p:to>
                                    </p:set>
                                    <p:animEffect transition="in" filter="wipe(left)">
                                      <p:cBhvr>
                                        <p:cTn id="15" dur="500"/>
                                        <p:tgtEl>
                                          <p:spTgt spid="663586"/>
                                        </p:tgtEl>
                                      </p:cBhvr>
                                    </p:animEffect>
                                  </p:childTnLst>
                                </p:cTn>
                              </p:par>
                            </p:childTnLst>
                          </p:cTn>
                        </p:par>
                        <p:par>
                          <p:cTn id="16" fill="hold" nodeType="afterGroup">
                            <p:stCondLst>
                              <p:cond delay="4000"/>
                            </p:stCondLst>
                            <p:childTnLst>
                              <p:par>
                                <p:cTn id="17" presetID="22" presetClass="entr" presetSubtype="8" fill="hold" grpId="0" nodeType="afterEffect">
                                  <p:stCondLst>
                                    <p:cond delay="5000"/>
                                  </p:stCondLst>
                                  <p:childTnLst>
                                    <p:set>
                                      <p:cBhvr>
                                        <p:cTn id="18" dur="1" fill="hold">
                                          <p:stCondLst>
                                            <p:cond delay="0"/>
                                          </p:stCondLst>
                                        </p:cTn>
                                        <p:tgtEl>
                                          <p:spTgt spid="663587"/>
                                        </p:tgtEl>
                                        <p:attrNameLst>
                                          <p:attrName>style.visibility</p:attrName>
                                        </p:attrNameLst>
                                      </p:cBhvr>
                                      <p:to>
                                        <p:strVal val="visible"/>
                                      </p:to>
                                    </p:set>
                                    <p:animEffect transition="in" filter="wipe(left)">
                                      <p:cBhvr>
                                        <p:cTn id="19" dur="500"/>
                                        <p:tgtEl>
                                          <p:spTgt spid="663587"/>
                                        </p:tgtEl>
                                      </p:cBhvr>
                                    </p:animEffect>
                                  </p:childTnLst>
                                </p:cTn>
                              </p:par>
                            </p:childTnLst>
                          </p:cTn>
                        </p:par>
                        <p:par>
                          <p:cTn id="20" fill="hold" nodeType="afterGroup">
                            <p:stCondLst>
                              <p:cond delay="9500"/>
                            </p:stCondLst>
                            <p:childTnLst>
                              <p:par>
                                <p:cTn id="21" presetID="22" presetClass="entr" presetSubtype="8" fill="hold" grpId="0" nodeType="afterEffect">
                                  <p:stCondLst>
                                    <p:cond delay="5000"/>
                                  </p:stCondLst>
                                  <p:childTnLst>
                                    <p:set>
                                      <p:cBhvr>
                                        <p:cTn id="22" dur="1" fill="hold">
                                          <p:stCondLst>
                                            <p:cond delay="0"/>
                                          </p:stCondLst>
                                        </p:cTn>
                                        <p:tgtEl>
                                          <p:spTgt spid="663588"/>
                                        </p:tgtEl>
                                        <p:attrNameLst>
                                          <p:attrName>style.visibility</p:attrName>
                                        </p:attrNameLst>
                                      </p:cBhvr>
                                      <p:to>
                                        <p:strVal val="visible"/>
                                      </p:to>
                                    </p:set>
                                    <p:animEffect transition="in" filter="wipe(left)">
                                      <p:cBhvr>
                                        <p:cTn id="23" dur="500"/>
                                        <p:tgtEl>
                                          <p:spTgt spid="66358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663614">
                                            <p:txEl>
                                              <p:pRg st="0" end="0"/>
                                            </p:txEl>
                                          </p:spTgt>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663609"/>
                                        </p:tgtEl>
                                        <p:attrNameLst>
                                          <p:attrName>style.visibility</p:attrName>
                                        </p:attrNameLst>
                                      </p:cBhvr>
                                      <p:to>
                                        <p:strVal val="visible"/>
                                      </p:to>
                                    </p:set>
                                    <p:animEffect transition="in" filter="wipe(right)">
                                      <p:cBhvr>
                                        <p:cTn id="32" dur="500"/>
                                        <p:tgtEl>
                                          <p:spTgt spid="663609"/>
                                        </p:tgtEl>
                                      </p:cBhvr>
                                    </p:animEffect>
                                  </p:childTnLst>
                                </p:cTn>
                              </p:par>
                            </p:childTnLst>
                          </p:cTn>
                        </p:par>
                        <p:par>
                          <p:cTn id="33" fill="hold" nodeType="afterGroup">
                            <p:stCondLst>
                              <p:cond delay="500"/>
                            </p:stCondLst>
                            <p:childTnLst>
                              <p:par>
                                <p:cTn id="34" presetID="22" presetClass="entr" presetSubtype="2" fill="hold" grpId="0" nodeType="afterEffect">
                                  <p:stCondLst>
                                    <p:cond delay="3000"/>
                                  </p:stCondLst>
                                  <p:childTnLst>
                                    <p:set>
                                      <p:cBhvr>
                                        <p:cTn id="35" dur="1" fill="hold">
                                          <p:stCondLst>
                                            <p:cond delay="0"/>
                                          </p:stCondLst>
                                        </p:cTn>
                                        <p:tgtEl>
                                          <p:spTgt spid="663610"/>
                                        </p:tgtEl>
                                        <p:attrNameLst>
                                          <p:attrName>style.visibility</p:attrName>
                                        </p:attrNameLst>
                                      </p:cBhvr>
                                      <p:to>
                                        <p:strVal val="visible"/>
                                      </p:to>
                                    </p:set>
                                    <p:animEffect transition="in" filter="wipe(right)">
                                      <p:cBhvr>
                                        <p:cTn id="36" dur="500"/>
                                        <p:tgtEl>
                                          <p:spTgt spid="66361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2" fill="hold" nodeType="clickEffect">
                                  <p:stCondLst>
                                    <p:cond delay="0"/>
                                  </p:stCondLst>
                                  <p:childTnLst>
                                    <p:set>
                                      <p:cBhvr>
                                        <p:cTn id="40" dur="1" fill="hold">
                                          <p:stCondLst>
                                            <p:cond delay="0"/>
                                          </p:stCondLst>
                                        </p:cTn>
                                        <p:tgtEl>
                                          <p:spTgt spid="663616"/>
                                        </p:tgtEl>
                                        <p:attrNameLst>
                                          <p:attrName>style.visibility</p:attrName>
                                        </p:attrNameLst>
                                      </p:cBhvr>
                                      <p:to>
                                        <p:strVal val="visible"/>
                                      </p:to>
                                    </p:set>
                                    <p:animEffect transition="in" filter="wipe(right)">
                                      <p:cBhvr>
                                        <p:cTn id="41" dur="500"/>
                                        <p:tgtEl>
                                          <p:spTgt spid="66361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8" fill="hold" nodeType="clickEffect">
                                  <p:stCondLst>
                                    <p:cond delay="0"/>
                                  </p:stCondLst>
                                  <p:childTnLst>
                                    <p:set>
                                      <p:cBhvr>
                                        <p:cTn id="45" dur="1" fill="hold">
                                          <p:stCondLst>
                                            <p:cond delay="0"/>
                                          </p:stCondLst>
                                        </p:cTn>
                                        <p:tgtEl>
                                          <p:spTgt spid="663602"/>
                                        </p:tgtEl>
                                        <p:attrNameLst>
                                          <p:attrName>style.visibility</p:attrName>
                                        </p:attrNameLst>
                                      </p:cBhvr>
                                      <p:to>
                                        <p:strVal val="visible"/>
                                      </p:to>
                                    </p:set>
                                    <p:anim calcmode="lin" valueType="num">
                                      <p:cBhvr additive="base">
                                        <p:cTn id="46" dur="500" fill="hold"/>
                                        <p:tgtEl>
                                          <p:spTgt spid="663602"/>
                                        </p:tgtEl>
                                        <p:attrNameLst>
                                          <p:attrName>ppt_x</p:attrName>
                                        </p:attrNameLst>
                                      </p:cBhvr>
                                      <p:tavLst>
                                        <p:tav tm="0">
                                          <p:val>
                                            <p:strVal val="0-#ppt_w/2"/>
                                          </p:val>
                                        </p:tav>
                                        <p:tav tm="100000">
                                          <p:val>
                                            <p:strVal val="#ppt_x"/>
                                          </p:val>
                                        </p:tav>
                                      </p:tavLst>
                                    </p:anim>
                                    <p:anim calcmode="lin" valueType="num">
                                      <p:cBhvr additive="base">
                                        <p:cTn id="47" dur="500" fill="hold"/>
                                        <p:tgtEl>
                                          <p:spTgt spid="6636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585" grpId="0" animBg="1"/>
      <p:bldP spid="663586" grpId="0" animBg="1"/>
      <p:bldP spid="663587" grpId="0" animBg="1"/>
      <p:bldP spid="663588" grpId="0" animBg="1"/>
      <p:bldP spid="663609" grpId="0" animBg="1"/>
      <p:bldP spid="663610" grpId="0" animBg="1"/>
      <p:bldP spid="663614"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p:spPr>
        <p:txBody>
          <a:bodyPr/>
          <a:lstStyle/>
          <a:p>
            <a:r>
              <a:rPr lang="en-US" altLang="en-US" smtClean="0"/>
              <a:t>Example of a Hierarchical Structure:</a:t>
            </a:r>
            <a:br>
              <a:rPr lang="en-US" altLang="en-US" smtClean="0"/>
            </a:br>
            <a:r>
              <a:rPr lang="en-US" altLang="en-US" smtClean="0"/>
              <a:t>Chief Programmer Team [Brooks 1995]</a:t>
            </a:r>
          </a:p>
        </p:txBody>
      </p:sp>
      <p:sp>
        <p:nvSpPr>
          <p:cNvPr id="37891" name="Rectangle 3"/>
          <p:cNvSpPr>
            <a:spLocks noChangeArrowheads="1"/>
          </p:cNvSpPr>
          <p:nvPr/>
        </p:nvSpPr>
        <p:spPr bwMode="auto">
          <a:xfrm>
            <a:off x="3514725" y="1446213"/>
            <a:ext cx="2339975" cy="622300"/>
          </a:xfrm>
          <a:prstGeom prst="rect">
            <a:avLst/>
          </a:prstGeom>
          <a:solidFill>
            <a:schemeClr val="bg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7892" name="Rectangle 4"/>
          <p:cNvSpPr>
            <a:spLocks noChangeArrowheads="1"/>
          </p:cNvSpPr>
          <p:nvPr/>
        </p:nvSpPr>
        <p:spPr bwMode="auto">
          <a:xfrm>
            <a:off x="3522663" y="1452563"/>
            <a:ext cx="2490787" cy="625475"/>
          </a:xfrm>
          <a:prstGeom prst="rect">
            <a:avLst/>
          </a:prstGeom>
          <a:solidFill>
            <a:schemeClr val="bg1"/>
          </a:solidFill>
          <a:ln w="508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a:r>
              <a:rPr lang="en-US" altLang="en-US">
                <a:latin typeface="Palatino" pitchFamily="18" charset="0"/>
              </a:rPr>
              <a:t>Chief Programmer</a:t>
            </a:r>
          </a:p>
        </p:txBody>
      </p:sp>
      <p:sp>
        <p:nvSpPr>
          <p:cNvPr id="37893" name="Rectangle 5"/>
          <p:cNvSpPr>
            <a:spLocks noChangeArrowheads="1"/>
          </p:cNvSpPr>
          <p:nvPr/>
        </p:nvSpPr>
        <p:spPr bwMode="auto">
          <a:xfrm>
            <a:off x="3225800" y="3713163"/>
            <a:ext cx="1446213" cy="622300"/>
          </a:xfrm>
          <a:prstGeom prst="rect">
            <a:avLst/>
          </a:prstGeom>
          <a:solidFill>
            <a:schemeClr val="bg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7894" name="Rectangle 6"/>
          <p:cNvSpPr>
            <a:spLocks noChangeArrowheads="1"/>
          </p:cNvSpPr>
          <p:nvPr/>
        </p:nvSpPr>
        <p:spPr bwMode="auto">
          <a:xfrm>
            <a:off x="3232150" y="3717925"/>
            <a:ext cx="1446213" cy="627063"/>
          </a:xfrm>
          <a:prstGeom prst="rect">
            <a:avLst/>
          </a:prstGeom>
          <a:solidFill>
            <a:schemeClr val="bg1"/>
          </a:solidFill>
          <a:ln w="508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a:r>
              <a:rPr lang="en-US" altLang="en-US">
                <a:latin typeface="Palatino" pitchFamily="18" charset="0"/>
              </a:rPr>
              <a:t>Librarian</a:t>
            </a:r>
          </a:p>
        </p:txBody>
      </p:sp>
      <p:sp>
        <p:nvSpPr>
          <p:cNvPr id="37895" name="Rectangle 7"/>
          <p:cNvSpPr>
            <a:spLocks noChangeArrowheads="1"/>
          </p:cNvSpPr>
          <p:nvPr/>
        </p:nvSpPr>
        <p:spPr bwMode="auto">
          <a:xfrm>
            <a:off x="4797425" y="3727450"/>
            <a:ext cx="2238375" cy="622300"/>
          </a:xfrm>
          <a:prstGeom prst="rect">
            <a:avLst/>
          </a:prstGeom>
          <a:solidFill>
            <a:schemeClr val="bg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7896" name="Rectangle 8"/>
          <p:cNvSpPr>
            <a:spLocks noChangeArrowheads="1"/>
          </p:cNvSpPr>
          <p:nvPr/>
        </p:nvSpPr>
        <p:spPr bwMode="auto">
          <a:xfrm>
            <a:off x="4803775" y="3732213"/>
            <a:ext cx="2238375" cy="625475"/>
          </a:xfrm>
          <a:prstGeom prst="rect">
            <a:avLst/>
          </a:prstGeom>
          <a:solidFill>
            <a:schemeClr val="bg1"/>
          </a:solidFill>
          <a:ln w="508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a:r>
              <a:rPr lang="en-US" altLang="en-US">
                <a:latin typeface="Palatino" pitchFamily="18" charset="0"/>
              </a:rPr>
              <a:t>Administration</a:t>
            </a:r>
          </a:p>
        </p:txBody>
      </p:sp>
      <p:sp>
        <p:nvSpPr>
          <p:cNvPr id="37897" name="Rectangle 9"/>
          <p:cNvSpPr>
            <a:spLocks noChangeArrowheads="1"/>
          </p:cNvSpPr>
          <p:nvPr/>
        </p:nvSpPr>
        <p:spPr bwMode="auto">
          <a:xfrm>
            <a:off x="7224713" y="3727450"/>
            <a:ext cx="1446212" cy="622300"/>
          </a:xfrm>
          <a:prstGeom prst="rect">
            <a:avLst/>
          </a:prstGeom>
          <a:solidFill>
            <a:schemeClr val="bg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7898" name="Rectangle 10"/>
          <p:cNvSpPr>
            <a:spLocks noChangeArrowheads="1"/>
          </p:cNvSpPr>
          <p:nvPr/>
        </p:nvSpPr>
        <p:spPr bwMode="auto">
          <a:xfrm>
            <a:off x="7231063" y="3732213"/>
            <a:ext cx="1446212" cy="625475"/>
          </a:xfrm>
          <a:prstGeom prst="rect">
            <a:avLst/>
          </a:prstGeom>
          <a:solidFill>
            <a:schemeClr val="bg1"/>
          </a:solidFill>
          <a:ln w="508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a:r>
              <a:rPr lang="en-US" altLang="en-US">
                <a:latin typeface="Palatino" pitchFamily="18" charset="0"/>
              </a:rPr>
              <a:t>Tester</a:t>
            </a:r>
          </a:p>
        </p:txBody>
      </p:sp>
      <p:sp>
        <p:nvSpPr>
          <p:cNvPr id="37899" name="Rectangle 11"/>
          <p:cNvSpPr>
            <a:spLocks noChangeArrowheads="1"/>
          </p:cNvSpPr>
          <p:nvPr/>
        </p:nvSpPr>
        <p:spPr bwMode="auto">
          <a:xfrm>
            <a:off x="460375" y="5021263"/>
            <a:ext cx="2489200" cy="622300"/>
          </a:xfrm>
          <a:prstGeom prst="rect">
            <a:avLst/>
          </a:prstGeom>
          <a:solidFill>
            <a:schemeClr val="bg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7900" name="Rectangle 12"/>
          <p:cNvSpPr>
            <a:spLocks noChangeArrowheads="1"/>
          </p:cNvSpPr>
          <p:nvPr/>
        </p:nvSpPr>
        <p:spPr bwMode="auto">
          <a:xfrm>
            <a:off x="466725" y="5027613"/>
            <a:ext cx="2489200" cy="625475"/>
          </a:xfrm>
          <a:prstGeom prst="rect">
            <a:avLst/>
          </a:prstGeom>
          <a:solidFill>
            <a:schemeClr val="bg1"/>
          </a:solidFill>
          <a:ln w="508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a:r>
              <a:rPr lang="en-US" altLang="en-US">
                <a:latin typeface="Palatino" pitchFamily="18" charset="0"/>
              </a:rPr>
              <a:t>Junior Programmer</a:t>
            </a:r>
          </a:p>
        </p:txBody>
      </p:sp>
      <p:sp>
        <p:nvSpPr>
          <p:cNvPr id="37901" name="Line 13"/>
          <p:cNvSpPr>
            <a:spLocks noChangeShapeType="1"/>
          </p:cNvSpPr>
          <p:nvPr/>
        </p:nvSpPr>
        <p:spPr bwMode="auto">
          <a:xfrm>
            <a:off x="4640263" y="2108200"/>
            <a:ext cx="0" cy="144463"/>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02" name="Freeform 14"/>
          <p:cNvSpPr>
            <a:spLocks/>
          </p:cNvSpPr>
          <p:nvPr/>
        </p:nvSpPr>
        <p:spPr bwMode="auto">
          <a:xfrm>
            <a:off x="4238625" y="3157538"/>
            <a:ext cx="1588" cy="31750"/>
          </a:xfrm>
          <a:custGeom>
            <a:avLst/>
            <a:gdLst>
              <a:gd name="T0" fmla="*/ 0 w 1"/>
              <a:gd name="T1" fmla="*/ 2147483646 h 20"/>
              <a:gd name="T2" fmla="*/ 0 w 1"/>
              <a:gd name="T3" fmla="*/ 2147483646 h 20"/>
              <a:gd name="T4" fmla="*/ 0 w 1"/>
              <a:gd name="T5" fmla="*/ 0 h 20"/>
              <a:gd name="T6" fmla="*/ 0 w 1"/>
              <a:gd name="T7" fmla="*/ 0 h 20"/>
              <a:gd name="T8" fmla="*/ 0 w 1"/>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20">
                <a:moveTo>
                  <a:pt x="0" y="19"/>
                </a:moveTo>
                <a:lnTo>
                  <a:pt x="0" y="19"/>
                </a:lnTo>
                <a:lnTo>
                  <a:pt x="0" y="0"/>
                </a:lnTo>
                <a:lnTo>
                  <a:pt x="0" y="19"/>
                </a:lnTo>
              </a:path>
            </a:pathLst>
          </a:custGeom>
          <a:solidFill>
            <a:schemeClr val="bg1"/>
          </a:solidFill>
          <a:ln w="12700" cap="rnd" cmpd="sng">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3" name="Freeform 15"/>
          <p:cNvSpPr>
            <a:spLocks/>
          </p:cNvSpPr>
          <p:nvPr/>
        </p:nvSpPr>
        <p:spPr bwMode="auto">
          <a:xfrm>
            <a:off x="1773238" y="3735388"/>
            <a:ext cx="14287" cy="30162"/>
          </a:xfrm>
          <a:custGeom>
            <a:avLst/>
            <a:gdLst>
              <a:gd name="T0" fmla="*/ 2147483646 w 9"/>
              <a:gd name="T1" fmla="*/ 2147483646 h 19"/>
              <a:gd name="T2" fmla="*/ 0 w 9"/>
              <a:gd name="T3" fmla="*/ 2147483646 h 19"/>
              <a:gd name="T4" fmla="*/ 0 w 9"/>
              <a:gd name="T5" fmla="*/ 0 h 19"/>
              <a:gd name="T6" fmla="*/ 2147483646 w 9"/>
              <a:gd name="T7" fmla="*/ 0 h 19"/>
              <a:gd name="T8" fmla="*/ 2147483646 w 9"/>
              <a:gd name="T9" fmla="*/ 2147483646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9">
                <a:moveTo>
                  <a:pt x="8" y="18"/>
                </a:moveTo>
                <a:lnTo>
                  <a:pt x="0" y="18"/>
                </a:lnTo>
                <a:lnTo>
                  <a:pt x="0" y="0"/>
                </a:lnTo>
                <a:lnTo>
                  <a:pt x="4" y="0"/>
                </a:lnTo>
                <a:lnTo>
                  <a:pt x="8" y="18"/>
                </a:lnTo>
              </a:path>
            </a:pathLst>
          </a:custGeom>
          <a:solidFill>
            <a:schemeClr val="bg1"/>
          </a:solidFill>
          <a:ln w="12700" cap="rnd" cmpd="sng">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4" name="Freeform 16"/>
          <p:cNvSpPr>
            <a:spLocks/>
          </p:cNvSpPr>
          <p:nvPr/>
        </p:nvSpPr>
        <p:spPr bwMode="auto">
          <a:xfrm>
            <a:off x="1785938" y="3157538"/>
            <a:ext cx="2454275" cy="608012"/>
          </a:xfrm>
          <a:custGeom>
            <a:avLst/>
            <a:gdLst>
              <a:gd name="T0" fmla="*/ 2147483646 w 1546"/>
              <a:gd name="T1" fmla="*/ 2147483646 h 383"/>
              <a:gd name="T2" fmla="*/ 2147483646 w 1546"/>
              <a:gd name="T3" fmla="*/ 0 h 383"/>
              <a:gd name="T4" fmla="*/ 0 w 1546"/>
              <a:gd name="T5" fmla="*/ 2147483646 h 383"/>
              <a:gd name="T6" fmla="*/ 2147483646 w 1546"/>
              <a:gd name="T7" fmla="*/ 2147483646 h 383"/>
              <a:gd name="T8" fmla="*/ 2147483646 w 1546"/>
              <a:gd name="T9" fmla="*/ 2147483646 h 3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6" h="383">
                <a:moveTo>
                  <a:pt x="1545" y="26"/>
                </a:moveTo>
                <a:lnTo>
                  <a:pt x="1537" y="0"/>
                </a:lnTo>
                <a:lnTo>
                  <a:pt x="0" y="357"/>
                </a:lnTo>
                <a:lnTo>
                  <a:pt x="8" y="382"/>
                </a:lnTo>
                <a:lnTo>
                  <a:pt x="1545" y="26"/>
                </a:lnTo>
              </a:path>
            </a:pathLst>
          </a:custGeom>
          <a:solidFill>
            <a:schemeClr val="bg1"/>
          </a:solidFill>
          <a:ln w="12700" cap="rnd" cmpd="sng">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5" name="Freeform 17"/>
          <p:cNvSpPr>
            <a:spLocks/>
          </p:cNvSpPr>
          <p:nvPr/>
        </p:nvSpPr>
        <p:spPr bwMode="auto">
          <a:xfrm>
            <a:off x="4451350" y="3284538"/>
            <a:ext cx="26988" cy="31750"/>
          </a:xfrm>
          <a:custGeom>
            <a:avLst/>
            <a:gdLst>
              <a:gd name="T0" fmla="*/ 2147483646 w 17"/>
              <a:gd name="T1" fmla="*/ 2147483646 h 20"/>
              <a:gd name="T2" fmla="*/ 2147483646 w 17"/>
              <a:gd name="T3" fmla="*/ 2147483646 h 20"/>
              <a:gd name="T4" fmla="*/ 2147483646 w 17"/>
              <a:gd name="T5" fmla="*/ 0 h 20"/>
              <a:gd name="T6" fmla="*/ 0 w 17"/>
              <a:gd name="T7" fmla="*/ 2147483646 h 20"/>
              <a:gd name="T8" fmla="*/ 2147483646 w 17"/>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0">
                <a:moveTo>
                  <a:pt x="11" y="19"/>
                </a:moveTo>
                <a:lnTo>
                  <a:pt x="16" y="13"/>
                </a:lnTo>
                <a:lnTo>
                  <a:pt x="5" y="0"/>
                </a:lnTo>
                <a:lnTo>
                  <a:pt x="0" y="6"/>
                </a:lnTo>
                <a:lnTo>
                  <a:pt x="11" y="19"/>
                </a:lnTo>
              </a:path>
            </a:pathLst>
          </a:custGeom>
          <a:solidFill>
            <a:schemeClr val="bg1"/>
          </a:solidFill>
          <a:ln w="12700" cap="rnd" cmpd="sng">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6" name="Freeform 18"/>
          <p:cNvSpPr>
            <a:spLocks/>
          </p:cNvSpPr>
          <p:nvPr/>
        </p:nvSpPr>
        <p:spPr bwMode="auto">
          <a:xfrm>
            <a:off x="4225925" y="3678238"/>
            <a:ext cx="14288" cy="31750"/>
          </a:xfrm>
          <a:custGeom>
            <a:avLst/>
            <a:gdLst>
              <a:gd name="T0" fmla="*/ 2147483646 w 9"/>
              <a:gd name="T1" fmla="*/ 2147483646 h 20"/>
              <a:gd name="T2" fmla="*/ 2147483646 w 9"/>
              <a:gd name="T3" fmla="*/ 2147483646 h 20"/>
              <a:gd name="T4" fmla="*/ 0 w 9"/>
              <a:gd name="T5" fmla="*/ 2147483646 h 20"/>
              <a:gd name="T6" fmla="*/ 2147483646 w 9"/>
              <a:gd name="T7" fmla="*/ 0 h 20"/>
              <a:gd name="T8" fmla="*/ 2147483646 w 9"/>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20">
                <a:moveTo>
                  <a:pt x="8" y="13"/>
                </a:moveTo>
                <a:lnTo>
                  <a:pt x="8" y="19"/>
                </a:lnTo>
                <a:lnTo>
                  <a:pt x="0" y="6"/>
                </a:lnTo>
                <a:lnTo>
                  <a:pt x="4" y="0"/>
                </a:lnTo>
                <a:lnTo>
                  <a:pt x="8" y="13"/>
                </a:lnTo>
              </a:path>
            </a:pathLst>
          </a:custGeom>
          <a:solidFill>
            <a:schemeClr val="bg1"/>
          </a:solidFill>
          <a:ln w="12700" cap="rnd" cmpd="sng">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7" name="Freeform 19"/>
          <p:cNvSpPr>
            <a:spLocks/>
          </p:cNvSpPr>
          <p:nvPr/>
        </p:nvSpPr>
        <p:spPr bwMode="auto">
          <a:xfrm>
            <a:off x="4238625" y="3298825"/>
            <a:ext cx="227013" cy="396875"/>
          </a:xfrm>
          <a:custGeom>
            <a:avLst/>
            <a:gdLst>
              <a:gd name="T0" fmla="*/ 2147483646 w 143"/>
              <a:gd name="T1" fmla="*/ 2147483646 h 250"/>
              <a:gd name="T2" fmla="*/ 2147483646 w 143"/>
              <a:gd name="T3" fmla="*/ 0 h 250"/>
              <a:gd name="T4" fmla="*/ 0 w 143"/>
              <a:gd name="T5" fmla="*/ 2147483646 h 250"/>
              <a:gd name="T6" fmla="*/ 2147483646 w 143"/>
              <a:gd name="T7" fmla="*/ 2147483646 h 250"/>
              <a:gd name="T8" fmla="*/ 2147483646 w 143"/>
              <a:gd name="T9" fmla="*/ 2147483646 h 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250">
                <a:moveTo>
                  <a:pt x="142" y="17"/>
                </a:moveTo>
                <a:lnTo>
                  <a:pt x="127" y="0"/>
                </a:lnTo>
                <a:lnTo>
                  <a:pt x="0" y="232"/>
                </a:lnTo>
                <a:lnTo>
                  <a:pt x="8" y="249"/>
                </a:lnTo>
                <a:lnTo>
                  <a:pt x="142" y="17"/>
                </a:lnTo>
              </a:path>
            </a:pathLst>
          </a:custGeom>
          <a:solidFill>
            <a:schemeClr val="bg1"/>
          </a:solidFill>
          <a:ln w="12700" cap="rnd" cmpd="sng">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8" name="Freeform 20"/>
          <p:cNvSpPr>
            <a:spLocks/>
          </p:cNvSpPr>
          <p:nvPr/>
        </p:nvSpPr>
        <p:spPr bwMode="auto">
          <a:xfrm>
            <a:off x="4803775" y="3171825"/>
            <a:ext cx="26988" cy="44450"/>
          </a:xfrm>
          <a:custGeom>
            <a:avLst/>
            <a:gdLst>
              <a:gd name="T0" fmla="*/ 2147483646 w 17"/>
              <a:gd name="T1" fmla="*/ 2147483646 h 28"/>
              <a:gd name="T2" fmla="*/ 2147483646 w 17"/>
              <a:gd name="T3" fmla="*/ 0 h 28"/>
              <a:gd name="T4" fmla="*/ 0 w 17"/>
              <a:gd name="T5" fmla="*/ 2147483646 h 28"/>
              <a:gd name="T6" fmla="*/ 2147483646 w 17"/>
              <a:gd name="T7" fmla="*/ 2147483646 h 28"/>
              <a:gd name="T8" fmla="*/ 2147483646 w 17"/>
              <a:gd name="T9" fmla="*/ 2147483646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8">
                <a:moveTo>
                  <a:pt x="16" y="7"/>
                </a:moveTo>
                <a:lnTo>
                  <a:pt x="11" y="0"/>
                </a:lnTo>
                <a:lnTo>
                  <a:pt x="0" y="21"/>
                </a:lnTo>
                <a:lnTo>
                  <a:pt x="11" y="27"/>
                </a:lnTo>
                <a:lnTo>
                  <a:pt x="16" y="7"/>
                </a:lnTo>
              </a:path>
            </a:pathLst>
          </a:custGeom>
          <a:solidFill>
            <a:schemeClr val="bg1"/>
          </a:solidFill>
          <a:ln w="12700" cap="rnd" cmpd="sng">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09" name="Freeform 21"/>
          <p:cNvSpPr>
            <a:spLocks/>
          </p:cNvSpPr>
          <p:nvPr/>
        </p:nvSpPr>
        <p:spPr bwMode="auto">
          <a:xfrm>
            <a:off x="5608638" y="3692525"/>
            <a:ext cx="14287" cy="31750"/>
          </a:xfrm>
          <a:custGeom>
            <a:avLst/>
            <a:gdLst>
              <a:gd name="T0" fmla="*/ 2147483646 w 9"/>
              <a:gd name="T1" fmla="*/ 0 h 20"/>
              <a:gd name="T2" fmla="*/ 2147483646 w 9"/>
              <a:gd name="T3" fmla="*/ 2147483646 h 20"/>
              <a:gd name="T4" fmla="*/ 2147483646 w 9"/>
              <a:gd name="T5" fmla="*/ 2147483646 h 20"/>
              <a:gd name="T6" fmla="*/ 0 w 9"/>
              <a:gd name="T7" fmla="*/ 2147483646 h 20"/>
              <a:gd name="T8" fmla="*/ 2147483646 w 9"/>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20">
                <a:moveTo>
                  <a:pt x="4" y="0"/>
                </a:moveTo>
                <a:lnTo>
                  <a:pt x="8" y="6"/>
                </a:lnTo>
                <a:lnTo>
                  <a:pt x="4" y="19"/>
                </a:lnTo>
                <a:lnTo>
                  <a:pt x="0" y="19"/>
                </a:lnTo>
                <a:lnTo>
                  <a:pt x="4" y="0"/>
                </a:lnTo>
              </a:path>
            </a:pathLst>
          </a:custGeom>
          <a:solidFill>
            <a:schemeClr val="bg1"/>
          </a:solidFill>
          <a:ln w="12700" cap="rnd" cmpd="sng">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0" name="Freeform 22"/>
          <p:cNvSpPr>
            <a:spLocks/>
          </p:cNvSpPr>
          <p:nvPr/>
        </p:nvSpPr>
        <p:spPr bwMode="auto">
          <a:xfrm>
            <a:off x="4829175" y="3186113"/>
            <a:ext cx="781050" cy="538162"/>
          </a:xfrm>
          <a:custGeom>
            <a:avLst/>
            <a:gdLst>
              <a:gd name="T0" fmla="*/ 2147483646 w 492"/>
              <a:gd name="T1" fmla="*/ 0 h 339"/>
              <a:gd name="T2" fmla="*/ 0 w 492"/>
              <a:gd name="T3" fmla="*/ 2147483646 h 339"/>
              <a:gd name="T4" fmla="*/ 2147483646 w 492"/>
              <a:gd name="T5" fmla="*/ 2147483646 h 339"/>
              <a:gd name="T6" fmla="*/ 2147483646 w 492"/>
              <a:gd name="T7" fmla="*/ 2147483646 h 339"/>
              <a:gd name="T8" fmla="*/ 2147483646 w 492"/>
              <a:gd name="T9" fmla="*/ 0 h 3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2" h="339">
                <a:moveTo>
                  <a:pt x="8" y="0"/>
                </a:moveTo>
                <a:lnTo>
                  <a:pt x="0" y="25"/>
                </a:lnTo>
                <a:lnTo>
                  <a:pt x="483" y="338"/>
                </a:lnTo>
                <a:lnTo>
                  <a:pt x="491" y="312"/>
                </a:lnTo>
                <a:lnTo>
                  <a:pt x="8" y="0"/>
                </a:lnTo>
              </a:path>
            </a:pathLst>
          </a:custGeom>
          <a:solidFill>
            <a:schemeClr val="bg1"/>
          </a:solidFill>
          <a:ln w="12700" cap="rnd" cmpd="sng">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1" name="Freeform 23"/>
          <p:cNvSpPr>
            <a:spLocks/>
          </p:cNvSpPr>
          <p:nvPr/>
        </p:nvSpPr>
        <p:spPr bwMode="auto">
          <a:xfrm>
            <a:off x="7494588" y="3692525"/>
            <a:ext cx="14287" cy="31750"/>
          </a:xfrm>
          <a:custGeom>
            <a:avLst/>
            <a:gdLst>
              <a:gd name="T0" fmla="*/ 0 w 9"/>
              <a:gd name="T1" fmla="*/ 2147483646 h 20"/>
              <a:gd name="T2" fmla="*/ 2147483646 w 9"/>
              <a:gd name="T3" fmla="*/ 2147483646 h 20"/>
              <a:gd name="T4" fmla="*/ 2147483646 w 9"/>
              <a:gd name="T5" fmla="*/ 0 h 20"/>
              <a:gd name="T6" fmla="*/ 2147483646 w 9"/>
              <a:gd name="T7" fmla="*/ 0 h 20"/>
              <a:gd name="T8" fmla="*/ 0 w 9"/>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20">
                <a:moveTo>
                  <a:pt x="0" y="19"/>
                </a:moveTo>
                <a:lnTo>
                  <a:pt x="8" y="19"/>
                </a:lnTo>
                <a:lnTo>
                  <a:pt x="8" y="0"/>
                </a:lnTo>
                <a:lnTo>
                  <a:pt x="4" y="0"/>
                </a:lnTo>
                <a:lnTo>
                  <a:pt x="0" y="19"/>
                </a:lnTo>
              </a:path>
            </a:pathLst>
          </a:custGeom>
          <a:solidFill>
            <a:schemeClr val="bg1"/>
          </a:solidFill>
          <a:ln w="12700" cap="rnd" cmpd="sng">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2" name="Freeform 24"/>
          <p:cNvSpPr>
            <a:spLocks/>
          </p:cNvSpPr>
          <p:nvPr/>
        </p:nvSpPr>
        <p:spPr bwMode="auto">
          <a:xfrm>
            <a:off x="5294313" y="3157538"/>
            <a:ext cx="14287" cy="31750"/>
          </a:xfrm>
          <a:custGeom>
            <a:avLst/>
            <a:gdLst>
              <a:gd name="T0" fmla="*/ 2147483646 w 9"/>
              <a:gd name="T1" fmla="*/ 2147483646 h 20"/>
              <a:gd name="T2" fmla="*/ 0 w 9"/>
              <a:gd name="T3" fmla="*/ 2147483646 h 20"/>
              <a:gd name="T4" fmla="*/ 2147483646 w 9"/>
              <a:gd name="T5" fmla="*/ 0 h 20"/>
              <a:gd name="T6" fmla="*/ 2147483646 w 9"/>
              <a:gd name="T7" fmla="*/ 0 h 20"/>
              <a:gd name="T8" fmla="*/ 2147483646 w 9"/>
              <a:gd name="T9" fmla="*/ 2147483646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20">
                <a:moveTo>
                  <a:pt x="4" y="19"/>
                </a:moveTo>
                <a:lnTo>
                  <a:pt x="0" y="19"/>
                </a:lnTo>
                <a:lnTo>
                  <a:pt x="4" y="0"/>
                </a:lnTo>
                <a:lnTo>
                  <a:pt x="8" y="0"/>
                </a:lnTo>
                <a:lnTo>
                  <a:pt x="4" y="19"/>
                </a:lnTo>
              </a:path>
            </a:pathLst>
          </a:custGeom>
          <a:solidFill>
            <a:schemeClr val="bg1"/>
          </a:solidFill>
          <a:ln w="12700" cap="rnd" cmpd="sng">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3" name="Freeform 25"/>
          <p:cNvSpPr>
            <a:spLocks/>
          </p:cNvSpPr>
          <p:nvPr/>
        </p:nvSpPr>
        <p:spPr bwMode="auto">
          <a:xfrm>
            <a:off x="5307013" y="3157538"/>
            <a:ext cx="2189162" cy="566737"/>
          </a:xfrm>
          <a:custGeom>
            <a:avLst/>
            <a:gdLst>
              <a:gd name="T0" fmla="*/ 2147483646 w 1379"/>
              <a:gd name="T1" fmla="*/ 2147483646 h 357"/>
              <a:gd name="T2" fmla="*/ 2147483646 w 1379"/>
              <a:gd name="T3" fmla="*/ 2147483646 h 357"/>
              <a:gd name="T4" fmla="*/ 2147483646 w 1379"/>
              <a:gd name="T5" fmla="*/ 0 h 357"/>
              <a:gd name="T6" fmla="*/ 0 w 1379"/>
              <a:gd name="T7" fmla="*/ 2147483646 h 357"/>
              <a:gd name="T8" fmla="*/ 2147483646 w 1379"/>
              <a:gd name="T9" fmla="*/ 2147483646 h 3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9" h="357">
                <a:moveTo>
                  <a:pt x="1370" y="356"/>
                </a:moveTo>
                <a:lnTo>
                  <a:pt x="1378" y="330"/>
                </a:lnTo>
                <a:lnTo>
                  <a:pt x="8" y="0"/>
                </a:lnTo>
                <a:lnTo>
                  <a:pt x="0" y="26"/>
                </a:lnTo>
                <a:lnTo>
                  <a:pt x="1370" y="356"/>
                </a:lnTo>
              </a:path>
            </a:pathLst>
          </a:custGeom>
          <a:solidFill>
            <a:schemeClr val="bg1"/>
          </a:solidFill>
          <a:ln w="12700" cap="rnd" cmpd="sng">
            <a:solidFill>
              <a:schemeClr val="bg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914" name="Rectangle 26"/>
          <p:cNvSpPr>
            <a:spLocks noChangeArrowheads="1"/>
          </p:cNvSpPr>
          <p:nvPr/>
        </p:nvSpPr>
        <p:spPr bwMode="auto">
          <a:xfrm>
            <a:off x="3514725" y="2278063"/>
            <a:ext cx="2339975" cy="620712"/>
          </a:xfrm>
          <a:prstGeom prst="rect">
            <a:avLst/>
          </a:prstGeom>
          <a:solidFill>
            <a:schemeClr val="bg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7915" name="Rectangle 27"/>
          <p:cNvSpPr>
            <a:spLocks noChangeArrowheads="1"/>
          </p:cNvSpPr>
          <p:nvPr/>
        </p:nvSpPr>
        <p:spPr bwMode="auto">
          <a:xfrm>
            <a:off x="3522663" y="2282825"/>
            <a:ext cx="2336800" cy="625475"/>
          </a:xfrm>
          <a:prstGeom prst="rect">
            <a:avLst/>
          </a:prstGeom>
          <a:solidFill>
            <a:schemeClr val="bg1"/>
          </a:solidFill>
          <a:ln w="508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7916" name="Rectangle 28"/>
          <p:cNvSpPr>
            <a:spLocks noChangeArrowheads="1"/>
          </p:cNvSpPr>
          <p:nvPr/>
        </p:nvSpPr>
        <p:spPr bwMode="auto">
          <a:xfrm>
            <a:off x="3514725" y="2235200"/>
            <a:ext cx="2339975" cy="1044575"/>
          </a:xfrm>
          <a:prstGeom prst="rect">
            <a:avLst/>
          </a:prstGeom>
          <a:solidFill>
            <a:schemeClr val="bg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7917" name="Rectangle 29"/>
          <p:cNvSpPr>
            <a:spLocks noChangeArrowheads="1"/>
          </p:cNvSpPr>
          <p:nvPr/>
        </p:nvSpPr>
        <p:spPr bwMode="auto">
          <a:xfrm>
            <a:off x="3522663" y="2239963"/>
            <a:ext cx="2471737" cy="1049337"/>
          </a:xfrm>
          <a:prstGeom prst="rect">
            <a:avLst/>
          </a:prstGeom>
          <a:solidFill>
            <a:schemeClr val="bg1"/>
          </a:solidFill>
          <a:ln w="508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a:r>
              <a:rPr lang="en-US" altLang="en-US">
                <a:latin typeface="Palatino" pitchFamily="18" charset="0"/>
              </a:rPr>
              <a:t>Assistant</a:t>
            </a:r>
          </a:p>
          <a:p>
            <a:pPr algn="ctr"/>
            <a:r>
              <a:rPr lang="en-US" altLang="en-US">
                <a:latin typeface="Palatino" pitchFamily="18" charset="0"/>
              </a:rPr>
              <a:t>Chief Programmer</a:t>
            </a:r>
          </a:p>
        </p:txBody>
      </p:sp>
      <p:sp>
        <p:nvSpPr>
          <p:cNvPr id="37918" name="Rectangle 30"/>
          <p:cNvSpPr>
            <a:spLocks noChangeArrowheads="1"/>
          </p:cNvSpPr>
          <p:nvPr/>
        </p:nvSpPr>
        <p:spPr bwMode="auto">
          <a:xfrm>
            <a:off x="1704975" y="4354513"/>
            <a:ext cx="12700" cy="1587"/>
          </a:xfrm>
          <a:prstGeom prst="rect">
            <a:avLst/>
          </a:prstGeom>
          <a:solidFill>
            <a:schemeClr val="bg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7919" name="Rectangle 31"/>
          <p:cNvSpPr>
            <a:spLocks noChangeArrowheads="1"/>
          </p:cNvSpPr>
          <p:nvPr/>
        </p:nvSpPr>
        <p:spPr bwMode="auto">
          <a:xfrm>
            <a:off x="1704975" y="5049838"/>
            <a:ext cx="12700" cy="3175"/>
          </a:xfrm>
          <a:prstGeom prst="rect">
            <a:avLst/>
          </a:prstGeom>
          <a:solidFill>
            <a:schemeClr val="bg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7920" name="Rectangle 32"/>
          <p:cNvSpPr>
            <a:spLocks noChangeArrowheads="1"/>
          </p:cNvSpPr>
          <p:nvPr/>
        </p:nvSpPr>
        <p:spPr bwMode="auto">
          <a:xfrm>
            <a:off x="1704975" y="4375150"/>
            <a:ext cx="12700" cy="649288"/>
          </a:xfrm>
          <a:prstGeom prst="rect">
            <a:avLst/>
          </a:prstGeom>
          <a:solidFill>
            <a:schemeClr val="bg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7921" name="Rectangle 33"/>
          <p:cNvSpPr>
            <a:spLocks noChangeArrowheads="1"/>
          </p:cNvSpPr>
          <p:nvPr/>
        </p:nvSpPr>
        <p:spPr bwMode="auto">
          <a:xfrm>
            <a:off x="460375" y="3713163"/>
            <a:ext cx="2489200" cy="622300"/>
          </a:xfrm>
          <a:prstGeom prst="rect">
            <a:avLst/>
          </a:prstGeom>
          <a:solidFill>
            <a:schemeClr val="bg1"/>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37922" name="Rectangle 34"/>
          <p:cNvSpPr>
            <a:spLocks noChangeArrowheads="1"/>
          </p:cNvSpPr>
          <p:nvPr/>
        </p:nvSpPr>
        <p:spPr bwMode="auto">
          <a:xfrm>
            <a:off x="466725" y="3717925"/>
            <a:ext cx="2489200" cy="627063"/>
          </a:xfrm>
          <a:prstGeom prst="rect">
            <a:avLst/>
          </a:prstGeom>
          <a:solidFill>
            <a:schemeClr val="bg1"/>
          </a:solidFill>
          <a:ln w="508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a:r>
              <a:rPr lang="en-US" altLang="en-US">
                <a:latin typeface="Palatino" pitchFamily="18" charset="0"/>
              </a:rPr>
              <a:t>Senior Programmer</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smtClean="0"/>
              <a:t>Disadvantages of Hierarchical Structure</a:t>
            </a:r>
          </a:p>
        </p:txBody>
      </p:sp>
      <p:sp>
        <p:nvSpPr>
          <p:cNvPr id="39939" name="Rectangle 3"/>
          <p:cNvSpPr>
            <a:spLocks noGrp="1" noChangeArrowheads="1"/>
          </p:cNvSpPr>
          <p:nvPr>
            <p:ph idx="1"/>
          </p:nvPr>
        </p:nvSpPr>
        <p:spPr/>
        <p:txBody>
          <a:bodyPr/>
          <a:lstStyle/>
          <a:p>
            <a:r>
              <a:rPr lang="en-US" altLang="en-US" smtClean="0"/>
              <a:t>Slow response time</a:t>
            </a:r>
          </a:p>
          <a:p>
            <a:pPr lvl="1"/>
            <a:r>
              <a:rPr lang="en-US" altLang="en-US" smtClean="0"/>
              <a:t>The process of evaluating and approving change requests often takes too long because of long reporting/decision lines.</a:t>
            </a:r>
          </a:p>
          <a:p>
            <a:r>
              <a:rPr lang="en-US" altLang="en-US" smtClean="0"/>
              <a:t>Difficult to manage the workload of the people:</a:t>
            </a:r>
          </a:p>
          <a:p>
            <a:pPr lvl="1"/>
            <a:r>
              <a:rPr lang="en-US" altLang="en-US" smtClean="0"/>
              <a:t>People are assigned fulltime to the organization, but projects don’t’ come in a smooth stream.</a:t>
            </a:r>
          </a:p>
          <a:p>
            <a:pPr lvl="1"/>
            <a:r>
              <a:rPr lang="en-US" altLang="en-US" smtClean="0"/>
              <a:t>Project request might not require the people who are available or their expertise. </a:t>
            </a:r>
          </a:p>
          <a:p>
            <a:r>
              <a:rPr lang="en-US" altLang="en-US" smtClean="0"/>
              <a:t>Unfamiliarity with application or solution domain area</a:t>
            </a:r>
          </a:p>
          <a:p>
            <a:pPr lvl="1"/>
            <a:r>
              <a:rPr lang="en-US" altLang="en-US" smtClean="0"/>
              <a:t>People are usually hired for their technical proficiency in a specialty that the organization normally performs. </a:t>
            </a:r>
          </a:p>
          <a:p>
            <a:pPr lvl="1"/>
            <a:r>
              <a:rPr lang="en-US" altLang="en-US" smtClean="0"/>
              <a:t>They often have only limited experience, if the problem to be solved is outside of their field of expertise.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de-DE" altLang="en-US" smtClean="0"/>
              <a:t>Nonhierarchical Project Structure</a:t>
            </a:r>
          </a:p>
        </p:txBody>
      </p:sp>
      <p:sp>
        <p:nvSpPr>
          <p:cNvPr id="40963" name="Rectangle 3"/>
          <p:cNvSpPr>
            <a:spLocks noGrp="1" noChangeArrowheads="1"/>
          </p:cNvSpPr>
          <p:nvPr>
            <p:ph idx="1"/>
          </p:nvPr>
        </p:nvSpPr>
        <p:spPr/>
        <p:txBody>
          <a:bodyPr/>
          <a:lstStyle/>
          <a:p>
            <a:r>
              <a:rPr lang="en-US" altLang="en-US" b="1" smtClean="0"/>
              <a:t>Key property:</a:t>
            </a:r>
            <a:r>
              <a:rPr lang="en-US" altLang="en-US" smtClean="0"/>
              <a:t>  The structure has a general graph structure with different edges for the decision, reporting and communication flows. Decisions can be made at various nodes in the graph.                                                                                  </a:t>
            </a:r>
            <a:r>
              <a:rPr lang="de-DE" altLang="en-US" smtClean="0"/>
              <a:t>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p:spPr>
        <p:txBody>
          <a:bodyPr/>
          <a:lstStyle/>
          <a:p>
            <a:r>
              <a:rPr lang="en-US" altLang="en-US" smtClean="0"/>
              <a:t>Nonhierarchical Project Structure</a:t>
            </a:r>
          </a:p>
        </p:txBody>
      </p:sp>
      <p:sp>
        <p:nvSpPr>
          <p:cNvPr id="41987" name="Oval 3"/>
          <p:cNvSpPr>
            <a:spLocks noChangeArrowheads="1"/>
          </p:cNvSpPr>
          <p:nvPr/>
        </p:nvSpPr>
        <p:spPr bwMode="auto">
          <a:xfrm>
            <a:off x="3303588" y="990600"/>
            <a:ext cx="776287" cy="65405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1988" name="Oval 4"/>
          <p:cNvSpPr>
            <a:spLocks noChangeArrowheads="1"/>
          </p:cNvSpPr>
          <p:nvPr/>
        </p:nvSpPr>
        <p:spPr bwMode="auto">
          <a:xfrm>
            <a:off x="3303588" y="1960563"/>
            <a:ext cx="776287" cy="65405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1989" name="Line 5"/>
          <p:cNvSpPr>
            <a:spLocks noChangeShapeType="1"/>
          </p:cNvSpPr>
          <p:nvPr/>
        </p:nvSpPr>
        <p:spPr bwMode="auto">
          <a:xfrm>
            <a:off x="3690938" y="1657350"/>
            <a:ext cx="0" cy="3508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90" name="Line 6"/>
          <p:cNvSpPr>
            <a:spLocks noChangeShapeType="1"/>
          </p:cNvSpPr>
          <p:nvPr/>
        </p:nvSpPr>
        <p:spPr bwMode="auto">
          <a:xfrm>
            <a:off x="4092575" y="1414463"/>
            <a:ext cx="1169988" cy="5937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91" name="Oval 7"/>
          <p:cNvSpPr>
            <a:spLocks noChangeArrowheads="1"/>
          </p:cNvSpPr>
          <p:nvPr/>
        </p:nvSpPr>
        <p:spPr bwMode="auto">
          <a:xfrm>
            <a:off x="2974975" y="3294063"/>
            <a:ext cx="381000" cy="350837"/>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1992" name="Oval 8"/>
          <p:cNvSpPr>
            <a:spLocks noChangeArrowheads="1"/>
          </p:cNvSpPr>
          <p:nvPr/>
        </p:nvSpPr>
        <p:spPr bwMode="auto">
          <a:xfrm>
            <a:off x="3500438" y="3294063"/>
            <a:ext cx="382587" cy="350837"/>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1993" name="Oval 9"/>
          <p:cNvSpPr>
            <a:spLocks noChangeArrowheads="1"/>
          </p:cNvSpPr>
          <p:nvPr/>
        </p:nvSpPr>
        <p:spPr bwMode="auto">
          <a:xfrm>
            <a:off x="4025900" y="3294063"/>
            <a:ext cx="382588" cy="350837"/>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1994" name="Line 10"/>
          <p:cNvSpPr>
            <a:spLocks noChangeShapeType="1"/>
          </p:cNvSpPr>
          <p:nvPr/>
        </p:nvSpPr>
        <p:spPr bwMode="auto">
          <a:xfrm flipH="1">
            <a:off x="3232150" y="2627313"/>
            <a:ext cx="328613" cy="6540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95" name="Line 11"/>
          <p:cNvSpPr>
            <a:spLocks noChangeShapeType="1"/>
          </p:cNvSpPr>
          <p:nvPr/>
        </p:nvSpPr>
        <p:spPr bwMode="auto">
          <a:xfrm>
            <a:off x="3690938" y="2627313"/>
            <a:ext cx="0" cy="6540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96" name="Line 12"/>
          <p:cNvSpPr>
            <a:spLocks noChangeShapeType="1"/>
          </p:cNvSpPr>
          <p:nvPr/>
        </p:nvSpPr>
        <p:spPr bwMode="auto">
          <a:xfrm>
            <a:off x="3829050" y="2627313"/>
            <a:ext cx="315913" cy="6540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97" name="Oval 13"/>
          <p:cNvSpPr>
            <a:spLocks noChangeArrowheads="1"/>
          </p:cNvSpPr>
          <p:nvPr/>
        </p:nvSpPr>
        <p:spPr bwMode="auto">
          <a:xfrm>
            <a:off x="5029200" y="1960563"/>
            <a:ext cx="776288" cy="65405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1998" name="Oval 14"/>
          <p:cNvSpPr>
            <a:spLocks noChangeArrowheads="1"/>
          </p:cNvSpPr>
          <p:nvPr/>
        </p:nvSpPr>
        <p:spPr bwMode="auto">
          <a:xfrm>
            <a:off x="4814888" y="3294063"/>
            <a:ext cx="382587" cy="350837"/>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1999" name="Oval 15"/>
          <p:cNvSpPr>
            <a:spLocks noChangeArrowheads="1"/>
          </p:cNvSpPr>
          <p:nvPr/>
        </p:nvSpPr>
        <p:spPr bwMode="auto">
          <a:xfrm>
            <a:off x="5340350" y="3294063"/>
            <a:ext cx="382588" cy="350837"/>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2000" name="Oval 16"/>
          <p:cNvSpPr>
            <a:spLocks noChangeArrowheads="1"/>
          </p:cNvSpPr>
          <p:nvPr/>
        </p:nvSpPr>
        <p:spPr bwMode="auto">
          <a:xfrm>
            <a:off x="5880100" y="3281363"/>
            <a:ext cx="381000" cy="350837"/>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2001" name="Line 17"/>
          <p:cNvSpPr>
            <a:spLocks noChangeShapeType="1"/>
          </p:cNvSpPr>
          <p:nvPr/>
        </p:nvSpPr>
        <p:spPr bwMode="auto">
          <a:xfrm flipH="1">
            <a:off x="5072063" y="2654300"/>
            <a:ext cx="204787" cy="6270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02" name="Line 18"/>
          <p:cNvSpPr>
            <a:spLocks noChangeShapeType="1"/>
          </p:cNvSpPr>
          <p:nvPr/>
        </p:nvSpPr>
        <p:spPr bwMode="auto">
          <a:xfrm>
            <a:off x="5468938" y="2640013"/>
            <a:ext cx="0" cy="6540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03" name="Line 19"/>
          <p:cNvSpPr>
            <a:spLocks noChangeShapeType="1"/>
          </p:cNvSpPr>
          <p:nvPr/>
        </p:nvSpPr>
        <p:spPr bwMode="auto">
          <a:xfrm>
            <a:off x="5630863" y="2614613"/>
            <a:ext cx="315912" cy="6540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04" name="Oval 20"/>
          <p:cNvSpPr>
            <a:spLocks noChangeArrowheads="1"/>
          </p:cNvSpPr>
          <p:nvPr/>
        </p:nvSpPr>
        <p:spPr bwMode="auto">
          <a:xfrm>
            <a:off x="1331913" y="1960563"/>
            <a:ext cx="776287" cy="65405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2005" name="Oval 21"/>
          <p:cNvSpPr>
            <a:spLocks noChangeArrowheads="1"/>
          </p:cNvSpPr>
          <p:nvPr/>
        </p:nvSpPr>
        <p:spPr bwMode="auto">
          <a:xfrm>
            <a:off x="1003300" y="3294063"/>
            <a:ext cx="381000" cy="350837"/>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2006" name="Oval 22"/>
          <p:cNvSpPr>
            <a:spLocks noChangeArrowheads="1"/>
          </p:cNvSpPr>
          <p:nvPr/>
        </p:nvSpPr>
        <p:spPr bwMode="auto">
          <a:xfrm>
            <a:off x="1528763" y="3294063"/>
            <a:ext cx="382587" cy="350837"/>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2007" name="Oval 23"/>
          <p:cNvSpPr>
            <a:spLocks noChangeArrowheads="1"/>
          </p:cNvSpPr>
          <p:nvPr/>
        </p:nvSpPr>
        <p:spPr bwMode="auto">
          <a:xfrm>
            <a:off x="2054225" y="3294063"/>
            <a:ext cx="382588" cy="350837"/>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2008" name="Line 24"/>
          <p:cNvSpPr>
            <a:spLocks noChangeShapeType="1"/>
          </p:cNvSpPr>
          <p:nvPr/>
        </p:nvSpPr>
        <p:spPr bwMode="auto">
          <a:xfrm flipH="1">
            <a:off x="1260475" y="2627313"/>
            <a:ext cx="328613" cy="6540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09" name="Line 25"/>
          <p:cNvSpPr>
            <a:spLocks noChangeShapeType="1"/>
          </p:cNvSpPr>
          <p:nvPr/>
        </p:nvSpPr>
        <p:spPr bwMode="auto">
          <a:xfrm>
            <a:off x="1719263" y="2627313"/>
            <a:ext cx="0" cy="6540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10" name="Line 26"/>
          <p:cNvSpPr>
            <a:spLocks noChangeShapeType="1"/>
          </p:cNvSpPr>
          <p:nvPr/>
        </p:nvSpPr>
        <p:spPr bwMode="auto">
          <a:xfrm>
            <a:off x="1857375" y="2627313"/>
            <a:ext cx="315913" cy="6540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11" name="Line 27"/>
          <p:cNvSpPr>
            <a:spLocks noChangeShapeType="1"/>
          </p:cNvSpPr>
          <p:nvPr/>
        </p:nvSpPr>
        <p:spPr bwMode="auto">
          <a:xfrm flipV="1">
            <a:off x="1989138" y="1408113"/>
            <a:ext cx="1301750" cy="6064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12" name="Rectangle 28"/>
          <p:cNvSpPr>
            <a:spLocks noChangeArrowheads="1"/>
          </p:cNvSpPr>
          <p:nvPr/>
        </p:nvSpPr>
        <p:spPr bwMode="auto">
          <a:xfrm>
            <a:off x="6291263" y="1025525"/>
            <a:ext cx="87312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ctr"/>
            <a:r>
              <a:rPr lang="en-US" altLang="en-US" b="0"/>
              <a:t>Project</a:t>
            </a:r>
          </a:p>
          <a:p>
            <a:pPr algn="ctr"/>
            <a:r>
              <a:rPr lang="en-US" altLang="en-US" b="0"/>
              <a:t> Leader</a:t>
            </a:r>
          </a:p>
        </p:txBody>
      </p:sp>
      <p:sp>
        <p:nvSpPr>
          <p:cNvPr id="42013" name="Rectangle 29"/>
          <p:cNvSpPr>
            <a:spLocks noChangeArrowheads="1"/>
          </p:cNvSpPr>
          <p:nvPr/>
        </p:nvSpPr>
        <p:spPr bwMode="auto">
          <a:xfrm>
            <a:off x="6332538" y="2041525"/>
            <a:ext cx="9556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ctr"/>
            <a:r>
              <a:rPr lang="en-US" altLang="en-US" b="0"/>
              <a:t>Coaches</a:t>
            </a:r>
          </a:p>
        </p:txBody>
      </p:sp>
      <p:sp>
        <p:nvSpPr>
          <p:cNvPr id="42014" name="Rectangle 30"/>
          <p:cNvSpPr>
            <a:spLocks noChangeArrowheads="1"/>
          </p:cNvSpPr>
          <p:nvPr/>
        </p:nvSpPr>
        <p:spPr bwMode="auto">
          <a:xfrm>
            <a:off x="6303963" y="3235325"/>
            <a:ext cx="110172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algn="ctr"/>
            <a:r>
              <a:rPr lang="en-US" altLang="en-US" b="0"/>
              <a:t>Team</a:t>
            </a:r>
          </a:p>
          <a:p>
            <a:pPr algn="ctr"/>
            <a:r>
              <a:rPr lang="en-US" altLang="en-US" b="0"/>
              <a:t> Members</a:t>
            </a:r>
          </a:p>
        </p:txBody>
      </p:sp>
      <p:sp>
        <p:nvSpPr>
          <p:cNvPr id="42015" name="Arc 31"/>
          <p:cNvSpPr>
            <a:spLocks/>
          </p:cNvSpPr>
          <p:nvPr/>
        </p:nvSpPr>
        <p:spPr bwMode="auto">
          <a:xfrm>
            <a:off x="3892550" y="1100138"/>
            <a:ext cx="2260600" cy="22606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lnTo>
                  <a:pt x="0" y="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2016" name="Group 32"/>
          <p:cNvGrpSpPr>
            <a:grpSpLocks/>
          </p:cNvGrpSpPr>
          <p:nvPr/>
        </p:nvGrpSpPr>
        <p:grpSpPr bwMode="auto">
          <a:xfrm>
            <a:off x="4287838" y="3055938"/>
            <a:ext cx="1193800" cy="444500"/>
            <a:chOff x="3033" y="2313"/>
            <a:chExt cx="752" cy="280"/>
          </a:xfrm>
        </p:grpSpPr>
        <p:sp>
          <p:nvSpPr>
            <p:cNvPr id="42040" name="Arc 33"/>
            <p:cNvSpPr>
              <a:spLocks/>
            </p:cNvSpPr>
            <p:nvPr/>
          </p:nvSpPr>
          <p:spPr bwMode="auto">
            <a:xfrm>
              <a:off x="3033" y="2313"/>
              <a:ext cx="376" cy="280"/>
            </a:xfrm>
            <a:custGeom>
              <a:avLst/>
              <a:gdLst>
                <a:gd name="T0" fmla="*/ 0 w 21600"/>
                <a:gd name="T1" fmla="*/ 0 h 21599"/>
                <a:gd name="T2" fmla="*/ 0 w 21600"/>
                <a:gd name="T3" fmla="*/ 0 h 21599"/>
                <a:gd name="T4" fmla="*/ 0 w 21600"/>
                <a:gd name="T5" fmla="*/ 0 h 21599"/>
                <a:gd name="T6" fmla="*/ 0 60000 65536"/>
                <a:gd name="T7" fmla="*/ 0 60000 65536"/>
                <a:gd name="T8" fmla="*/ 0 60000 65536"/>
              </a:gdLst>
              <a:ahLst/>
              <a:cxnLst>
                <a:cxn ang="T6">
                  <a:pos x="T0" y="T1"/>
                </a:cxn>
                <a:cxn ang="T7">
                  <a:pos x="T2" y="T3"/>
                </a:cxn>
                <a:cxn ang="T8">
                  <a:pos x="T4" y="T5"/>
                </a:cxn>
              </a:cxnLst>
              <a:rect l="0" t="0" r="r" b="b"/>
              <a:pathLst>
                <a:path w="21600" h="21599" fill="none" extrusionOk="0">
                  <a:moveTo>
                    <a:pt x="0" y="21598"/>
                  </a:moveTo>
                  <a:cubicBezTo>
                    <a:pt x="0" y="9691"/>
                    <a:pt x="9635" y="30"/>
                    <a:pt x="21542" y="-1"/>
                  </a:cubicBezTo>
                </a:path>
                <a:path w="21600" h="21599" stroke="0" extrusionOk="0">
                  <a:moveTo>
                    <a:pt x="0" y="21598"/>
                  </a:moveTo>
                  <a:cubicBezTo>
                    <a:pt x="0" y="9691"/>
                    <a:pt x="9635" y="30"/>
                    <a:pt x="21542" y="-1"/>
                  </a:cubicBezTo>
                  <a:lnTo>
                    <a:pt x="21600" y="21599"/>
                  </a:lnTo>
                  <a:lnTo>
                    <a:pt x="0"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41" name="Arc 34"/>
            <p:cNvSpPr>
              <a:spLocks/>
            </p:cNvSpPr>
            <p:nvPr/>
          </p:nvSpPr>
          <p:spPr bwMode="auto">
            <a:xfrm>
              <a:off x="3408" y="2313"/>
              <a:ext cx="377" cy="280"/>
            </a:xfrm>
            <a:custGeom>
              <a:avLst/>
              <a:gdLst>
                <a:gd name="T0" fmla="*/ 0 w 21657"/>
                <a:gd name="T1" fmla="*/ 0 h 21600"/>
                <a:gd name="T2" fmla="*/ 0 w 21657"/>
                <a:gd name="T3" fmla="*/ 0 h 21600"/>
                <a:gd name="T4" fmla="*/ 0 w 21657"/>
                <a:gd name="T5" fmla="*/ 0 h 21600"/>
                <a:gd name="T6" fmla="*/ 0 60000 65536"/>
                <a:gd name="T7" fmla="*/ 0 60000 65536"/>
                <a:gd name="T8" fmla="*/ 0 60000 65536"/>
              </a:gdLst>
              <a:ahLst/>
              <a:cxnLst>
                <a:cxn ang="T6">
                  <a:pos x="T0" y="T1"/>
                </a:cxn>
                <a:cxn ang="T7">
                  <a:pos x="T2" y="T3"/>
                </a:cxn>
                <a:cxn ang="T8">
                  <a:pos x="T4" y="T5"/>
                </a:cxn>
              </a:cxnLst>
              <a:rect l="0" t="0" r="r" b="b"/>
              <a:pathLst>
                <a:path w="21657" h="21600" fill="none" extrusionOk="0">
                  <a:moveTo>
                    <a:pt x="-1" y="0"/>
                  </a:moveTo>
                  <a:cubicBezTo>
                    <a:pt x="18" y="0"/>
                    <a:pt x="37" y="0"/>
                    <a:pt x="57" y="0"/>
                  </a:cubicBezTo>
                  <a:cubicBezTo>
                    <a:pt x="11986" y="0"/>
                    <a:pt x="21657" y="9670"/>
                    <a:pt x="21657" y="21600"/>
                  </a:cubicBezTo>
                </a:path>
                <a:path w="21657" h="21600" stroke="0" extrusionOk="0">
                  <a:moveTo>
                    <a:pt x="-1" y="0"/>
                  </a:moveTo>
                  <a:cubicBezTo>
                    <a:pt x="18" y="0"/>
                    <a:pt x="37" y="0"/>
                    <a:pt x="57" y="0"/>
                  </a:cubicBezTo>
                  <a:cubicBezTo>
                    <a:pt x="11986" y="0"/>
                    <a:pt x="21657" y="9670"/>
                    <a:pt x="21657" y="21600"/>
                  </a:cubicBezTo>
                  <a:lnTo>
                    <a:pt x="57" y="21600"/>
                  </a:lnTo>
                  <a:lnTo>
                    <a:pt x="-1" y="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2017" name="Group 35"/>
          <p:cNvGrpSpPr>
            <a:grpSpLocks/>
          </p:cNvGrpSpPr>
          <p:nvPr/>
        </p:nvGrpSpPr>
        <p:grpSpPr bwMode="auto">
          <a:xfrm>
            <a:off x="3983038" y="1836738"/>
            <a:ext cx="1193800" cy="444500"/>
            <a:chOff x="2841" y="1545"/>
            <a:chExt cx="752" cy="280"/>
          </a:xfrm>
        </p:grpSpPr>
        <p:sp>
          <p:nvSpPr>
            <p:cNvPr id="42038" name="Arc 36"/>
            <p:cNvSpPr>
              <a:spLocks/>
            </p:cNvSpPr>
            <p:nvPr/>
          </p:nvSpPr>
          <p:spPr bwMode="auto">
            <a:xfrm>
              <a:off x="2841" y="1545"/>
              <a:ext cx="376" cy="280"/>
            </a:xfrm>
            <a:custGeom>
              <a:avLst/>
              <a:gdLst>
                <a:gd name="T0" fmla="*/ 0 w 21600"/>
                <a:gd name="T1" fmla="*/ 0 h 21599"/>
                <a:gd name="T2" fmla="*/ 0 w 21600"/>
                <a:gd name="T3" fmla="*/ 0 h 21599"/>
                <a:gd name="T4" fmla="*/ 0 w 21600"/>
                <a:gd name="T5" fmla="*/ 0 h 21599"/>
                <a:gd name="T6" fmla="*/ 0 60000 65536"/>
                <a:gd name="T7" fmla="*/ 0 60000 65536"/>
                <a:gd name="T8" fmla="*/ 0 60000 65536"/>
              </a:gdLst>
              <a:ahLst/>
              <a:cxnLst>
                <a:cxn ang="T6">
                  <a:pos x="T0" y="T1"/>
                </a:cxn>
                <a:cxn ang="T7">
                  <a:pos x="T2" y="T3"/>
                </a:cxn>
                <a:cxn ang="T8">
                  <a:pos x="T4" y="T5"/>
                </a:cxn>
              </a:cxnLst>
              <a:rect l="0" t="0" r="r" b="b"/>
              <a:pathLst>
                <a:path w="21600" h="21599" fill="none" extrusionOk="0">
                  <a:moveTo>
                    <a:pt x="0" y="21598"/>
                  </a:moveTo>
                  <a:cubicBezTo>
                    <a:pt x="0" y="9691"/>
                    <a:pt x="9635" y="30"/>
                    <a:pt x="21542" y="-1"/>
                  </a:cubicBezTo>
                </a:path>
                <a:path w="21600" h="21599" stroke="0" extrusionOk="0">
                  <a:moveTo>
                    <a:pt x="0" y="21598"/>
                  </a:moveTo>
                  <a:cubicBezTo>
                    <a:pt x="0" y="9691"/>
                    <a:pt x="9635" y="30"/>
                    <a:pt x="21542" y="-1"/>
                  </a:cubicBezTo>
                  <a:lnTo>
                    <a:pt x="21600" y="21599"/>
                  </a:lnTo>
                  <a:lnTo>
                    <a:pt x="0"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39" name="Arc 37"/>
            <p:cNvSpPr>
              <a:spLocks/>
            </p:cNvSpPr>
            <p:nvPr/>
          </p:nvSpPr>
          <p:spPr bwMode="auto">
            <a:xfrm>
              <a:off x="3216" y="1545"/>
              <a:ext cx="377" cy="280"/>
            </a:xfrm>
            <a:custGeom>
              <a:avLst/>
              <a:gdLst>
                <a:gd name="T0" fmla="*/ 0 w 21657"/>
                <a:gd name="T1" fmla="*/ 0 h 21600"/>
                <a:gd name="T2" fmla="*/ 0 w 21657"/>
                <a:gd name="T3" fmla="*/ 0 h 21600"/>
                <a:gd name="T4" fmla="*/ 0 w 21657"/>
                <a:gd name="T5" fmla="*/ 0 h 21600"/>
                <a:gd name="T6" fmla="*/ 0 60000 65536"/>
                <a:gd name="T7" fmla="*/ 0 60000 65536"/>
                <a:gd name="T8" fmla="*/ 0 60000 65536"/>
              </a:gdLst>
              <a:ahLst/>
              <a:cxnLst>
                <a:cxn ang="T6">
                  <a:pos x="T0" y="T1"/>
                </a:cxn>
                <a:cxn ang="T7">
                  <a:pos x="T2" y="T3"/>
                </a:cxn>
                <a:cxn ang="T8">
                  <a:pos x="T4" y="T5"/>
                </a:cxn>
              </a:cxnLst>
              <a:rect l="0" t="0" r="r" b="b"/>
              <a:pathLst>
                <a:path w="21657" h="21600" fill="none" extrusionOk="0">
                  <a:moveTo>
                    <a:pt x="-1" y="0"/>
                  </a:moveTo>
                  <a:cubicBezTo>
                    <a:pt x="18" y="0"/>
                    <a:pt x="37" y="0"/>
                    <a:pt x="57" y="0"/>
                  </a:cubicBezTo>
                  <a:cubicBezTo>
                    <a:pt x="11986" y="0"/>
                    <a:pt x="21657" y="9670"/>
                    <a:pt x="21657" y="21600"/>
                  </a:cubicBezTo>
                </a:path>
                <a:path w="21657" h="21600" stroke="0" extrusionOk="0">
                  <a:moveTo>
                    <a:pt x="-1" y="0"/>
                  </a:moveTo>
                  <a:cubicBezTo>
                    <a:pt x="18" y="0"/>
                    <a:pt x="37" y="0"/>
                    <a:pt x="57" y="0"/>
                  </a:cubicBezTo>
                  <a:cubicBezTo>
                    <a:pt x="11986" y="0"/>
                    <a:pt x="21657" y="9670"/>
                    <a:pt x="21657" y="21600"/>
                  </a:cubicBezTo>
                  <a:lnTo>
                    <a:pt x="57" y="21600"/>
                  </a:lnTo>
                  <a:lnTo>
                    <a:pt x="-1" y="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667686" name="Group 38"/>
          <p:cNvGrpSpPr>
            <a:grpSpLocks/>
          </p:cNvGrpSpPr>
          <p:nvPr/>
        </p:nvGrpSpPr>
        <p:grpSpPr bwMode="auto">
          <a:xfrm>
            <a:off x="1219200" y="3581400"/>
            <a:ext cx="4922838" cy="401638"/>
            <a:chOff x="3432" y="2617"/>
            <a:chExt cx="769" cy="280"/>
          </a:xfrm>
        </p:grpSpPr>
        <p:sp>
          <p:nvSpPr>
            <p:cNvPr id="42036" name="Arc 39"/>
            <p:cNvSpPr>
              <a:spLocks/>
            </p:cNvSpPr>
            <p:nvPr/>
          </p:nvSpPr>
          <p:spPr bwMode="auto">
            <a:xfrm rot="10800000">
              <a:off x="3432" y="2617"/>
              <a:ext cx="377" cy="280"/>
            </a:xfrm>
            <a:custGeom>
              <a:avLst/>
              <a:gdLst>
                <a:gd name="T0" fmla="*/ 0 w 21657"/>
                <a:gd name="T1" fmla="*/ 0 h 21600"/>
                <a:gd name="T2" fmla="*/ 0 w 21657"/>
                <a:gd name="T3" fmla="*/ 0 h 21600"/>
                <a:gd name="T4" fmla="*/ 0 w 21657"/>
                <a:gd name="T5" fmla="*/ 0 h 21600"/>
                <a:gd name="T6" fmla="*/ 0 60000 65536"/>
                <a:gd name="T7" fmla="*/ 0 60000 65536"/>
                <a:gd name="T8" fmla="*/ 0 60000 65536"/>
              </a:gdLst>
              <a:ahLst/>
              <a:cxnLst>
                <a:cxn ang="T6">
                  <a:pos x="T0" y="T1"/>
                </a:cxn>
                <a:cxn ang="T7">
                  <a:pos x="T2" y="T3"/>
                </a:cxn>
                <a:cxn ang="T8">
                  <a:pos x="T4" y="T5"/>
                </a:cxn>
              </a:cxnLst>
              <a:rect l="0" t="0" r="r" b="b"/>
              <a:pathLst>
                <a:path w="21657" h="21600" fill="none" extrusionOk="0">
                  <a:moveTo>
                    <a:pt x="-1" y="0"/>
                  </a:moveTo>
                  <a:cubicBezTo>
                    <a:pt x="18" y="0"/>
                    <a:pt x="37" y="0"/>
                    <a:pt x="57" y="0"/>
                  </a:cubicBezTo>
                  <a:cubicBezTo>
                    <a:pt x="11986" y="0"/>
                    <a:pt x="21657" y="9670"/>
                    <a:pt x="21657" y="21600"/>
                  </a:cubicBezTo>
                </a:path>
                <a:path w="21657" h="21600" stroke="0" extrusionOk="0">
                  <a:moveTo>
                    <a:pt x="-1" y="0"/>
                  </a:moveTo>
                  <a:cubicBezTo>
                    <a:pt x="18" y="0"/>
                    <a:pt x="37" y="0"/>
                    <a:pt x="57" y="0"/>
                  </a:cubicBezTo>
                  <a:cubicBezTo>
                    <a:pt x="11986" y="0"/>
                    <a:pt x="21657" y="9670"/>
                    <a:pt x="21657" y="21600"/>
                  </a:cubicBezTo>
                  <a:lnTo>
                    <a:pt x="57" y="21600"/>
                  </a:lnTo>
                  <a:lnTo>
                    <a:pt x="-1" y="0"/>
                  </a:lnTo>
                  <a:close/>
                </a:path>
              </a:pathLst>
            </a:custGeom>
            <a:noFill/>
            <a:ln w="25400" cap="rnd">
              <a:solidFill>
                <a:srgbClr val="0000FF"/>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37" name="Arc 40"/>
            <p:cNvSpPr>
              <a:spLocks/>
            </p:cNvSpPr>
            <p:nvPr/>
          </p:nvSpPr>
          <p:spPr bwMode="auto">
            <a:xfrm rot="10800000">
              <a:off x="3825" y="2617"/>
              <a:ext cx="376" cy="280"/>
            </a:xfrm>
            <a:custGeom>
              <a:avLst/>
              <a:gdLst>
                <a:gd name="T0" fmla="*/ 0 w 21600"/>
                <a:gd name="T1" fmla="*/ 0 h 21599"/>
                <a:gd name="T2" fmla="*/ 0 w 21600"/>
                <a:gd name="T3" fmla="*/ 0 h 21599"/>
                <a:gd name="T4" fmla="*/ 0 w 21600"/>
                <a:gd name="T5" fmla="*/ 0 h 21599"/>
                <a:gd name="T6" fmla="*/ 0 60000 65536"/>
                <a:gd name="T7" fmla="*/ 0 60000 65536"/>
                <a:gd name="T8" fmla="*/ 0 60000 65536"/>
              </a:gdLst>
              <a:ahLst/>
              <a:cxnLst>
                <a:cxn ang="T6">
                  <a:pos x="T0" y="T1"/>
                </a:cxn>
                <a:cxn ang="T7">
                  <a:pos x="T2" y="T3"/>
                </a:cxn>
                <a:cxn ang="T8">
                  <a:pos x="T4" y="T5"/>
                </a:cxn>
              </a:cxnLst>
              <a:rect l="0" t="0" r="r" b="b"/>
              <a:pathLst>
                <a:path w="21600" h="21599" fill="none" extrusionOk="0">
                  <a:moveTo>
                    <a:pt x="0" y="21598"/>
                  </a:moveTo>
                  <a:cubicBezTo>
                    <a:pt x="0" y="9691"/>
                    <a:pt x="9635" y="30"/>
                    <a:pt x="21542" y="-1"/>
                  </a:cubicBezTo>
                </a:path>
                <a:path w="21600" h="21599" stroke="0" extrusionOk="0">
                  <a:moveTo>
                    <a:pt x="0" y="21598"/>
                  </a:moveTo>
                  <a:cubicBezTo>
                    <a:pt x="0" y="9691"/>
                    <a:pt x="9635" y="30"/>
                    <a:pt x="21542" y="-1"/>
                  </a:cubicBezTo>
                  <a:lnTo>
                    <a:pt x="21600" y="21599"/>
                  </a:lnTo>
                  <a:lnTo>
                    <a:pt x="0" y="21598"/>
                  </a:lnTo>
                  <a:close/>
                </a:path>
              </a:pathLst>
            </a:custGeom>
            <a:noFill/>
            <a:ln w="25400" cap="rnd">
              <a:solidFill>
                <a:srgbClr val="0000FF"/>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2019" name="Group 41"/>
          <p:cNvGrpSpPr>
            <a:grpSpLocks/>
          </p:cNvGrpSpPr>
          <p:nvPr/>
        </p:nvGrpSpPr>
        <p:grpSpPr bwMode="auto">
          <a:xfrm>
            <a:off x="2330450" y="3614738"/>
            <a:ext cx="1335088" cy="419100"/>
            <a:chOff x="1800" y="2665"/>
            <a:chExt cx="841" cy="264"/>
          </a:xfrm>
        </p:grpSpPr>
        <p:sp>
          <p:nvSpPr>
            <p:cNvPr id="42034" name="Arc 42"/>
            <p:cNvSpPr>
              <a:spLocks/>
            </p:cNvSpPr>
            <p:nvPr/>
          </p:nvSpPr>
          <p:spPr bwMode="auto">
            <a:xfrm rot="10800000">
              <a:off x="1800" y="2665"/>
              <a:ext cx="413" cy="264"/>
            </a:xfrm>
            <a:custGeom>
              <a:avLst/>
              <a:gdLst>
                <a:gd name="T0" fmla="*/ 0 w 21652"/>
                <a:gd name="T1" fmla="*/ 0 h 21600"/>
                <a:gd name="T2" fmla="*/ 0 w 21652"/>
                <a:gd name="T3" fmla="*/ 0 h 21600"/>
                <a:gd name="T4" fmla="*/ 0 w 21652"/>
                <a:gd name="T5" fmla="*/ 0 h 21600"/>
                <a:gd name="T6" fmla="*/ 0 60000 65536"/>
                <a:gd name="T7" fmla="*/ 0 60000 65536"/>
                <a:gd name="T8" fmla="*/ 0 60000 65536"/>
              </a:gdLst>
              <a:ahLst/>
              <a:cxnLst>
                <a:cxn ang="T6">
                  <a:pos x="T0" y="T1"/>
                </a:cxn>
                <a:cxn ang="T7">
                  <a:pos x="T2" y="T3"/>
                </a:cxn>
                <a:cxn ang="T8">
                  <a:pos x="T4" y="T5"/>
                </a:cxn>
              </a:cxnLst>
              <a:rect l="0" t="0" r="r" b="b"/>
              <a:pathLst>
                <a:path w="21652" h="21600" fill="none" extrusionOk="0">
                  <a:moveTo>
                    <a:pt x="-1" y="0"/>
                  </a:moveTo>
                  <a:cubicBezTo>
                    <a:pt x="17" y="0"/>
                    <a:pt x="34" y="0"/>
                    <a:pt x="52" y="0"/>
                  </a:cubicBezTo>
                  <a:cubicBezTo>
                    <a:pt x="11981" y="0"/>
                    <a:pt x="21652" y="9670"/>
                    <a:pt x="21652" y="21600"/>
                  </a:cubicBezTo>
                </a:path>
                <a:path w="21652" h="21600" stroke="0" extrusionOk="0">
                  <a:moveTo>
                    <a:pt x="-1" y="0"/>
                  </a:moveTo>
                  <a:cubicBezTo>
                    <a:pt x="17" y="0"/>
                    <a:pt x="34" y="0"/>
                    <a:pt x="52" y="0"/>
                  </a:cubicBezTo>
                  <a:cubicBezTo>
                    <a:pt x="11981" y="0"/>
                    <a:pt x="21652" y="9670"/>
                    <a:pt x="21652" y="21600"/>
                  </a:cubicBezTo>
                  <a:lnTo>
                    <a:pt x="52" y="21600"/>
                  </a:lnTo>
                  <a:lnTo>
                    <a:pt x="-1" y="0"/>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35" name="Arc 43"/>
            <p:cNvSpPr>
              <a:spLocks/>
            </p:cNvSpPr>
            <p:nvPr/>
          </p:nvSpPr>
          <p:spPr bwMode="auto">
            <a:xfrm rot="10800000">
              <a:off x="2229" y="2665"/>
              <a:ext cx="412" cy="264"/>
            </a:xfrm>
            <a:custGeom>
              <a:avLst/>
              <a:gdLst>
                <a:gd name="T0" fmla="*/ 0 w 21600"/>
                <a:gd name="T1" fmla="*/ 0 h 21599"/>
                <a:gd name="T2" fmla="*/ 0 w 21600"/>
                <a:gd name="T3" fmla="*/ 0 h 21599"/>
                <a:gd name="T4" fmla="*/ 0 w 21600"/>
                <a:gd name="T5" fmla="*/ 0 h 21599"/>
                <a:gd name="T6" fmla="*/ 0 60000 65536"/>
                <a:gd name="T7" fmla="*/ 0 60000 65536"/>
                <a:gd name="T8" fmla="*/ 0 60000 65536"/>
              </a:gdLst>
              <a:ahLst/>
              <a:cxnLst>
                <a:cxn ang="T6">
                  <a:pos x="T0" y="T1"/>
                </a:cxn>
                <a:cxn ang="T7">
                  <a:pos x="T2" y="T3"/>
                </a:cxn>
                <a:cxn ang="T8">
                  <a:pos x="T4" y="T5"/>
                </a:cxn>
              </a:cxnLst>
              <a:rect l="0" t="0" r="r" b="b"/>
              <a:pathLst>
                <a:path w="21600" h="21599" fill="none" extrusionOk="0">
                  <a:moveTo>
                    <a:pt x="0" y="21598"/>
                  </a:moveTo>
                  <a:cubicBezTo>
                    <a:pt x="0" y="9689"/>
                    <a:pt x="9638" y="27"/>
                    <a:pt x="21547" y="-1"/>
                  </a:cubicBezTo>
                </a:path>
                <a:path w="21600" h="21599" stroke="0" extrusionOk="0">
                  <a:moveTo>
                    <a:pt x="0" y="21598"/>
                  </a:moveTo>
                  <a:cubicBezTo>
                    <a:pt x="0" y="9689"/>
                    <a:pt x="9638" y="27"/>
                    <a:pt x="21547" y="-1"/>
                  </a:cubicBezTo>
                  <a:lnTo>
                    <a:pt x="21600" y="21599"/>
                  </a:lnTo>
                  <a:lnTo>
                    <a:pt x="0" y="21598"/>
                  </a:lnTo>
                  <a:close/>
                </a:path>
              </a:pathLst>
            </a:custGeom>
            <a:noFill/>
            <a:ln w="25400" cap="rnd">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2020" name="Rectangle 44"/>
          <p:cNvSpPr>
            <a:spLocks noChangeArrowheads="1"/>
          </p:cNvSpPr>
          <p:nvPr/>
        </p:nvSpPr>
        <p:spPr bwMode="auto">
          <a:xfrm>
            <a:off x="566738" y="5389563"/>
            <a:ext cx="7677150" cy="831850"/>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none" lIns="90487" tIns="44450" rIns="90487" bIns="44450">
            <a:spAutoFit/>
          </a:bodyPr>
          <a:lstStyle/>
          <a:p>
            <a:pPr algn="ctr"/>
            <a:r>
              <a:rPr lang="en-US" altLang="en-US" sz="2400" b="0">
                <a:solidFill>
                  <a:schemeClr val="bg1"/>
                </a:solidFill>
              </a:rPr>
              <a:t>Basis of the structure:</a:t>
            </a:r>
          </a:p>
          <a:p>
            <a:pPr algn="ctr"/>
            <a:r>
              <a:rPr lang="en-US" altLang="en-US" sz="2400" b="0">
                <a:solidFill>
                  <a:schemeClr val="bg1"/>
                </a:solidFill>
              </a:rPr>
              <a:t>Nonlinear information flow across  dynamically formed units</a:t>
            </a:r>
          </a:p>
        </p:txBody>
      </p:sp>
      <p:sp>
        <p:nvSpPr>
          <p:cNvPr id="42021" name="Rectangle 45"/>
          <p:cNvSpPr>
            <a:spLocks noChangeArrowheads="1"/>
          </p:cNvSpPr>
          <p:nvPr/>
        </p:nvSpPr>
        <p:spPr bwMode="auto">
          <a:xfrm>
            <a:off x="779463" y="2638425"/>
            <a:ext cx="174942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t>Subsystem Team</a:t>
            </a:r>
          </a:p>
        </p:txBody>
      </p:sp>
      <p:sp>
        <p:nvSpPr>
          <p:cNvPr id="42022" name="Oval 46"/>
          <p:cNvSpPr>
            <a:spLocks noChangeArrowheads="1"/>
          </p:cNvSpPr>
          <p:nvPr/>
        </p:nvSpPr>
        <p:spPr bwMode="auto">
          <a:xfrm>
            <a:off x="2730500" y="1828800"/>
            <a:ext cx="1879600" cy="22225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2023" name="Oval 47"/>
          <p:cNvSpPr>
            <a:spLocks noChangeArrowheads="1"/>
          </p:cNvSpPr>
          <p:nvPr/>
        </p:nvSpPr>
        <p:spPr bwMode="auto">
          <a:xfrm>
            <a:off x="4711700" y="1854200"/>
            <a:ext cx="1701800" cy="22225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2024" name="Oval 48"/>
          <p:cNvSpPr>
            <a:spLocks noChangeArrowheads="1"/>
          </p:cNvSpPr>
          <p:nvPr/>
        </p:nvSpPr>
        <p:spPr bwMode="auto">
          <a:xfrm>
            <a:off x="762000" y="1879600"/>
            <a:ext cx="1879600" cy="222250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2025" name="Rectangle 49"/>
          <p:cNvSpPr>
            <a:spLocks noChangeArrowheads="1"/>
          </p:cNvSpPr>
          <p:nvPr/>
        </p:nvSpPr>
        <p:spPr bwMode="auto">
          <a:xfrm>
            <a:off x="2849563" y="2689225"/>
            <a:ext cx="174942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t>Subsystem Team</a:t>
            </a:r>
          </a:p>
        </p:txBody>
      </p:sp>
      <p:sp>
        <p:nvSpPr>
          <p:cNvPr id="42026" name="Rectangle 50"/>
          <p:cNvSpPr>
            <a:spLocks noChangeArrowheads="1"/>
          </p:cNvSpPr>
          <p:nvPr/>
        </p:nvSpPr>
        <p:spPr bwMode="auto">
          <a:xfrm>
            <a:off x="4703763" y="2714625"/>
            <a:ext cx="174942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r>
              <a:rPr lang="en-US" altLang="en-US" b="0"/>
              <a:t>Subsystem Team</a:t>
            </a:r>
          </a:p>
        </p:txBody>
      </p:sp>
      <p:sp>
        <p:nvSpPr>
          <p:cNvPr id="667699" name="Text Box 51"/>
          <p:cNvSpPr txBox="1">
            <a:spLocks noChangeArrowheads="1"/>
          </p:cNvSpPr>
          <p:nvPr/>
        </p:nvSpPr>
        <p:spPr bwMode="auto">
          <a:xfrm>
            <a:off x="1009650" y="3276600"/>
            <a:ext cx="3619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en-US" altLang="en-US">
                <a:solidFill>
                  <a:srgbClr val="FF3300"/>
                </a:solidFill>
                <a:latin typeface="Palatino" pitchFamily="18" charset="0"/>
              </a:rPr>
              <a:t>A</a:t>
            </a:r>
          </a:p>
        </p:txBody>
      </p:sp>
      <p:sp>
        <p:nvSpPr>
          <p:cNvPr id="667700" name="Text Box 52"/>
          <p:cNvSpPr txBox="1">
            <a:spLocks noChangeArrowheads="1"/>
          </p:cNvSpPr>
          <p:nvPr/>
        </p:nvSpPr>
        <p:spPr bwMode="auto">
          <a:xfrm>
            <a:off x="5911850" y="3276600"/>
            <a:ext cx="3365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en-US" altLang="en-US">
                <a:solidFill>
                  <a:srgbClr val="FF3300"/>
                </a:solidFill>
                <a:latin typeface="Palatino" pitchFamily="18" charset="0"/>
              </a:rPr>
              <a:t>B</a:t>
            </a:r>
          </a:p>
        </p:txBody>
      </p:sp>
      <p:sp>
        <p:nvSpPr>
          <p:cNvPr id="667701" name="Text Box 53"/>
          <p:cNvSpPr txBox="1">
            <a:spLocks noChangeArrowheads="1"/>
          </p:cNvSpPr>
          <p:nvPr/>
        </p:nvSpPr>
        <p:spPr bwMode="auto">
          <a:xfrm>
            <a:off x="990600" y="4876800"/>
            <a:ext cx="65341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en-US" altLang="en-US">
                <a:solidFill>
                  <a:srgbClr val="0000FF"/>
                </a:solidFill>
                <a:latin typeface="Palatino" pitchFamily="18" charset="0"/>
              </a:rPr>
              <a:t>B wants to make sure A does a certain change: Decision Flow</a:t>
            </a:r>
            <a:endParaRPr lang="en-US" altLang="en-US">
              <a:solidFill>
                <a:srgbClr val="FF3300"/>
              </a:solidFill>
              <a:latin typeface="Palatino" pitchFamily="18" charset="0"/>
            </a:endParaRPr>
          </a:p>
        </p:txBody>
      </p:sp>
      <p:grpSp>
        <p:nvGrpSpPr>
          <p:cNvPr id="667702" name="Group 54"/>
          <p:cNvGrpSpPr>
            <a:grpSpLocks/>
          </p:cNvGrpSpPr>
          <p:nvPr/>
        </p:nvGrpSpPr>
        <p:grpSpPr bwMode="auto">
          <a:xfrm>
            <a:off x="1143000" y="3581400"/>
            <a:ext cx="4953000" cy="554038"/>
            <a:chOff x="3432" y="2617"/>
            <a:chExt cx="769" cy="280"/>
          </a:xfrm>
        </p:grpSpPr>
        <p:sp>
          <p:nvSpPr>
            <p:cNvPr id="42032" name="Arc 55"/>
            <p:cNvSpPr>
              <a:spLocks/>
            </p:cNvSpPr>
            <p:nvPr/>
          </p:nvSpPr>
          <p:spPr bwMode="auto">
            <a:xfrm rot="10800000">
              <a:off x="3432" y="2617"/>
              <a:ext cx="377" cy="280"/>
            </a:xfrm>
            <a:custGeom>
              <a:avLst/>
              <a:gdLst>
                <a:gd name="T0" fmla="*/ 0 w 21657"/>
                <a:gd name="T1" fmla="*/ 0 h 21600"/>
                <a:gd name="T2" fmla="*/ 0 w 21657"/>
                <a:gd name="T3" fmla="*/ 0 h 21600"/>
                <a:gd name="T4" fmla="*/ 0 w 21657"/>
                <a:gd name="T5" fmla="*/ 0 h 21600"/>
                <a:gd name="T6" fmla="*/ 0 60000 65536"/>
                <a:gd name="T7" fmla="*/ 0 60000 65536"/>
                <a:gd name="T8" fmla="*/ 0 60000 65536"/>
              </a:gdLst>
              <a:ahLst/>
              <a:cxnLst>
                <a:cxn ang="T6">
                  <a:pos x="T0" y="T1"/>
                </a:cxn>
                <a:cxn ang="T7">
                  <a:pos x="T2" y="T3"/>
                </a:cxn>
                <a:cxn ang="T8">
                  <a:pos x="T4" y="T5"/>
                </a:cxn>
              </a:cxnLst>
              <a:rect l="0" t="0" r="r" b="b"/>
              <a:pathLst>
                <a:path w="21657" h="21600" fill="none" extrusionOk="0">
                  <a:moveTo>
                    <a:pt x="-1" y="0"/>
                  </a:moveTo>
                  <a:cubicBezTo>
                    <a:pt x="18" y="0"/>
                    <a:pt x="37" y="0"/>
                    <a:pt x="57" y="0"/>
                  </a:cubicBezTo>
                  <a:cubicBezTo>
                    <a:pt x="11986" y="0"/>
                    <a:pt x="21657" y="9670"/>
                    <a:pt x="21657" y="21600"/>
                  </a:cubicBezTo>
                </a:path>
                <a:path w="21657" h="21600" stroke="0" extrusionOk="0">
                  <a:moveTo>
                    <a:pt x="-1" y="0"/>
                  </a:moveTo>
                  <a:cubicBezTo>
                    <a:pt x="18" y="0"/>
                    <a:pt x="37" y="0"/>
                    <a:pt x="57" y="0"/>
                  </a:cubicBezTo>
                  <a:cubicBezTo>
                    <a:pt x="11986" y="0"/>
                    <a:pt x="21657" y="9670"/>
                    <a:pt x="21657" y="21600"/>
                  </a:cubicBezTo>
                  <a:lnTo>
                    <a:pt x="57" y="21600"/>
                  </a:lnTo>
                  <a:lnTo>
                    <a:pt x="-1" y="0"/>
                  </a:lnTo>
                  <a:close/>
                </a:path>
              </a:pathLst>
            </a:custGeom>
            <a:noFill/>
            <a:ln w="25400" cap="rnd">
              <a:solidFill>
                <a:srgbClr val="FF33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033" name="Arc 56"/>
            <p:cNvSpPr>
              <a:spLocks/>
            </p:cNvSpPr>
            <p:nvPr/>
          </p:nvSpPr>
          <p:spPr bwMode="auto">
            <a:xfrm rot="10800000">
              <a:off x="3825" y="2617"/>
              <a:ext cx="376" cy="280"/>
            </a:xfrm>
            <a:custGeom>
              <a:avLst/>
              <a:gdLst>
                <a:gd name="T0" fmla="*/ 0 w 21600"/>
                <a:gd name="T1" fmla="*/ 0 h 21599"/>
                <a:gd name="T2" fmla="*/ 0 w 21600"/>
                <a:gd name="T3" fmla="*/ 0 h 21599"/>
                <a:gd name="T4" fmla="*/ 0 w 21600"/>
                <a:gd name="T5" fmla="*/ 0 h 21599"/>
                <a:gd name="T6" fmla="*/ 0 60000 65536"/>
                <a:gd name="T7" fmla="*/ 0 60000 65536"/>
                <a:gd name="T8" fmla="*/ 0 60000 65536"/>
              </a:gdLst>
              <a:ahLst/>
              <a:cxnLst>
                <a:cxn ang="T6">
                  <a:pos x="T0" y="T1"/>
                </a:cxn>
                <a:cxn ang="T7">
                  <a:pos x="T2" y="T3"/>
                </a:cxn>
                <a:cxn ang="T8">
                  <a:pos x="T4" y="T5"/>
                </a:cxn>
              </a:cxnLst>
              <a:rect l="0" t="0" r="r" b="b"/>
              <a:pathLst>
                <a:path w="21600" h="21599" fill="none" extrusionOk="0">
                  <a:moveTo>
                    <a:pt x="0" y="21598"/>
                  </a:moveTo>
                  <a:cubicBezTo>
                    <a:pt x="0" y="9691"/>
                    <a:pt x="9635" y="30"/>
                    <a:pt x="21542" y="-1"/>
                  </a:cubicBezTo>
                </a:path>
                <a:path w="21600" h="21599" stroke="0" extrusionOk="0">
                  <a:moveTo>
                    <a:pt x="0" y="21598"/>
                  </a:moveTo>
                  <a:cubicBezTo>
                    <a:pt x="0" y="9691"/>
                    <a:pt x="9635" y="30"/>
                    <a:pt x="21542" y="-1"/>
                  </a:cubicBezTo>
                  <a:lnTo>
                    <a:pt x="21600" y="21599"/>
                  </a:lnTo>
                  <a:lnTo>
                    <a:pt x="0" y="21598"/>
                  </a:lnTo>
                  <a:close/>
                </a:path>
              </a:pathLst>
            </a:custGeom>
            <a:noFill/>
            <a:ln w="25400" cap="rnd">
              <a:solidFill>
                <a:srgbClr val="FF33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67705" name="Text Box 57"/>
          <p:cNvSpPr txBox="1">
            <a:spLocks noChangeArrowheads="1"/>
          </p:cNvSpPr>
          <p:nvPr/>
        </p:nvSpPr>
        <p:spPr bwMode="auto">
          <a:xfrm>
            <a:off x="914400" y="4572000"/>
            <a:ext cx="46164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en-US" altLang="en-US">
                <a:solidFill>
                  <a:srgbClr val="FF3300"/>
                </a:solidFill>
                <a:latin typeface="Palatino" pitchFamily="18" charset="0"/>
              </a:rPr>
              <a:t>A wants to talk to B: Communication Flow</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grpId="0" nodeType="clickEffect">
                                  <p:stCondLst>
                                    <p:cond delay="0"/>
                                  </p:stCondLst>
                                  <p:childTnLst>
                                    <p:set>
                                      <p:cBhvr>
                                        <p:cTn id="6" dur="1" fill="hold">
                                          <p:stCondLst>
                                            <p:cond delay="0"/>
                                          </p:stCondLst>
                                        </p:cTn>
                                        <p:tgtEl>
                                          <p:spTgt spid="667699"/>
                                        </p:tgtEl>
                                        <p:attrNameLst>
                                          <p:attrName>style.visibility</p:attrName>
                                        </p:attrNameLst>
                                      </p:cBhvr>
                                      <p:to>
                                        <p:strVal val="visible"/>
                                      </p:to>
                                    </p:set>
                                    <p:anim calcmode="lin" valueType="num">
                                      <p:cBhvr additive="base">
                                        <p:cTn id="7" dur="500" fill="hold"/>
                                        <p:tgtEl>
                                          <p:spTgt spid="667699"/>
                                        </p:tgtEl>
                                        <p:attrNameLst>
                                          <p:attrName>ppt_x</p:attrName>
                                        </p:attrNameLst>
                                      </p:cBhvr>
                                      <p:tavLst>
                                        <p:tav tm="0">
                                          <p:val>
                                            <p:strVal val="0-#ppt_w/2"/>
                                          </p:val>
                                        </p:tav>
                                        <p:tav tm="100000">
                                          <p:val>
                                            <p:strVal val="#ppt_x"/>
                                          </p:val>
                                        </p:tav>
                                      </p:tavLst>
                                    </p:anim>
                                    <p:anim calcmode="lin" valueType="num">
                                      <p:cBhvr additive="base">
                                        <p:cTn id="8" dur="500" fill="hold"/>
                                        <p:tgtEl>
                                          <p:spTgt spid="667699"/>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3" fill="hold" grpId="0" nodeType="clickEffect">
                                  <p:stCondLst>
                                    <p:cond delay="0"/>
                                  </p:stCondLst>
                                  <p:childTnLst>
                                    <p:set>
                                      <p:cBhvr>
                                        <p:cTn id="12" dur="1" fill="hold">
                                          <p:stCondLst>
                                            <p:cond delay="0"/>
                                          </p:stCondLst>
                                        </p:cTn>
                                        <p:tgtEl>
                                          <p:spTgt spid="667700"/>
                                        </p:tgtEl>
                                        <p:attrNameLst>
                                          <p:attrName>style.visibility</p:attrName>
                                        </p:attrNameLst>
                                      </p:cBhvr>
                                      <p:to>
                                        <p:strVal val="visible"/>
                                      </p:to>
                                    </p:set>
                                    <p:anim calcmode="lin" valueType="num">
                                      <p:cBhvr additive="base">
                                        <p:cTn id="13" dur="500" fill="hold"/>
                                        <p:tgtEl>
                                          <p:spTgt spid="667700"/>
                                        </p:tgtEl>
                                        <p:attrNameLst>
                                          <p:attrName>ppt_x</p:attrName>
                                        </p:attrNameLst>
                                      </p:cBhvr>
                                      <p:tavLst>
                                        <p:tav tm="0">
                                          <p:val>
                                            <p:strVal val="1+#ppt_w/2"/>
                                          </p:val>
                                        </p:tav>
                                        <p:tav tm="100000">
                                          <p:val>
                                            <p:strVal val="#ppt_x"/>
                                          </p:val>
                                        </p:tav>
                                      </p:tavLst>
                                    </p:anim>
                                    <p:anim calcmode="lin" valueType="num">
                                      <p:cBhvr additive="base">
                                        <p:cTn id="14" dur="500" fill="hold"/>
                                        <p:tgtEl>
                                          <p:spTgt spid="667700"/>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67705">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667702"/>
                                        </p:tgtEl>
                                        <p:attrNameLst>
                                          <p:attrName>style.visibility</p:attrName>
                                        </p:attrNameLst>
                                      </p:cBhvr>
                                      <p:to>
                                        <p:strVal val="visible"/>
                                      </p:to>
                                    </p:set>
                                    <p:animEffect transition="in" filter="wipe(left)">
                                      <p:cBhvr>
                                        <p:cTn id="23" dur="500"/>
                                        <p:tgtEl>
                                          <p:spTgt spid="66770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667701">
                                            <p:txEl>
                                              <p:pRg st="0" end="0"/>
                                            </p:txEl>
                                          </p:spTgt>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667686"/>
                                        </p:tgtEl>
                                        <p:attrNameLst>
                                          <p:attrName>style.visibility</p:attrName>
                                        </p:attrNameLst>
                                      </p:cBhvr>
                                      <p:to>
                                        <p:strVal val="visible"/>
                                      </p:to>
                                    </p:set>
                                    <p:animEffect transition="in" filter="wipe(right)">
                                      <p:cBhvr>
                                        <p:cTn id="32" dur="500"/>
                                        <p:tgtEl>
                                          <p:spTgt spid="667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7699" grpId="0" autoUpdateAnimBg="0"/>
      <p:bldP spid="667700" grpId="0" autoUpdateAnimBg="0"/>
      <p:bldP spid="667701" grpId="0" build="p" autoUpdateAnimBg="0"/>
      <p:bldP spid="667705"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p:spPr>
        <p:txBody>
          <a:bodyPr/>
          <a:lstStyle/>
          <a:p>
            <a:r>
              <a:rPr lang="en-US" altLang="en-US" smtClean="0"/>
              <a:t>A Nonhierarchical Structure: </a:t>
            </a:r>
            <a:br>
              <a:rPr lang="en-US" altLang="en-US" smtClean="0"/>
            </a:br>
            <a:r>
              <a:rPr lang="en-US" altLang="en-US" smtClean="0"/>
              <a:t>Egoless Programming [Weinberg 1971]</a:t>
            </a:r>
          </a:p>
        </p:txBody>
      </p:sp>
      <p:sp>
        <p:nvSpPr>
          <p:cNvPr id="44035" name="Freeform 3"/>
          <p:cNvSpPr>
            <a:spLocks/>
          </p:cNvSpPr>
          <p:nvPr/>
        </p:nvSpPr>
        <p:spPr bwMode="auto">
          <a:xfrm>
            <a:off x="7467600" y="2806700"/>
            <a:ext cx="14288" cy="26988"/>
          </a:xfrm>
          <a:custGeom>
            <a:avLst/>
            <a:gdLst>
              <a:gd name="T0" fmla="*/ 0 w 9"/>
              <a:gd name="T1" fmla="*/ 2147483646 h 17"/>
              <a:gd name="T2" fmla="*/ 2147483646 w 9"/>
              <a:gd name="T3" fmla="*/ 2147483646 h 17"/>
              <a:gd name="T4" fmla="*/ 2147483646 w 9"/>
              <a:gd name="T5" fmla="*/ 2147483646 h 17"/>
              <a:gd name="T6" fmla="*/ 2147483646 w 9"/>
              <a:gd name="T7" fmla="*/ 0 h 17"/>
              <a:gd name="T8" fmla="*/ 0 w 9"/>
              <a:gd name="T9" fmla="*/ 214748364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6"/>
                </a:moveTo>
                <a:lnTo>
                  <a:pt x="4" y="16"/>
                </a:lnTo>
                <a:lnTo>
                  <a:pt x="8" y="5"/>
                </a:lnTo>
                <a:lnTo>
                  <a:pt x="4" y="0"/>
                </a:lnTo>
                <a:lnTo>
                  <a:pt x="0" y="16"/>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6" name="Freeform 4"/>
          <p:cNvSpPr>
            <a:spLocks/>
          </p:cNvSpPr>
          <p:nvPr/>
        </p:nvSpPr>
        <p:spPr bwMode="auto">
          <a:xfrm>
            <a:off x="5397500" y="1790700"/>
            <a:ext cx="26988" cy="39688"/>
          </a:xfrm>
          <a:custGeom>
            <a:avLst/>
            <a:gdLst>
              <a:gd name="T0" fmla="*/ 2147483646 w 17"/>
              <a:gd name="T1" fmla="*/ 2147483646 h 25"/>
              <a:gd name="T2" fmla="*/ 0 w 17"/>
              <a:gd name="T3" fmla="*/ 2147483646 h 25"/>
              <a:gd name="T4" fmla="*/ 2147483646 w 17"/>
              <a:gd name="T5" fmla="*/ 0 h 25"/>
              <a:gd name="T6" fmla="*/ 2147483646 w 17"/>
              <a:gd name="T7" fmla="*/ 2147483646 h 25"/>
              <a:gd name="T8" fmla="*/ 2147483646 w 17"/>
              <a:gd name="T9" fmla="*/ 2147483646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5">
                <a:moveTo>
                  <a:pt x="11" y="24"/>
                </a:moveTo>
                <a:lnTo>
                  <a:pt x="0" y="18"/>
                </a:lnTo>
                <a:lnTo>
                  <a:pt x="11" y="0"/>
                </a:lnTo>
                <a:lnTo>
                  <a:pt x="16" y="6"/>
                </a:lnTo>
                <a:lnTo>
                  <a:pt x="11" y="24"/>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7" name="Freeform 5"/>
          <p:cNvSpPr>
            <a:spLocks/>
          </p:cNvSpPr>
          <p:nvPr/>
        </p:nvSpPr>
        <p:spPr bwMode="auto">
          <a:xfrm>
            <a:off x="5422900" y="1803400"/>
            <a:ext cx="2046288" cy="1030288"/>
          </a:xfrm>
          <a:custGeom>
            <a:avLst/>
            <a:gdLst>
              <a:gd name="T0" fmla="*/ 2147483646 w 1289"/>
              <a:gd name="T1" fmla="*/ 2147483646 h 649"/>
              <a:gd name="T2" fmla="*/ 2147483646 w 1289"/>
              <a:gd name="T3" fmla="*/ 2147483646 h 649"/>
              <a:gd name="T4" fmla="*/ 2147483646 w 1289"/>
              <a:gd name="T5" fmla="*/ 0 h 649"/>
              <a:gd name="T6" fmla="*/ 0 w 1289"/>
              <a:gd name="T7" fmla="*/ 2147483646 h 649"/>
              <a:gd name="T8" fmla="*/ 2147483646 w 1289"/>
              <a:gd name="T9" fmla="*/ 2147483646 h 6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9" h="649">
                <a:moveTo>
                  <a:pt x="1280" y="648"/>
                </a:moveTo>
                <a:lnTo>
                  <a:pt x="1288" y="624"/>
                </a:lnTo>
                <a:lnTo>
                  <a:pt x="8" y="0"/>
                </a:lnTo>
                <a:lnTo>
                  <a:pt x="0" y="24"/>
                </a:lnTo>
                <a:lnTo>
                  <a:pt x="1280" y="648"/>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8" name="Freeform 6"/>
          <p:cNvSpPr>
            <a:spLocks/>
          </p:cNvSpPr>
          <p:nvPr/>
        </p:nvSpPr>
        <p:spPr bwMode="auto">
          <a:xfrm>
            <a:off x="7518400" y="3378200"/>
            <a:ext cx="26988" cy="26988"/>
          </a:xfrm>
          <a:custGeom>
            <a:avLst/>
            <a:gdLst>
              <a:gd name="T0" fmla="*/ 2147483646 w 17"/>
              <a:gd name="T1" fmla="*/ 2147483646 h 17"/>
              <a:gd name="T2" fmla="*/ 2147483646 w 17"/>
              <a:gd name="T3" fmla="*/ 2147483646 h 17"/>
              <a:gd name="T4" fmla="*/ 2147483646 w 17"/>
              <a:gd name="T5" fmla="*/ 0 h 17"/>
              <a:gd name="T6" fmla="*/ 0 w 17"/>
              <a:gd name="T7" fmla="*/ 2147483646 h 17"/>
              <a:gd name="T8" fmla="*/ 2147483646 w 17"/>
              <a:gd name="T9" fmla="*/ 214748364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1" y="16"/>
                </a:moveTo>
                <a:lnTo>
                  <a:pt x="16" y="16"/>
                </a:lnTo>
                <a:lnTo>
                  <a:pt x="5" y="0"/>
                </a:lnTo>
                <a:lnTo>
                  <a:pt x="0" y="5"/>
                </a:lnTo>
                <a:lnTo>
                  <a:pt x="11" y="16"/>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9" name="Freeform 7"/>
          <p:cNvSpPr>
            <a:spLocks/>
          </p:cNvSpPr>
          <p:nvPr/>
        </p:nvSpPr>
        <p:spPr bwMode="auto">
          <a:xfrm>
            <a:off x="5613400" y="4724400"/>
            <a:ext cx="26988" cy="26988"/>
          </a:xfrm>
          <a:custGeom>
            <a:avLst/>
            <a:gdLst>
              <a:gd name="T0" fmla="*/ 2147483646 w 17"/>
              <a:gd name="T1" fmla="*/ 2147483646 h 17"/>
              <a:gd name="T2" fmla="*/ 2147483646 w 17"/>
              <a:gd name="T3" fmla="*/ 2147483646 h 17"/>
              <a:gd name="T4" fmla="*/ 0 w 17"/>
              <a:gd name="T5" fmla="*/ 2147483646 h 17"/>
              <a:gd name="T6" fmla="*/ 2147483646 w 17"/>
              <a:gd name="T7" fmla="*/ 0 h 17"/>
              <a:gd name="T8" fmla="*/ 2147483646 w 17"/>
              <a:gd name="T9" fmla="*/ 214748364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1"/>
                </a:moveTo>
                <a:lnTo>
                  <a:pt x="11" y="16"/>
                </a:lnTo>
                <a:lnTo>
                  <a:pt x="0" y="5"/>
                </a:lnTo>
                <a:lnTo>
                  <a:pt x="5" y="0"/>
                </a:lnTo>
                <a:lnTo>
                  <a:pt x="16" y="11"/>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0" name="Freeform 8"/>
          <p:cNvSpPr>
            <a:spLocks/>
          </p:cNvSpPr>
          <p:nvPr/>
        </p:nvSpPr>
        <p:spPr bwMode="auto">
          <a:xfrm>
            <a:off x="5626100" y="3390900"/>
            <a:ext cx="1906588" cy="1347788"/>
          </a:xfrm>
          <a:custGeom>
            <a:avLst/>
            <a:gdLst>
              <a:gd name="T0" fmla="*/ 2147483646 w 1201"/>
              <a:gd name="T1" fmla="*/ 2147483646 h 849"/>
              <a:gd name="T2" fmla="*/ 2147483646 w 1201"/>
              <a:gd name="T3" fmla="*/ 0 h 849"/>
              <a:gd name="T4" fmla="*/ 0 w 1201"/>
              <a:gd name="T5" fmla="*/ 2147483646 h 849"/>
              <a:gd name="T6" fmla="*/ 2147483646 w 1201"/>
              <a:gd name="T7" fmla="*/ 2147483646 h 849"/>
              <a:gd name="T8" fmla="*/ 2147483646 w 1201"/>
              <a:gd name="T9" fmla="*/ 2147483646 h 8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1" h="849">
                <a:moveTo>
                  <a:pt x="1200" y="16"/>
                </a:moveTo>
                <a:lnTo>
                  <a:pt x="1184" y="0"/>
                </a:lnTo>
                <a:lnTo>
                  <a:pt x="0" y="832"/>
                </a:lnTo>
                <a:lnTo>
                  <a:pt x="16" y="848"/>
                </a:lnTo>
                <a:lnTo>
                  <a:pt x="1200" y="16"/>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1" name="Freeform 9"/>
          <p:cNvSpPr>
            <a:spLocks/>
          </p:cNvSpPr>
          <p:nvPr/>
        </p:nvSpPr>
        <p:spPr bwMode="auto">
          <a:xfrm>
            <a:off x="4495800" y="2019300"/>
            <a:ext cx="26988" cy="26988"/>
          </a:xfrm>
          <a:custGeom>
            <a:avLst/>
            <a:gdLst>
              <a:gd name="T0" fmla="*/ 2147483646 w 17"/>
              <a:gd name="T1" fmla="*/ 2147483646 h 17"/>
              <a:gd name="T2" fmla="*/ 2147483646 w 17"/>
              <a:gd name="T3" fmla="*/ 2147483646 h 17"/>
              <a:gd name="T4" fmla="*/ 2147483646 w 17"/>
              <a:gd name="T5" fmla="*/ 0 h 17"/>
              <a:gd name="T6" fmla="*/ 0 w 17"/>
              <a:gd name="T7" fmla="*/ 2147483646 h 17"/>
              <a:gd name="T8" fmla="*/ 2147483646 w 17"/>
              <a:gd name="T9" fmla="*/ 214748364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16"/>
                </a:moveTo>
                <a:lnTo>
                  <a:pt x="16" y="5"/>
                </a:lnTo>
                <a:lnTo>
                  <a:pt x="5" y="0"/>
                </a:lnTo>
                <a:lnTo>
                  <a:pt x="0" y="5"/>
                </a:lnTo>
                <a:lnTo>
                  <a:pt x="16" y="16"/>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 name="Freeform 10"/>
          <p:cNvSpPr>
            <a:spLocks/>
          </p:cNvSpPr>
          <p:nvPr/>
        </p:nvSpPr>
        <p:spPr bwMode="auto">
          <a:xfrm>
            <a:off x="2908300" y="4724400"/>
            <a:ext cx="39688" cy="26988"/>
          </a:xfrm>
          <a:custGeom>
            <a:avLst/>
            <a:gdLst>
              <a:gd name="T0" fmla="*/ 2147483646 w 25"/>
              <a:gd name="T1" fmla="*/ 2147483646 h 17"/>
              <a:gd name="T2" fmla="*/ 2147483646 w 25"/>
              <a:gd name="T3" fmla="*/ 2147483646 h 17"/>
              <a:gd name="T4" fmla="*/ 0 w 25"/>
              <a:gd name="T5" fmla="*/ 2147483646 h 17"/>
              <a:gd name="T6" fmla="*/ 2147483646 w 25"/>
              <a:gd name="T7" fmla="*/ 0 h 17"/>
              <a:gd name="T8" fmla="*/ 2147483646 w 25"/>
              <a:gd name="T9" fmla="*/ 214748364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17">
                <a:moveTo>
                  <a:pt x="24" y="11"/>
                </a:moveTo>
                <a:lnTo>
                  <a:pt x="18" y="16"/>
                </a:lnTo>
                <a:lnTo>
                  <a:pt x="0" y="5"/>
                </a:lnTo>
                <a:lnTo>
                  <a:pt x="6" y="0"/>
                </a:lnTo>
                <a:lnTo>
                  <a:pt x="24" y="11"/>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 name="Freeform 11"/>
          <p:cNvSpPr>
            <a:spLocks/>
          </p:cNvSpPr>
          <p:nvPr/>
        </p:nvSpPr>
        <p:spPr bwMode="auto">
          <a:xfrm>
            <a:off x="2921000" y="2032000"/>
            <a:ext cx="1601788" cy="2706688"/>
          </a:xfrm>
          <a:custGeom>
            <a:avLst/>
            <a:gdLst>
              <a:gd name="T0" fmla="*/ 2147483646 w 1009"/>
              <a:gd name="T1" fmla="*/ 2147483646 h 1705"/>
              <a:gd name="T2" fmla="*/ 2147483646 w 1009"/>
              <a:gd name="T3" fmla="*/ 0 h 1705"/>
              <a:gd name="T4" fmla="*/ 0 w 1009"/>
              <a:gd name="T5" fmla="*/ 2147483646 h 1705"/>
              <a:gd name="T6" fmla="*/ 2147483646 w 1009"/>
              <a:gd name="T7" fmla="*/ 2147483646 h 1705"/>
              <a:gd name="T8" fmla="*/ 2147483646 w 1009"/>
              <a:gd name="T9" fmla="*/ 2147483646 h 170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9" h="1705">
                <a:moveTo>
                  <a:pt x="1008" y="16"/>
                </a:moveTo>
                <a:lnTo>
                  <a:pt x="984" y="0"/>
                </a:lnTo>
                <a:lnTo>
                  <a:pt x="0" y="1688"/>
                </a:lnTo>
                <a:lnTo>
                  <a:pt x="24" y="1704"/>
                </a:lnTo>
                <a:lnTo>
                  <a:pt x="1008" y="16"/>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4" name="Freeform 12"/>
          <p:cNvSpPr>
            <a:spLocks/>
          </p:cNvSpPr>
          <p:nvPr/>
        </p:nvSpPr>
        <p:spPr bwMode="auto">
          <a:xfrm>
            <a:off x="4495800" y="2044700"/>
            <a:ext cx="39688" cy="26988"/>
          </a:xfrm>
          <a:custGeom>
            <a:avLst/>
            <a:gdLst>
              <a:gd name="T0" fmla="*/ 2147483646 w 25"/>
              <a:gd name="T1" fmla="*/ 2147483646 h 17"/>
              <a:gd name="T2" fmla="*/ 2147483646 w 25"/>
              <a:gd name="T3" fmla="*/ 0 h 17"/>
              <a:gd name="T4" fmla="*/ 0 w 25"/>
              <a:gd name="T5" fmla="*/ 2147483646 h 17"/>
              <a:gd name="T6" fmla="*/ 2147483646 w 25"/>
              <a:gd name="T7" fmla="*/ 2147483646 h 17"/>
              <a:gd name="T8" fmla="*/ 2147483646 w 25"/>
              <a:gd name="T9" fmla="*/ 214748364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17">
                <a:moveTo>
                  <a:pt x="24" y="11"/>
                </a:moveTo>
                <a:lnTo>
                  <a:pt x="18" y="0"/>
                </a:lnTo>
                <a:lnTo>
                  <a:pt x="0" y="11"/>
                </a:lnTo>
                <a:lnTo>
                  <a:pt x="6" y="16"/>
                </a:lnTo>
                <a:lnTo>
                  <a:pt x="24" y="11"/>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5" name="Freeform 13"/>
          <p:cNvSpPr>
            <a:spLocks/>
          </p:cNvSpPr>
          <p:nvPr/>
        </p:nvSpPr>
        <p:spPr bwMode="auto">
          <a:xfrm>
            <a:off x="5600700" y="4699000"/>
            <a:ext cx="26988" cy="14288"/>
          </a:xfrm>
          <a:custGeom>
            <a:avLst/>
            <a:gdLst>
              <a:gd name="T0" fmla="*/ 2147483646 w 17"/>
              <a:gd name="T1" fmla="*/ 0 h 9"/>
              <a:gd name="T2" fmla="*/ 2147483646 w 17"/>
              <a:gd name="T3" fmla="*/ 2147483646 h 9"/>
              <a:gd name="T4" fmla="*/ 2147483646 w 17"/>
              <a:gd name="T5" fmla="*/ 2147483646 h 9"/>
              <a:gd name="T6" fmla="*/ 0 w 17"/>
              <a:gd name="T7" fmla="*/ 2147483646 h 9"/>
              <a:gd name="T8" fmla="*/ 2147483646 w 17"/>
              <a:gd name="T9" fmla="*/ 0 h 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9">
                <a:moveTo>
                  <a:pt x="16" y="0"/>
                </a:moveTo>
                <a:lnTo>
                  <a:pt x="16" y="4"/>
                </a:lnTo>
                <a:lnTo>
                  <a:pt x="5" y="8"/>
                </a:lnTo>
                <a:lnTo>
                  <a:pt x="0" y="4"/>
                </a:lnTo>
                <a:lnTo>
                  <a:pt x="16" y="0"/>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6" name="Freeform 14"/>
          <p:cNvSpPr>
            <a:spLocks/>
          </p:cNvSpPr>
          <p:nvPr/>
        </p:nvSpPr>
        <p:spPr bwMode="auto">
          <a:xfrm>
            <a:off x="4508500" y="2070100"/>
            <a:ext cx="1119188" cy="2630488"/>
          </a:xfrm>
          <a:custGeom>
            <a:avLst/>
            <a:gdLst>
              <a:gd name="T0" fmla="*/ 2147483646 w 705"/>
              <a:gd name="T1" fmla="*/ 0 h 1657"/>
              <a:gd name="T2" fmla="*/ 0 w 705"/>
              <a:gd name="T3" fmla="*/ 2147483646 h 1657"/>
              <a:gd name="T4" fmla="*/ 2147483646 w 705"/>
              <a:gd name="T5" fmla="*/ 2147483646 h 1657"/>
              <a:gd name="T6" fmla="*/ 2147483646 w 705"/>
              <a:gd name="T7" fmla="*/ 2147483646 h 1657"/>
              <a:gd name="T8" fmla="*/ 2147483646 w 705"/>
              <a:gd name="T9" fmla="*/ 0 h 16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05" h="1657">
                <a:moveTo>
                  <a:pt x="24" y="0"/>
                </a:moveTo>
                <a:lnTo>
                  <a:pt x="0" y="8"/>
                </a:lnTo>
                <a:lnTo>
                  <a:pt x="680" y="1656"/>
                </a:lnTo>
                <a:lnTo>
                  <a:pt x="704" y="1648"/>
                </a:lnTo>
                <a:lnTo>
                  <a:pt x="24" y="0"/>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7" name="Freeform 15"/>
          <p:cNvSpPr>
            <a:spLocks/>
          </p:cNvSpPr>
          <p:nvPr/>
        </p:nvSpPr>
        <p:spPr bwMode="auto">
          <a:xfrm>
            <a:off x="1917700" y="2844800"/>
            <a:ext cx="26988" cy="26988"/>
          </a:xfrm>
          <a:custGeom>
            <a:avLst/>
            <a:gdLst>
              <a:gd name="T0" fmla="*/ 2147483646 w 17"/>
              <a:gd name="T1" fmla="*/ 0 h 17"/>
              <a:gd name="T2" fmla="*/ 0 w 17"/>
              <a:gd name="T3" fmla="*/ 2147483646 h 17"/>
              <a:gd name="T4" fmla="*/ 2147483646 w 17"/>
              <a:gd name="T5" fmla="*/ 2147483646 h 17"/>
              <a:gd name="T6" fmla="*/ 2147483646 w 17"/>
              <a:gd name="T7" fmla="*/ 2147483646 h 17"/>
              <a:gd name="T8" fmla="*/ 2147483646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5" y="0"/>
                </a:moveTo>
                <a:lnTo>
                  <a:pt x="0" y="5"/>
                </a:lnTo>
                <a:lnTo>
                  <a:pt x="11" y="16"/>
                </a:lnTo>
                <a:lnTo>
                  <a:pt x="16" y="11"/>
                </a:lnTo>
                <a:lnTo>
                  <a:pt x="5" y="0"/>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8" name="Freeform 16"/>
          <p:cNvSpPr>
            <a:spLocks/>
          </p:cNvSpPr>
          <p:nvPr/>
        </p:nvSpPr>
        <p:spPr bwMode="auto">
          <a:xfrm>
            <a:off x="3378200" y="1803400"/>
            <a:ext cx="26988" cy="26988"/>
          </a:xfrm>
          <a:custGeom>
            <a:avLst/>
            <a:gdLst>
              <a:gd name="T0" fmla="*/ 0 w 17"/>
              <a:gd name="T1" fmla="*/ 2147483646 h 17"/>
              <a:gd name="T2" fmla="*/ 2147483646 w 17"/>
              <a:gd name="T3" fmla="*/ 0 h 17"/>
              <a:gd name="T4" fmla="*/ 2147483646 w 17"/>
              <a:gd name="T5" fmla="*/ 2147483646 h 17"/>
              <a:gd name="T6" fmla="*/ 2147483646 w 17"/>
              <a:gd name="T7" fmla="*/ 2147483646 h 17"/>
              <a:gd name="T8" fmla="*/ 0 w 17"/>
              <a:gd name="T9" fmla="*/ 214748364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0" y="5"/>
                </a:moveTo>
                <a:lnTo>
                  <a:pt x="5" y="0"/>
                </a:lnTo>
                <a:lnTo>
                  <a:pt x="16" y="16"/>
                </a:lnTo>
                <a:lnTo>
                  <a:pt x="11" y="16"/>
                </a:lnTo>
                <a:lnTo>
                  <a:pt x="0" y="5"/>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9" name="Freeform 17"/>
          <p:cNvSpPr>
            <a:spLocks/>
          </p:cNvSpPr>
          <p:nvPr/>
        </p:nvSpPr>
        <p:spPr bwMode="auto">
          <a:xfrm>
            <a:off x="1930400" y="1816100"/>
            <a:ext cx="1462088" cy="1042988"/>
          </a:xfrm>
          <a:custGeom>
            <a:avLst/>
            <a:gdLst>
              <a:gd name="T0" fmla="*/ 0 w 921"/>
              <a:gd name="T1" fmla="*/ 2147483646 h 657"/>
              <a:gd name="T2" fmla="*/ 2147483646 w 921"/>
              <a:gd name="T3" fmla="*/ 2147483646 h 657"/>
              <a:gd name="T4" fmla="*/ 2147483646 w 921"/>
              <a:gd name="T5" fmla="*/ 2147483646 h 657"/>
              <a:gd name="T6" fmla="*/ 2147483646 w 921"/>
              <a:gd name="T7" fmla="*/ 0 h 657"/>
              <a:gd name="T8" fmla="*/ 0 w 921"/>
              <a:gd name="T9" fmla="*/ 2147483646 h 6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1" h="657">
                <a:moveTo>
                  <a:pt x="0" y="640"/>
                </a:moveTo>
                <a:lnTo>
                  <a:pt x="16" y="656"/>
                </a:lnTo>
                <a:lnTo>
                  <a:pt x="920" y="16"/>
                </a:lnTo>
                <a:lnTo>
                  <a:pt x="904" y="0"/>
                </a:lnTo>
                <a:lnTo>
                  <a:pt x="0" y="640"/>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50" name="Freeform 18"/>
          <p:cNvSpPr>
            <a:spLocks/>
          </p:cNvSpPr>
          <p:nvPr/>
        </p:nvSpPr>
        <p:spPr bwMode="auto">
          <a:xfrm>
            <a:off x="5689600" y="4724400"/>
            <a:ext cx="14288" cy="26988"/>
          </a:xfrm>
          <a:custGeom>
            <a:avLst/>
            <a:gdLst>
              <a:gd name="T0" fmla="*/ 0 w 9"/>
              <a:gd name="T1" fmla="*/ 2147483646 h 17"/>
              <a:gd name="T2" fmla="*/ 2147483646 w 9"/>
              <a:gd name="T3" fmla="*/ 2147483646 h 17"/>
              <a:gd name="T4" fmla="*/ 2147483646 w 9"/>
              <a:gd name="T5" fmla="*/ 2147483646 h 17"/>
              <a:gd name="T6" fmla="*/ 2147483646 w 9"/>
              <a:gd name="T7" fmla="*/ 0 h 17"/>
              <a:gd name="T8" fmla="*/ 0 w 9"/>
              <a:gd name="T9" fmla="*/ 214748364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0" y="16"/>
                </a:moveTo>
                <a:lnTo>
                  <a:pt x="4" y="16"/>
                </a:lnTo>
                <a:lnTo>
                  <a:pt x="8" y="5"/>
                </a:lnTo>
                <a:lnTo>
                  <a:pt x="4" y="0"/>
                </a:lnTo>
                <a:lnTo>
                  <a:pt x="0" y="16"/>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51" name="Freeform 19"/>
          <p:cNvSpPr>
            <a:spLocks/>
          </p:cNvSpPr>
          <p:nvPr/>
        </p:nvSpPr>
        <p:spPr bwMode="auto">
          <a:xfrm>
            <a:off x="2286000" y="3136900"/>
            <a:ext cx="26988" cy="39688"/>
          </a:xfrm>
          <a:custGeom>
            <a:avLst/>
            <a:gdLst>
              <a:gd name="T0" fmla="*/ 2147483646 w 17"/>
              <a:gd name="T1" fmla="*/ 2147483646 h 25"/>
              <a:gd name="T2" fmla="*/ 0 w 17"/>
              <a:gd name="T3" fmla="*/ 2147483646 h 25"/>
              <a:gd name="T4" fmla="*/ 2147483646 w 17"/>
              <a:gd name="T5" fmla="*/ 0 h 25"/>
              <a:gd name="T6" fmla="*/ 2147483646 w 17"/>
              <a:gd name="T7" fmla="*/ 2147483646 h 25"/>
              <a:gd name="T8" fmla="*/ 2147483646 w 17"/>
              <a:gd name="T9" fmla="*/ 2147483646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5">
                <a:moveTo>
                  <a:pt x="11" y="24"/>
                </a:moveTo>
                <a:lnTo>
                  <a:pt x="0" y="18"/>
                </a:lnTo>
                <a:lnTo>
                  <a:pt x="11" y="0"/>
                </a:lnTo>
                <a:lnTo>
                  <a:pt x="16" y="6"/>
                </a:lnTo>
                <a:lnTo>
                  <a:pt x="11" y="24"/>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52" name="Freeform 20"/>
          <p:cNvSpPr>
            <a:spLocks/>
          </p:cNvSpPr>
          <p:nvPr/>
        </p:nvSpPr>
        <p:spPr bwMode="auto">
          <a:xfrm>
            <a:off x="2311400" y="3149600"/>
            <a:ext cx="3379788" cy="1601788"/>
          </a:xfrm>
          <a:custGeom>
            <a:avLst/>
            <a:gdLst>
              <a:gd name="T0" fmla="*/ 2147483646 w 2129"/>
              <a:gd name="T1" fmla="*/ 2147483646 h 1009"/>
              <a:gd name="T2" fmla="*/ 2147483646 w 2129"/>
              <a:gd name="T3" fmla="*/ 2147483646 h 1009"/>
              <a:gd name="T4" fmla="*/ 2147483646 w 2129"/>
              <a:gd name="T5" fmla="*/ 0 h 1009"/>
              <a:gd name="T6" fmla="*/ 0 w 2129"/>
              <a:gd name="T7" fmla="*/ 2147483646 h 1009"/>
              <a:gd name="T8" fmla="*/ 2147483646 w 2129"/>
              <a:gd name="T9" fmla="*/ 2147483646 h 10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9" h="1009">
                <a:moveTo>
                  <a:pt x="2120" y="1008"/>
                </a:moveTo>
                <a:lnTo>
                  <a:pt x="2128" y="984"/>
                </a:lnTo>
                <a:lnTo>
                  <a:pt x="8" y="0"/>
                </a:lnTo>
                <a:lnTo>
                  <a:pt x="0" y="24"/>
                </a:lnTo>
                <a:lnTo>
                  <a:pt x="2120" y="1008"/>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53" name="Freeform 21"/>
          <p:cNvSpPr>
            <a:spLocks/>
          </p:cNvSpPr>
          <p:nvPr/>
        </p:nvSpPr>
        <p:spPr bwMode="auto">
          <a:xfrm>
            <a:off x="3048000" y="4724400"/>
            <a:ext cx="14288" cy="26988"/>
          </a:xfrm>
          <a:custGeom>
            <a:avLst/>
            <a:gdLst>
              <a:gd name="T0" fmla="*/ 2147483646 w 9"/>
              <a:gd name="T1" fmla="*/ 0 h 17"/>
              <a:gd name="T2" fmla="*/ 0 w 9"/>
              <a:gd name="T3" fmla="*/ 2147483646 h 17"/>
              <a:gd name="T4" fmla="*/ 2147483646 w 9"/>
              <a:gd name="T5" fmla="*/ 2147483646 h 17"/>
              <a:gd name="T6" fmla="*/ 2147483646 w 9"/>
              <a:gd name="T7" fmla="*/ 2147483646 h 17"/>
              <a:gd name="T8" fmla="*/ 2147483646 w 9"/>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 h="17">
                <a:moveTo>
                  <a:pt x="4" y="0"/>
                </a:moveTo>
                <a:lnTo>
                  <a:pt x="0" y="5"/>
                </a:lnTo>
                <a:lnTo>
                  <a:pt x="4" y="16"/>
                </a:lnTo>
                <a:lnTo>
                  <a:pt x="8" y="16"/>
                </a:lnTo>
                <a:lnTo>
                  <a:pt x="4" y="0"/>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54" name="Freeform 22"/>
          <p:cNvSpPr>
            <a:spLocks/>
          </p:cNvSpPr>
          <p:nvPr/>
        </p:nvSpPr>
        <p:spPr bwMode="auto">
          <a:xfrm>
            <a:off x="7112000" y="3035300"/>
            <a:ext cx="26988" cy="39688"/>
          </a:xfrm>
          <a:custGeom>
            <a:avLst/>
            <a:gdLst>
              <a:gd name="T0" fmla="*/ 0 w 17"/>
              <a:gd name="T1" fmla="*/ 2147483646 h 25"/>
              <a:gd name="T2" fmla="*/ 2147483646 w 17"/>
              <a:gd name="T3" fmla="*/ 0 h 25"/>
              <a:gd name="T4" fmla="*/ 2147483646 w 17"/>
              <a:gd name="T5" fmla="*/ 2147483646 h 25"/>
              <a:gd name="T6" fmla="*/ 2147483646 w 17"/>
              <a:gd name="T7" fmla="*/ 2147483646 h 25"/>
              <a:gd name="T8" fmla="*/ 0 w 17"/>
              <a:gd name="T9" fmla="*/ 2147483646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5">
                <a:moveTo>
                  <a:pt x="0" y="6"/>
                </a:moveTo>
                <a:lnTo>
                  <a:pt x="5" y="0"/>
                </a:lnTo>
                <a:lnTo>
                  <a:pt x="16" y="18"/>
                </a:lnTo>
                <a:lnTo>
                  <a:pt x="5" y="24"/>
                </a:lnTo>
                <a:lnTo>
                  <a:pt x="0" y="6"/>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55" name="Freeform 23"/>
          <p:cNvSpPr>
            <a:spLocks/>
          </p:cNvSpPr>
          <p:nvPr/>
        </p:nvSpPr>
        <p:spPr bwMode="auto">
          <a:xfrm>
            <a:off x="3060700" y="3048000"/>
            <a:ext cx="4052888" cy="1703388"/>
          </a:xfrm>
          <a:custGeom>
            <a:avLst/>
            <a:gdLst>
              <a:gd name="T0" fmla="*/ 0 w 2553"/>
              <a:gd name="T1" fmla="*/ 2147483646 h 1073"/>
              <a:gd name="T2" fmla="*/ 2147483646 w 2553"/>
              <a:gd name="T3" fmla="*/ 2147483646 h 1073"/>
              <a:gd name="T4" fmla="*/ 2147483646 w 2553"/>
              <a:gd name="T5" fmla="*/ 2147483646 h 1073"/>
              <a:gd name="T6" fmla="*/ 2147483646 w 2553"/>
              <a:gd name="T7" fmla="*/ 0 h 1073"/>
              <a:gd name="T8" fmla="*/ 0 w 2553"/>
              <a:gd name="T9" fmla="*/ 2147483646 h 10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53" h="1073">
                <a:moveTo>
                  <a:pt x="0" y="1048"/>
                </a:moveTo>
                <a:lnTo>
                  <a:pt x="8" y="1072"/>
                </a:lnTo>
                <a:lnTo>
                  <a:pt x="2552" y="24"/>
                </a:lnTo>
                <a:lnTo>
                  <a:pt x="2544" y="0"/>
                </a:lnTo>
                <a:lnTo>
                  <a:pt x="0" y="1048"/>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56" name="Freeform 24"/>
          <p:cNvSpPr>
            <a:spLocks/>
          </p:cNvSpPr>
          <p:nvPr/>
        </p:nvSpPr>
        <p:spPr bwMode="auto">
          <a:xfrm>
            <a:off x="1892300" y="3352800"/>
            <a:ext cx="26988" cy="26988"/>
          </a:xfrm>
          <a:custGeom>
            <a:avLst/>
            <a:gdLst>
              <a:gd name="T0" fmla="*/ 2147483646 w 17"/>
              <a:gd name="T1" fmla="*/ 2147483646 h 17"/>
              <a:gd name="T2" fmla="*/ 2147483646 w 17"/>
              <a:gd name="T3" fmla="*/ 0 h 17"/>
              <a:gd name="T4" fmla="*/ 0 w 17"/>
              <a:gd name="T5" fmla="*/ 2147483646 h 17"/>
              <a:gd name="T6" fmla="*/ 2147483646 w 17"/>
              <a:gd name="T7" fmla="*/ 2147483646 h 17"/>
              <a:gd name="T8" fmla="*/ 2147483646 w 17"/>
              <a:gd name="T9" fmla="*/ 214748364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6" y="5"/>
                </a:moveTo>
                <a:lnTo>
                  <a:pt x="16" y="0"/>
                </a:lnTo>
                <a:lnTo>
                  <a:pt x="0" y="11"/>
                </a:lnTo>
                <a:lnTo>
                  <a:pt x="5" y="16"/>
                </a:lnTo>
                <a:lnTo>
                  <a:pt x="16" y="5"/>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57" name="Freeform 25"/>
          <p:cNvSpPr>
            <a:spLocks/>
          </p:cNvSpPr>
          <p:nvPr/>
        </p:nvSpPr>
        <p:spPr bwMode="auto">
          <a:xfrm>
            <a:off x="2908300" y="4724400"/>
            <a:ext cx="26988" cy="26988"/>
          </a:xfrm>
          <a:custGeom>
            <a:avLst/>
            <a:gdLst>
              <a:gd name="T0" fmla="*/ 2147483646 w 17"/>
              <a:gd name="T1" fmla="*/ 0 h 17"/>
              <a:gd name="T2" fmla="*/ 2147483646 w 17"/>
              <a:gd name="T3" fmla="*/ 2147483646 h 17"/>
              <a:gd name="T4" fmla="*/ 2147483646 w 17"/>
              <a:gd name="T5" fmla="*/ 2147483646 h 17"/>
              <a:gd name="T6" fmla="*/ 0 w 17"/>
              <a:gd name="T7" fmla="*/ 2147483646 h 17"/>
              <a:gd name="T8" fmla="*/ 2147483646 w 17"/>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17">
                <a:moveTo>
                  <a:pt x="11" y="0"/>
                </a:moveTo>
                <a:lnTo>
                  <a:pt x="16" y="5"/>
                </a:lnTo>
                <a:lnTo>
                  <a:pt x="5" y="16"/>
                </a:lnTo>
                <a:lnTo>
                  <a:pt x="0" y="11"/>
                </a:lnTo>
                <a:lnTo>
                  <a:pt x="11" y="0"/>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58" name="Freeform 26"/>
          <p:cNvSpPr>
            <a:spLocks/>
          </p:cNvSpPr>
          <p:nvPr/>
        </p:nvSpPr>
        <p:spPr bwMode="auto">
          <a:xfrm>
            <a:off x="1905000" y="3365500"/>
            <a:ext cx="1017588" cy="1373188"/>
          </a:xfrm>
          <a:custGeom>
            <a:avLst/>
            <a:gdLst>
              <a:gd name="T0" fmla="*/ 2147483646 w 641"/>
              <a:gd name="T1" fmla="*/ 0 h 865"/>
              <a:gd name="T2" fmla="*/ 0 w 641"/>
              <a:gd name="T3" fmla="*/ 2147483646 h 865"/>
              <a:gd name="T4" fmla="*/ 2147483646 w 641"/>
              <a:gd name="T5" fmla="*/ 2147483646 h 865"/>
              <a:gd name="T6" fmla="*/ 2147483646 w 641"/>
              <a:gd name="T7" fmla="*/ 2147483646 h 865"/>
              <a:gd name="T8" fmla="*/ 2147483646 w 641"/>
              <a:gd name="T9" fmla="*/ 0 h 8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1" h="865">
                <a:moveTo>
                  <a:pt x="16" y="0"/>
                </a:moveTo>
                <a:lnTo>
                  <a:pt x="0" y="16"/>
                </a:lnTo>
                <a:lnTo>
                  <a:pt x="624" y="864"/>
                </a:lnTo>
                <a:lnTo>
                  <a:pt x="640" y="848"/>
                </a:lnTo>
                <a:lnTo>
                  <a:pt x="16" y="0"/>
                </a:lnTo>
              </a:path>
            </a:pathLst>
          </a:custGeom>
          <a:solidFill>
            <a:srgbClr val="000000"/>
          </a:solidFill>
          <a:ln>
            <a:noFill/>
          </a:ln>
          <a:effectLst/>
          <a:extLst>
            <a:ext uri="{91240B29-F687-4F45-9708-019B960494DF}">
              <a14:hiddenLine xmlns:a14="http://schemas.microsoft.com/office/drawing/2010/main" w="1270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59" name="Rectangle 27"/>
          <p:cNvSpPr>
            <a:spLocks noChangeArrowheads="1"/>
          </p:cNvSpPr>
          <p:nvPr/>
        </p:nvSpPr>
        <p:spPr bwMode="auto">
          <a:xfrm>
            <a:off x="2311400" y="3060700"/>
            <a:ext cx="1588" cy="25400"/>
          </a:xfrm>
          <a:prstGeom prst="rect">
            <a:avLst/>
          </a:prstGeom>
          <a:solidFill>
            <a:srgbClr val="000000"/>
          </a:solid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4060" name="Rectangle 28"/>
          <p:cNvSpPr>
            <a:spLocks noChangeArrowheads="1"/>
          </p:cNvSpPr>
          <p:nvPr/>
        </p:nvSpPr>
        <p:spPr bwMode="auto">
          <a:xfrm>
            <a:off x="7086600" y="3060700"/>
            <a:ext cx="12700" cy="25400"/>
          </a:xfrm>
          <a:prstGeom prst="rect">
            <a:avLst/>
          </a:prstGeom>
          <a:solidFill>
            <a:srgbClr val="000000"/>
          </a:solid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4061" name="Rectangle 29"/>
          <p:cNvSpPr>
            <a:spLocks noChangeArrowheads="1"/>
          </p:cNvSpPr>
          <p:nvPr/>
        </p:nvSpPr>
        <p:spPr bwMode="auto">
          <a:xfrm>
            <a:off x="2324100" y="3060700"/>
            <a:ext cx="4749800" cy="25400"/>
          </a:xfrm>
          <a:prstGeom prst="rect">
            <a:avLst/>
          </a:prstGeom>
          <a:solidFill>
            <a:srgbClr val="000000"/>
          </a:solid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4062" name="Rectangle 30"/>
          <p:cNvSpPr>
            <a:spLocks noChangeArrowheads="1"/>
          </p:cNvSpPr>
          <p:nvPr/>
        </p:nvSpPr>
        <p:spPr bwMode="auto">
          <a:xfrm>
            <a:off x="3416300" y="1536700"/>
            <a:ext cx="2070100" cy="571500"/>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4063" name="Rectangle 31"/>
          <p:cNvSpPr>
            <a:spLocks noChangeArrowheads="1"/>
          </p:cNvSpPr>
          <p:nvPr/>
        </p:nvSpPr>
        <p:spPr bwMode="auto">
          <a:xfrm>
            <a:off x="3429000" y="1549400"/>
            <a:ext cx="2057400" cy="558800"/>
          </a:xfrm>
          <a:prstGeom prst="rect">
            <a:avLst/>
          </a:prstGeom>
          <a:solidFill>
            <a:schemeClr val="bg1"/>
          </a:solidFill>
          <a:ln w="508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a:r>
              <a:rPr lang="en-US" altLang="en-US">
                <a:latin typeface="Palatino" pitchFamily="18" charset="0"/>
              </a:rPr>
              <a:t>Analyst</a:t>
            </a:r>
          </a:p>
        </p:txBody>
      </p:sp>
      <p:sp>
        <p:nvSpPr>
          <p:cNvPr id="44064" name="Rectangle 32"/>
          <p:cNvSpPr>
            <a:spLocks noChangeArrowheads="1"/>
          </p:cNvSpPr>
          <p:nvPr/>
        </p:nvSpPr>
        <p:spPr bwMode="auto">
          <a:xfrm>
            <a:off x="1562100" y="4673600"/>
            <a:ext cx="2374900" cy="571500"/>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1270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4065" name="Rectangle 33"/>
          <p:cNvSpPr>
            <a:spLocks noChangeArrowheads="1"/>
          </p:cNvSpPr>
          <p:nvPr/>
        </p:nvSpPr>
        <p:spPr bwMode="auto">
          <a:xfrm>
            <a:off x="1574800" y="4686300"/>
            <a:ext cx="2362200" cy="558800"/>
          </a:xfrm>
          <a:prstGeom prst="rect">
            <a:avLst/>
          </a:prstGeom>
          <a:solidFill>
            <a:schemeClr val="bg1"/>
          </a:solidFill>
          <a:ln w="508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a:r>
              <a:rPr lang="en-US" altLang="en-US">
                <a:latin typeface="Palatino" pitchFamily="18" charset="0"/>
              </a:rPr>
              <a:t>Designer</a:t>
            </a:r>
          </a:p>
        </p:txBody>
      </p:sp>
      <p:sp>
        <p:nvSpPr>
          <p:cNvPr id="44066" name="Rectangle 34"/>
          <p:cNvSpPr>
            <a:spLocks noChangeArrowheads="1"/>
          </p:cNvSpPr>
          <p:nvPr/>
        </p:nvSpPr>
        <p:spPr bwMode="auto">
          <a:xfrm>
            <a:off x="4991100" y="4660900"/>
            <a:ext cx="1587500" cy="571500"/>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508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4067" name="Rectangle 35"/>
          <p:cNvSpPr>
            <a:spLocks noChangeArrowheads="1"/>
          </p:cNvSpPr>
          <p:nvPr/>
        </p:nvSpPr>
        <p:spPr bwMode="auto">
          <a:xfrm>
            <a:off x="5003800" y="4673600"/>
            <a:ext cx="1574800" cy="558800"/>
          </a:xfrm>
          <a:prstGeom prst="rect">
            <a:avLst/>
          </a:prstGeom>
          <a:solidFill>
            <a:schemeClr val="bg1"/>
          </a:solidFill>
          <a:ln w="508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a:r>
              <a:rPr lang="en-US" altLang="en-US">
                <a:latin typeface="Palatino" pitchFamily="18" charset="0"/>
              </a:rPr>
              <a:t>Librarian</a:t>
            </a:r>
          </a:p>
        </p:txBody>
      </p:sp>
      <p:sp>
        <p:nvSpPr>
          <p:cNvPr id="44068" name="Line 36"/>
          <p:cNvSpPr>
            <a:spLocks noChangeShapeType="1"/>
          </p:cNvSpPr>
          <p:nvPr/>
        </p:nvSpPr>
        <p:spPr bwMode="auto">
          <a:xfrm flipH="1">
            <a:off x="3860800" y="4908550"/>
            <a:ext cx="113030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69" name="Rectangle 37"/>
          <p:cNvSpPr>
            <a:spLocks noChangeArrowheads="1"/>
          </p:cNvSpPr>
          <p:nvPr/>
        </p:nvSpPr>
        <p:spPr bwMode="auto">
          <a:xfrm>
            <a:off x="762000" y="2832100"/>
            <a:ext cx="1587500" cy="571500"/>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4070" name="Rectangle 38"/>
          <p:cNvSpPr>
            <a:spLocks noChangeArrowheads="1"/>
          </p:cNvSpPr>
          <p:nvPr/>
        </p:nvSpPr>
        <p:spPr bwMode="auto">
          <a:xfrm>
            <a:off x="774700" y="2844800"/>
            <a:ext cx="1574800" cy="558800"/>
          </a:xfrm>
          <a:prstGeom prst="rect">
            <a:avLst/>
          </a:prstGeom>
          <a:solidFill>
            <a:schemeClr val="bg1"/>
          </a:solidFill>
          <a:ln w="508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a:r>
              <a:rPr lang="en-US" altLang="en-US">
                <a:latin typeface="Palatino" pitchFamily="18" charset="0"/>
              </a:rPr>
              <a:t>Tester</a:t>
            </a:r>
          </a:p>
        </p:txBody>
      </p:sp>
      <p:sp>
        <p:nvSpPr>
          <p:cNvPr id="44071" name="Rectangle 39"/>
          <p:cNvSpPr>
            <a:spLocks noChangeArrowheads="1"/>
          </p:cNvSpPr>
          <p:nvPr/>
        </p:nvSpPr>
        <p:spPr bwMode="auto">
          <a:xfrm>
            <a:off x="6286500" y="2832100"/>
            <a:ext cx="2006600" cy="571500"/>
          </a:xfrm>
          <a:prstGeom prst="rect">
            <a:avLst/>
          </a:prstGeom>
          <a:blipFill dpi="0" rotWithShape="0">
            <a:blip r:embed="rId2"/>
            <a:srcRect/>
            <a:tile tx="0" ty="0" sx="100000" sy="100000" flip="none" algn="tl"/>
          </a:blipFill>
          <a:ln>
            <a:noFill/>
          </a:ln>
          <a:effectLst/>
          <a:extLst>
            <a:ext uri="{91240B29-F687-4F45-9708-019B960494DF}">
              <a14:hiddenLine xmlns:a14="http://schemas.microsoft.com/office/drawing/2010/main" w="508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44072" name="Rectangle 40"/>
          <p:cNvSpPr>
            <a:spLocks noChangeArrowheads="1"/>
          </p:cNvSpPr>
          <p:nvPr/>
        </p:nvSpPr>
        <p:spPr bwMode="auto">
          <a:xfrm>
            <a:off x="6299200" y="2844800"/>
            <a:ext cx="1993900" cy="558800"/>
          </a:xfrm>
          <a:prstGeom prst="rect">
            <a:avLst/>
          </a:prstGeom>
          <a:solidFill>
            <a:schemeClr val="bg1"/>
          </a:solidFill>
          <a:ln w="508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nchor="ctr"/>
          <a:lstStyle/>
          <a:p>
            <a:pPr algn="ctr"/>
            <a:r>
              <a:rPr lang="en-US" altLang="en-US">
                <a:latin typeface="Palatino" pitchFamily="18" charset="0"/>
              </a:rPr>
              <a:t>Programmer</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4"/>
          <p:cNvSpPr>
            <a:spLocks noGrp="1" noChangeArrowheads="1"/>
          </p:cNvSpPr>
          <p:nvPr>
            <p:ph type="title"/>
          </p:nvPr>
        </p:nvSpPr>
        <p:spPr/>
        <p:txBody>
          <a:bodyPr/>
          <a:lstStyle/>
          <a:p>
            <a:r>
              <a:rPr lang="en-US" altLang="en-US" smtClean="0"/>
              <a:t>Observations on  Project Organizational Structures</a:t>
            </a:r>
          </a:p>
        </p:txBody>
      </p:sp>
      <p:sp>
        <p:nvSpPr>
          <p:cNvPr id="45059" name="Rectangle 5"/>
          <p:cNvSpPr>
            <a:spLocks noGrp="1" noChangeArrowheads="1"/>
          </p:cNvSpPr>
          <p:nvPr>
            <p:ph idx="1"/>
          </p:nvPr>
        </p:nvSpPr>
        <p:spPr/>
        <p:txBody>
          <a:bodyPr/>
          <a:lstStyle/>
          <a:p>
            <a:r>
              <a:rPr lang="en-US" altLang="en-US" smtClean="0"/>
              <a:t>Hierarchical project structure </a:t>
            </a:r>
          </a:p>
          <a:p>
            <a:pPr lvl="1"/>
            <a:r>
              <a:rPr lang="en-US" altLang="en-US" smtClean="0"/>
              <a:t>“Reports”, “Decides” and “Communicates-With” all mapped on the same association</a:t>
            </a:r>
          </a:p>
          <a:p>
            <a:pPr lvl="1"/>
            <a:r>
              <a:rPr lang="en-US" altLang="en-US" smtClean="0"/>
              <a:t>Does not work well with iterative and incremental software development process</a:t>
            </a:r>
          </a:p>
          <a:p>
            <a:pPr lvl="1"/>
            <a:r>
              <a:rPr lang="en-US" altLang="en-US" smtClean="0"/>
              <a:t>Manager is not necessarily always right</a:t>
            </a:r>
          </a:p>
          <a:p>
            <a:r>
              <a:rPr lang="en-US" altLang="en-US" smtClean="0"/>
              <a:t>Project-based structures</a:t>
            </a:r>
          </a:p>
          <a:p>
            <a:pPr lvl="1"/>
            <a:r>
              <a:rPr lang="en-US" altLang="en-US" smtClean="0"/>
              <a:t>“Reports”, “Decides” and “Communicates-With”are different  associations</a:t>
            </a:r>
          </a:p>
          <a:p>
            <a:pPr lvl="1"/>
            <a:r>
              <a:rPr lang="en-US" altLang="en-US" smtClean="0"/>
              <a:t>Cuts down on bureaucracy </a:t>
            </a:r>
          </a:p>
          <a:p>
            <a:pPr lvl="1"/>
            <a:r>
              <a:rPr lang="en-US" altLang="en-US" smtClean="0"/>
              <a:t>Reduces development time</a:t>
            </a:r>
          </a:p>
          <a:p>
            <a:pPr lvl="1"/>
            <a:r>
              <a:rPr lang="en-US" altLang="en-US" smtClean="0"/>
              <a:t>Decisions are expected to be made at each level</a:t>
            </a:r>
          </a:p>
          <a:p>
            <a:pPr lvl="1"/>
            <a:r>
              <a:rPr lang="en-US" altLang="en-US" smtClean="0"/>
              <a:t>Hard to manage</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5"/>
          <p:cNvSpPr>
            <a:spLocks noGrp="1" noChangeArrowheads="1"/>
          </p:cNvSpPr>
          <p:nvPr>
            <p:ph type="title"/>
          </p:nvPr>
        </p:nvSpPr>
        <p:spPr/>
        <p:txBody>
          <a:bodyPr/>
          <a:lstStyle/>
          <a:p>
            <a:r>
              <a:rPr lang="en-US" altLang="en-US" smtClean="0"/>
              <a:t>Flexibility of Project Organizations</a:t>
            </a:r>
          </a:p>
        </p:txBody>
      </p:sp>
      <p:sp>
        <p:nvSpPr>
          <p:cNvPr id="46083" name="Rectangle 6"/>
          <p:cNvSpPr>
            <a:spLocks noGrp="1" noChangeArrowheads="1"/>
          </p:cNvSpPr>
          <p:nvPr>
            <p:ph idx="1"/>
          </p:nvPr>
        </p:nvSpPr>
        <p:spPr>
          <a:xfrm>
            <a:off x="355600" y="914400"/>
            <a:ext cx="8255000" cy="4800600"/>
          </a:xfrm>
        </p:spPr>
        <p:txBody>
          <a:bodyPr/>
          <a:lstStyle/>
          <a:p>
            <a:pPr>
              <a:lnSpc>
                <a:spcPct val="80000"/>
              </a:lnSpc>
            </a:pPr>
            <a:r>
              <a:rPr lang="en-US" altLang="en-US" smtClean="0"/>
              <a:t>An  organization is flexible, if it allows “late” or “dynamic” bindings between roles and people and information flows between roles. </a:t>
            </a:r>
          </a:p>
          <a:p>
            <a:pPr>
              <a:lnSpc>
                <a:spcPct val="80000"/>
              </a:lnSpc>
            </a:pPr>
            <a:r>
              <a:rPr lang="en-US" altLang="en-US" smtClean="0"/>
              <a:t>Late (Static) binding (Cannot be changed after project kickoff):</a:t>
            </a:r>
          </a:p>
          <a:p>
            <a:pPr lvl="1">
              <a:lnSpc>
                <a:spcPct val="80000"/>
              </a:lnSpc>
            </a:pPr>
            <a:r>
              <a:rPr lang="en-US" altLang="en-US" smtClean="0"/>
              <a:t>Organizational units and information flows are established for the project. (Example: The top level design influences the team structure: At kickoff each subsystem is assigned to a team)</a:t>
            </a:r>
          </a:p>
          <a:p>
            <a:pPr>
              <a:lnSpc>
                <a:spcPct val="80000"/>
              </a:lnSpc>
            </a:pPr>
            <a:r>
              <a:rPr lang="en-US" altLang="en-US" smtClean="0"/>
              <a:t>Dynamic binding (Can be changed anytime):</a:t>
            </a:r>
          </a:p>
          <a:p>
            <a:pPr lvl="1">
              <a:lnSpc>
                <a:spcPct val="80000"/>
              </a:lnSpc>
            </a:pPr>
            <a:r>
              <a:rPr lang="en-US" altLang="en-US" smtClean="0"/>
              <a:t>The organizational relationship changes over time (Example: We start with a  hierarchical organization at project kickoff and end with a nonhierarchical organization at project finish time.) </a:t>
            </a:r>
          </a:p>
          <a:p>
            <a:pPr lvl="1">
              <a:lnSpc>
                <a:spcPct val="80000"/>
              </a:lnSpc>
            </a:pPr>
            <a:r>
              <a:rPr lang="en-US" altLang="en-US" smtClean="0"/>
              <a:t>We recognize the fact that organizational units change over time</a:t>
            </a:r>
          </a:p>
          <a:p>
            <a:pPr lvl="2">
              <a:lnSpc>
                <a:spcPct val="80000"/>
              </a:lnSpc>
            </a:pPr>
            <a:r>
              <a:rPr lang="en-US" altLang="en-US" smtClean="0"/>
              <a:t>New teams can be formed</a:t>
            </a:r>
          </a:p>
          <a:p>
            <a:pPr lvl="2">
              <a:lnSpc>
                <a:spcPct val="80000"/>
              </a:lnSpc>
            </a:pPr>
            <a:r>
              <a:rPr lang="en-US" altLang="en-US" smtClean="0"/>
              <a:t>Existing teams can be merged</a:t>
            </a:r>
          </a:p>
          <a:p>
            <a:pPr lvl="2">
              <a:lnSpc>
                <a:spcPct val="80000"/>
              </a:lnSpc>
            </a:pPr>
            <a:r>
              <a:rPr lang="en-US" altLang="en-US" smtClean="0"/>
              <a:t>An existing team can be removed from the organization</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smtClean="0"/>
              <a:t>Methods to keep the Audience involved</a:t>
            </a:r>
          </a:p>
        </p:txBody>
      </p:sp>
      <p:sp>
        <p:nvSpPr>
          <p:cNvPr id="47107" name="Rectangle 3"/>
          <p:cNvSpPr>
            <a:spLocks noGrp="1" noChangeArrowheads="1"/>
          </p:cNvSpPr>
          <p:nvPr>
            <p:ph idx="1"/>
          </p:nvPr>
        </p:nvSpPr>
        <p:spPr/>
        <p:txBody>
          <a:bodyPr/>
          <a:lstStyle/>
          <a:p>
            <a:r>
              <a:rPr lang="de-DE" altLang="en-US" b="1" smtClean="0"/>
              <a:t>One-on-one meetings:</a:t>
            </a:r>
            <a:r>
              <a:rPr lang="de-DE" altLang="en-US" smtClean="0"/>
              <a:t> Formal and informal meetings with one or two other participants about project issues.</a:t>
            </a:r>
          </a:p>
          <a:p>
            <a:r>
              <a:rPr lang="de-DE" altLang="en-US" b="1" smtClean="0"/>
              <a:t>Group meetings:</a:t>
            </a:r>
            <a:r>
              <a:rPr lang="de-DE" altLang="en-US" smtClean="0"/>
              <a:t> Planned session for some or all project team members (weekly meeting), the client (reviews) or other members of the audience list.</a:t>
            </a:r>
          </a:p>
          <a:p>
            <a:r>
              <a:rPr lang="de-DE" altLang="en-US" b="1" smtClean="0"/>
              <a:t>Informal written correspondence:</a:t>
            </a:r>
            <a:r>
              <a:rPr lang="de-DE" altLang="en-US" smtClean="0"/>
              <a:t> Notes, memos, letters and e-mail to document informal discussions and to share important project information</a:t>
            </a:r>
          </a:p>
          <a:p>
            <a:r>
              <a:rPr lang="de-DE" altLang="en-US" b="1" smtClean="0"/>
              <a:t>Written approvals:</a:t>
            </a:r>
            <a:r>
              <a:rPr lang="de-DE" altLang="en-US" smtClean="0"/>
              <a:t> Formal written agreements about a work product, schedule, resource commitment or a technical approach. </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de-DE" altLang="en-US" smtClean="0"/>
              <a:t>Key Concepts  for Mapping Roles to People</a:t>
            </a:r>
          </a:p>
        </p:txBody>
      </p:sp>
      <p:sp>
        <p:nvSpPr>
          <p:cNvPr id="48131" name="Rectangle 3"/>
          <p:cNvSpPr>
            <a:spLocks noGrp="1" noChangeArrowheads="1"/>
          </p:cNvSpPr>
          <p:nvPr>
            <p:ph idx="1"/>
          </p:nvPr>
        </p:nvSpPr>
        <p:spPr/>
        <p:txBody>
          <a:bodyPr/>
          <a:lstStyle/>
          <a:p>
            <a:r>
              <a:rPr lang="de-DE" altLang="en-US" smtClean="0"/>
              <a:t>Authority: </a:t>
            </a:r>
          </a:p>
          <a:p>
            <a:pPr lvl="1"/>
            <a:r>
              <a:rPr lang="de-DE" altLang="en-US" smtClean="0"/>
              <a:t>The ability to make binding decisions between people and roles</a:t>
            </a:r>
          </a:p>
          <a:p>
            <a:r>
              <a:rPr lang="de-DE" altLang="en-US" smtClean="0"/>
              <a:t>Responsibility: </a:t>
            </a:r>
          </a:p>
          <a:p>
            <a:pPr lvl="1"/>
            <a:r>
              <a:rPr lang="de-DE" altLang="en-US" smtClean="0"/>
              <a:t>The commitment to achieve specific results. </a:t>
            </a:r>
          </a:p>
          <a:p>
            <a:r>
              <a:rPr lang="de-DE" altLang="en-US" smtClean="0"/>
              <a:t>Accountability: </a:t>
            </a:r>
          </a:p>
          <a:p>
            <a:pPr lvl="1"/>
            <a:r>
              <a:rPr lang="de-DE" altLang="en-US" smtClean="0"/>
              <a:t>Tracking a task performance to a participant.</a:t>
            </a:r>
          </a:p>
          <a:p>
            <a:r>
              <a:rPr lang="de-DE" altLang="en-US" smtClean="0"/>
              <a:t>Delegation: </a:t>
            </a:r>
          </a:p>
          <a:p>
            <a:pPr lvl="1"/>
            <a:r>
              <a:rPr lang="de-DE" altLang="en-US" smtClean="0"/>
              <a:t>Binding a responsibility assigned to one person (including yourself) to another person.</a:t>
            </a:r>
          </a:p>
          <a:p>
            <a:endParaRPr lang="de-DE" altLang="en-US" smtClean="0"/>
          </a:p>
          <a:p>
            <a:pPr lvl="1"/>
            <a:endParaRPr lang="de-DE" altLang="en-US"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de-DE" altLang="en-US" smtClean="0"/>
              <a:t>Authority vs Responsibility vs Accountability</a:t>
            </a:r>
          </a:p>
        </p:txBody>
      </p:sp>
      <p:sp>
        <p:nvSpPr>
          <p:cNvPr id="49155" name="Rectangle 3"/>
          <p:cNvSpPr>
            <a:spLocks noGrp="1" noChangeArrowheads="1"/>
          </p:cNvSpPr>
          <p:nvPr>
            <p:ph idx="1"/>
          </p:nvPr>
        </p:nvSpPr>
        <p:spPr>
          <a:xfrm>
            <a:off x="355600" y="1143000"/>
            <a:ext cx="8255000" cy="4800600"/>
          </a:xfrm>
        </p:spPr>
        <p:txBody>
          <a:bodyPr/>
          <a:lstStyle/>
          <a:p>
            <a:r>
              <a:rPr lang="de-DE" altLang="en-US" smtClean="0"/>
              <a:t>Authority vs Responsibility</a:t>
            </a:r>
          </a:p>
          <a:p>
            <a:pPr lvl="1"/>
            <a:r>
              <a:rPr lang="de-DE" altLang="en-US" smtClean="0"/>
              <a:t>They are similar: </a:t>
            </a:r>
            <a:r>
              <a:rPr lang="de-DE" altLang="en-US" b="0" smtClean="0"/>
              <a:t>Both are upfront agreements. Before you start a project, you agree on who can make decisions and who will ensure that particular results are achieved</a:t>
            </a:r>
            <a:r>
              <a:rPr lang="de-DE" altLang="en-US" smtClean="0"/>
              <a:t>.</a:t>
            </a:r>
          </a:p>
          <a:p>
            <a:pPr lvl="1"/>
            <a:r>
              <a:rPr lang="de-DE" altLang="en-US" smtClean="0"/>
              <a:t>They are different: </a:t>
            </a:r>
            <a:r>
              <a:rPr lang="de-DE" altLang="en-US" b="0" smtClean="0"/>
              <a:t>Authority focuses on process such as activities and tasks, responsibility focuses on outcome such as work products and deliverables</a:t>
            </a:r>
            <a:endParaRPr lang="de-DE" altLang="en-US" smtClean="0"/>
          </a:p>
          <a:p>
            <a:r>
              <a:rPr lang="de-DE" altLang="en-US" smtClean="0"/>
              <a:t>Responsibility vs Accountability: </a:t>
            </a:r>
          </a:p>
          <a:p>
            <a:pPr lvl="1"/>
            <a:r>
              <a:rPr lang="de-DE" altLang="en-US" smtClean="0"/>
              <a:t>Similarity: </a:t>
            </a:r>
            <a:r>
              <a:rPr lang="de-DE" altLang="en-US" b="0" smtClean="0"/>
              <a:t>Both focus on results</a:t>
            </a:r>
            <a:endParaRPr lang="de-DE" altLang="en-US" smtClean="0"/>
          </a:p>
          <a:p>
            <a:pPr lvl="1"/>
            <a:r>
              <a:rPr lang="de-DE" altLang="en-US" smtClean="0"/>
              <a:t>Difference: </a:t>
            </a:r>
            <a:r>
              <a:rPr lang="de-DE" altLang="en-US" b="0" smtClean="0"/>
              <a:t>Responsibility is a before-the-fact agreement, accountability is an after-the-fact process.</a:t>
            </a:r>
          </a:p>
          <a:p>
            <a:pPr lvl="1"/>
            <a:r>
              <a:rPr lang="de-DE" altLang="en-US" b="0" smtClean="0"/>
              <a:t>If you are responsible you should be held accountable.</a:t>
            </a:r>
          </a:p>
          <a:p>
            <a:pPr lvl="1"/>
            <a:r>
              <a:rPr lang="de-DE" altLang="en-US" b="0" smtClean="0"/>
              <a:t>If you are not responsible you should not be held accountable. </a:t>
            </a:r>
          </a:p>
          <a:p>
            <a:pPr lvl="1"/>
            <a:r>
              <a:rPr lang="de-DE" altLang="en-US" smtClean="0"/>
              <a:t>Scapegoating: </a:t>
            </a:r>
            <a:r>
              <a:rPr lang="de-DE" altLang="en-US" b="0" smtClean="0"/>
              <a:t>Making somebody accountable who was not responsible </a:t>
            </a:r>
            <a:endParaRPr lang="de-DE" altLang="en-US"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de-DE" altLang="en-US" smtClean="0"/>
              <a:t>Linear Responsibility Chart</a:t>
            </a:r>
          </a:p>
        </p:txBody>
      </p:sp>
      <p:sp>
        <p:nvSpPr>
          <p:cNvPr id="50179" name="Rectangle 3"/>
          <p:cNvSpPr>
            <a:spLocks noGrp="1" noChangeArrowheads="1"/>
          </p:cNvSpPr>
          <p:nvPr>
            <p:ph idx="1"/>
          </p:nvPr>
        </p:nvSpPr>
        <p:spPr>
          <a:xfrm>
            <a:off x="355600" y="990600"/>
            <a:ext cx="8255000" cy="4800600"/>
          </a:xfrm>
        </p:spPr>
        <p:txBody>
          <a:bodyPr/>
          <a:lstStyle/>
          <a:p>
            <a:pPr>
              <a:lnSpc>
                <a:spcPct val="80000"/>
              </a:lnSpc>
            </a:pPr>
            <a:r>
              <a:rPr lang="de-DE" altLang="en-US" smtClean="0"/>
              <a:t>A </a:t>
            </a:r>
            <a:r>
              <a:rPr lang="de-DE" altLang="en-US" b="1" smtClean="0"/>
              <a:t>linear responsibility chart </a:t>
            </a:r>
            <a:r>
              <a:rPr lang="de-DE" altLang="en-US" smtClean="0"/>
              <a:t>is a matrix that depicts the role that each project participant will play in different activities identified in the work breakdown structure. </a:t>
            </a:r>
          </a:p>
          <a:p>
            <a:pPr>
              <a:lnSpc>
                <a:spcPct val="80000"/>
              </a:lnSpc>
            </a:pPr>
            <a:r>
              <a:rPr lang="en-US" altLang="en-US" b="1" smtClean="0"/>
              <a:t>Rows: Project activities</a:t>
            </a:r>
          </a:p>
          <a:p>
            <a:pPr>
              <a:lnSpc>
                <a:spcPct val="80000"/>
              </a:lnSpc>
            </a:pPr>
            <a:r>
              <a:rPr lang="en-US" altLang="en-US" b="1" smtClean="0"/>
              <a:t>Columns: Roles/Project participants </a:t>
            </a:r>
          </a:p>
          <a:p>
            <a:pPr>
              <a:lnSpc>
                <a:spcPct val="80000"/>
              </a:lnSpc>
            </a:pPr>
            <a:r>
              <a:rPr lang="en-US" altLang="en-US" b="1" smtClean="0"/>
              <a:t>Entries: Type of responsibility</a:t>
            </a:r>
          </a:p>
          <a:p>
            <a:pPr lvl="1">
              <a:lnSpc>
                <a:spcPct val="80000"/>
              </a:lnSpc>
            </a:pPr>
            <a:r>
              <a:rPr lang="en-US" altLang="en-US" sz="1800" i="1" smtClean="0"/>
              <a:t>P  (Primary responsibility):</a:t>
            </a:r>
            <a:r>
              <a:rPr lang="en-US" altLang="en-US" sz="1800" b="0" smtClean="0"/>
              <a:t> You have committed to ensure that the desired result is achieved</a:t>
            </a:r>
          </a:p>
          <a:p>
            <a:pPr lvl="1">
              <a:lnSpc>
                <a:spcPct val="80000"/>
              </a:lnSpc>
            </a:pPr>
            <a:r>
              <a:rPr lang="en-US" altLang="en-US" sz="1800" i="1" smtClean="0"/>
              <a:t>S  (Secondary responsibility):</a:t>
            </a:r>
            <a:r>
              <a:rPr lang="en-US" altLang="en-US" sz="1800" b="0" smtClean="0"/>
              <a:t> You have committed to some portion of the result</a:t>
            </a:r>
          </a:p>
          <a:p>
            <a:pPr lvl="1">
              <a:lnSpc>
                <a:spcPct val="80000"/>
              </a:lnSpc>
            </a:pPr>
            <a:r>
              <a:rPr lang="en-US" altLang="en-US" sz="1800" i="1" smtClean="0"/>
              <a:t>A (Approval):</a:t>
            </a:r>
            <a:r>
              <a:rPr lang="en-US" altLang="en-US" sz="1800" b="0" smtClean="0"/>
              <a:t> You are not doing the work, but you will approve what has been done</a:t>
            </a:r>
          </a:p>
          <a:p>
            <a:pPr lvl="1">
              <a:lnSpc>
                <a:spcPct val="80000"/>
              </a:lnSpc>
            </a:pPr>
            <a:r>
              <a:rPr lang="en-US" altLang="en-US" sz="1800" i="1" smtClean="0"/>
              <a:t>R  (Review):</a:t>
            </a:r>
            <a:r>
              <a:rPr lang="en-US" altLang="en-US" sz="1800" b="0" smtClean="0"/>
              <a:t> You will review and comment on the work product of an activity</a:t>
            </a:r>
          </a:p>
          <a:p>
            <a:pPr lvl="1">
              <a:lnSpc>
                <a:spcPct val="80000"/>
              </a:lnSpc>
            </a:pPr>
            <a:r>
              <a:rPr lang="en-US" altLang="en-US" sz="1800" i="1" smtClean="0"/>
              <a:t>O  (Output):</a:t>
            </a:r>
            <a:r>
              <a:rPr lang="en-US" altLang="en-US" sz="1800" b="0" smtClean="0"/>
              <a:t> You will receive the work product of an activity</a:t>
            </a:r>
          </a:p>
          <a:p>
            <a:pPr lvl="1">
              <a:lnSpc>
                <a:spcPct val="80000"/>
              </a:lnSpc>
            </a:pPr>
            <a:r>
              <a:rPr lang="en-US" altLang="en-US" sz="1800" i="1" smtClean="0"/>
              <a:t>I  (Input):</a:t>
            </a:r>
            <a:r>
              <a:rPr lang="en-US" altLang="en-US" sz="1800" b="0" smtClean="0"/>
              <a:t> You will provide input for a task or activity</a:t>
            </a:r>
            <a:endParaRPr lang="de-DE" altLang="en-US" sz="1800" b="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de-DE" altLang="en-US" smtClean="0"/>
              <a:t>Example of a </a:t>
            </a:r>
            <a:br>
              <a:rPr lang="de-DE" altLang="en-US" smtClean="0"/>
            </a:br>
            <a:r>
              <a:rPr lang="de-DE" altLang="en-US" smtClean="0"/>
              <a:t>Responsibility Chart</a:t>
            </a:r>
          </a:p>
        </p:txBody>
      </p:sp>
      <p:sp>
        <p:nvSpPr>
          <p:cNvPr id="51203" name="Rectangle 3"/>
          <p:cNvSpPr>
            <a:spLocks noGrp="1" noChangeArrowheads="1"/>
          </p:cNvSpPr>
          <p:nvPr>
            <p:ph idx="1"/>
          </p:nvPr>
        </p:nvSpPr>
        <p:spPr>
          <a:xfrm>
            <a:off x="228600" y="1416050"/>
            <a:ext cx="8610600" cy="4800600"/>
          </a:xfrm>
          <a:ln w="12700">
            <a:solidFill>
              <a:schemeClr val="tx1"/>
            </a:solidFill>
            <a:miter lim="800000"/>
            <a:headEnd/>
            <a:tailEnd/>
          </a:ln>
        </p:spPr>
        <p:txBody>
          <a:bodyPr/>
          <a:lstStyle/>
          <a:p>
            <a:pPr>
              <a:lnSpc>
                <a:spcPct val="80000"/>
              </a:lnSpc>
              <a:buFont typeface="Symbol" panose="05050102010706020507" pitchFamily="18" charset="2"/>
              <a:buNone/>
            </a:pPr>
            <a:r>
              <a:rPr lang="de-DE" altLang="en-US" sz="2000" smtClean="0"/>
              <a:t>	      	          	       Project           Team            Team	   Team</a:t>
            </a:r>
          </a:p>
          <a:p>
            <a:pPr>
              <a:lnSpc>
                <a:spcPct val="80000"/>
              </a:lnSpc>
              <a:buFont typeface="Symbol" panose="05050102010706020507" pitchFamily="18" charset="2"/>
              <a:buNone/>
            </a:pPr>
            <a:r>
              <a:rPr lang="de-DE" altLang="en-US" sz="2000" smtClean="0"/>
              <a:t>                       	       Manager      Leader      Member A        Member B</a:t>
            </a:r>
          </a:p>
          <a:p>
            <a:pPr>
              <a:buFont typeface="Symbol" panose="05050102010706020507" pitchFamily="18" charset="2"/>
              <a:buNone/>
            </a:pPr>
            <a:endParaRPr lang="de-DE" altLang="en-US" sz="2000" smtClean="0"/>
          </a:p>
        </p:txBody>
      </p:sp>
      <p:sp>
        <p:nvSpPr>
          <p:cNvPr id="51204" name="Line 4"/>
          <p:cNvSpPr>
            <a:spLocks noChangeShapeType="1"/>
          </p:cNvSpPr>
          <p:nvPr/>
        </p:nvSpPr>
        <p:spPr bwMode="auto">
          <a:xfrm>
            <a:off x="2362200" y="1371600"/>
            <a:ext cx="0" cy="4876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5" name="Line 5"/>
          <p:cNvSpPr>
            <a:spLocks noChangeShapeType="1"/>
          </p:cNvSpPr>
          <p:nvPr/>
        </p:nvSpPr>
        <p:spPr bwMode="auto">
          <a:xfrm>
            <a:off x="228600" y="2133600"/>
            <a:ext cx="861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6" name="Text Box 6"/>
          <p:cNvSpPr txBox="1">
            <a:spLocks noChangeArrowheads="1"/>
          </p:cNvSpPr>
          <p:nvPr/>
        </p:nvSpPr>
        <p:spPr bwMode="auto">
          <a:xfrm>
            <a:off x="365125" y="2263775"/>
            <a:ext cx="17780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Develop SPMP</a:t>
            </a:r>
          </a:p>
        </p:txBody>
      </p:sp>
      <p:sp>
        <p:nvSpPr>
          <p:cNvPr id="51207" name="Line 7"/>
          <p:cNvSpPr>
            <a:spLocks noChangeShapeType="1"/>
          </p:cNvSpPr>
          <p:nvPr/>
        </p:nvSpPr>
        <p:spPr bwMode="auto">
          <a:xfrm>
            <a:off x="228600" y="2895600"/>
            <a:ext cx="861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8" name="Line 8"/>
          <p:cNvSpPr>
            <a:spLocks noChangeShapeType="1"/>
          </p:cNvSpPr>
          <p:nvPr/>
        </p:nvSpPr>
        <p:spPr bwMode="auto">
          <a:xfrm>
            <a:off x="228600" y="3657600"/>
            <a:ext cx="861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9" name="Line 9"/>
          <p:cNvSpPr>
            <a:spLocks noChangeShapeType="1"/>
          </p:cNvSpPr>
          <p:nvPr/>
        </p:nvSpPr>
        <p:spPr bwMode="auto">
          <a:xfrm>
            <a:off x="228600" y="4419600"/>
            <a:ext cx="861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10" name="Text Box 11"/>
          <p:cNvSpPr txBox="1">
            <a:spLocks noChangeArrowheads="1"/>
          </p:cNvSpPr>
          <p:nvPr/>
        </p:nvSpPr>
        <p:spPr bwMode="auto">
          <a:xfrm>
            <a:off x="2803525" y="2339975"/>
            <a:ext cx="3238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P</a:t>
            </a:r>
          </a:p>
        </p:txBody>
      </p:sp>
      <p:sp>
        <p:nvSpPr>
          <p:cNvPr id="51211" name="Text Box 12"/>
          <p:cNvSpPr txBox="1">
            <a:spLocks noChangeArrowheads="1"/>
          </p:cNvSpPr>
          <p:nvPr/>
        </p:nvSpPr>
        <p:spPr bwMode="auto">
          <a:xfrm>
            <a:off x="476250" y="3016250"/>
            <a:ext cx="15049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a:r>
              <a:rPr lang="de-DE" altLang="en-US">
                <a:latin typeface="Palatino" pitchFamily="18" charset="0"/>
              </a:rPr>
              <a:t>Run weekly </a:t>
            </a:r>
          </a:p>
          <a:p>
            <a:pPr algn="ctr"/>
            <a:r>
              <a:rPr lang="de-DE" altLang="en-US">
                <a:latin typeface="Palatino" pitchFamily="18" charset="0"/>
              </a:rPr>
              <a:t>meeting</a:t>
            </a:r>
          </a:p>
        </p:txBody>
      </p:sp>
      <p:sp>
        <p:nvSpPr>
          <p:cNvPr id="51212" name="Text Box 13"/>
          <p:cNvSpPr txBox="1">
            <a:spLocks noChangeArrowheads="1"/>
          </p:cNvSpPr>
          <p:nvPr/>
        </p:nvSpPr>
        <p:spPr bwMode="auto">
          <a:xfrm>
            <a:off x="4191000" y="3124200"/>
            <a:ext cx="3619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A</a:t>
            </a:r>
          </a:p>
        </p:txBody>
      </p:sp>
      <p:sp>
        <p:nvSpPr>
          <p:cNvPr id="51213" name="Text Box 14"/>
          <p:cNvSpPr txBox="1">
            <a:spLocks noChangeArrowheads="1"/>
          </p:cNvSpPr>
          <p:nvPr/>
        </p:nvSpPr>
        <p:spPr bwMode="auto">
          <a:xfrm>
            <a:off x="7315200" y="3124200"/>
            <a:ext cx="3238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S</a:t>
            </a:r>
          </a:p>
        </p:txBody>
      </p:sp>
      <p:sp>
        <p:nvSpPr>
          <p:cNvPr id="51214" name="Text Box 15"/>
          <p:cNvSpPr txBox="1">
            <a:spLocks noChangeArrowheads="1"/>
          </p:cNvSpPr>
          <p:nvPr/>
        </p:nvSpPr>
        <p:spPr bwMode="auto">
          <a:xfrm>
            <a:off x="5638800" y="3124200"/>
            <a:ext cx="3238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P</a:t>
            </a:r>
          </a:p>
        </p:txBody>
      </p:sp>
      <p:sp>
        <p:nvSpPr>
          <p:cNvPr id="51215" name="Text Box 16"/>
          <p:cNvSpPr txBox="1">
            <a:spLocks noChangeArrowheads="1"/>
          </p:cNvSpPr>
          <p:nvPr/>
        </p:nvSpPr>
        <p:spPr bwMode="auto">
          <a:xfrm>
            <a:off x="508000" y="3778250"/>
            <a:ext cx="14033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algn="ctr"/>
            <a:r>
              <a:rPr lang="de-DE" altLang="en-US">
                <a:latin typeface="Palatino" pitchFamily="18" charset="0"/>
              </a:rPr>
              <a:t>Write  SDD</a:t>
            </a:r>
          </a:p>
        </p:txBody>
      </p:sp>
      <p:sp>
        <p:nvSpPr>
          <p:cNvPr id="51216" name="Text Box 17"/>
          <p:cNvSpPr txBox="1">
            <a:spLocks noChangeArrowheads="1"/>
          </p:cNvSpPr>
          <p:nvPr/>
        </p:nvSpPr>
        <p:spPr bwMode="auto">
          <a:xfrm>
            <a:off x="2895600" y="3810000"/>
            <a:ext cx="3238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P</a:t>
            </a:r>
          </a:p>
        </p:txBody>
      </p:sp>
      <p:sp>
        <p:nvSpPr>
          <p:cNvPr id="51217" name="Text Box 18"/>
          <p:cNvSpPr txBox="1">
            <a:spLocks noChangeArrowheads="1"/>
          </p:cNvSpPr>
          <p:nvPr/>
        </p:nvSpPr>
        <p:spPr bwMode="auto">
          <a:xfrm>
            <a:off x="4191000" y="3810000"/>
            <a:ext cx="3238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S</a:t>
            </a:r>
          </a:p>
        </p:txBody>
      </p:sp>
      <p:sp>
        <p:nvSpPr>
          <p:cNvPr id="51218" name="Text Box 19"/>
          <p:cNvSpPr txBox="1">
            <a:spLocks noChangeArrowheads="1"/>
          </p:cNvSpPr>
          <p:nvPr/>
        </p:nvSpPr>
        <p:spPr bwMode="auto">
          <a:xfrm>
            <a:off x="5638800" y="3886200"/>
            <a:ext cx="3238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S</a:t>
            </a:r>
          </a:p>
        </p:txBody>
      </p:sp>
      <p:sp>
        <p:nvSpPr>
          <p:cNvPr id="51219" name="Text Box 20"/>
          <p:cNvSpPr txBox="1">
            <a:spLocks noChangeArrowheads="1"/>
          </p:cNvSpPr>
          <p:nvPr/>
        </p:nvSpPr>
        <p:spPr bwMode="auto">
          <a:xfrm>
            <a:off x="7315200" y="3810000"/>
            <a:ext cx="3238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S</a:t>
            </a:r>
          </a:p>
        </p:txBody>
      </p:sp>
      <p:sp>
        <p:nvSpPr>
          <p:cNvPr id="51220" name="Text Box 21"/>
          <p:cNvSpPr txBox="1">
            <a:spLocks noChangeArrowheads="1"/>
          </p:cNvSpPr>
          <p:nvPr/>
        </p:nvSpPr>
        <p:spPr bwMode="auto">
          <a:xfrm>
            <a:off x="4648200" y="4724400"/>
            <a:ext cx="3886200" cy="13446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pitchFamily="18" charset="0"/>
              </a:defRPr>
            </a:lvl1pPr>
            <a:lvl2pPr>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pPr lvl="1">
              <a:lnSpc>
                <a:spcPct val="80000"/>
              </a:lnSpc>
            </a:pPr>
            <a:r>
              <a:rPr lang="en-US" altLang="en-US" sz="2000" b="0" i="1"/>
              <a:t>Legend:</a:t>
            </a:r>
          </a:p>
          <a:p>
            <a:pPr lvl="1">
              <a:lnSpc>
                <a:spcPct val="80000"/>
              </a:lnSpc>
            </a:pPr>
            <a:r>
              <a:rPr lang="en-US" altLang="en-US" sz="2000"/>
              <a:t>P </a:t>
            </a:r>
            <a:r>
              <a:rPr lang="en-US" altLang="en-US" sz="2000" b="0"/>
              <a:t> = Primary responsibility</a:t>
            </a:r>
          </a:p>
          <a:p>
            <a:pPr lvl="1">
              <a:lnSpc>
                <a:spcPct val="80000"/>
              </a:lnSpc>
            </a:pPr>
            <a:r>
              <a:rPr lang="en-US" altLang="en-US" sz="2000"/>
              <a:t>S </a:t>
            </a:r>
            <a:r>
              <a:rPr lang="en-US" altLang="en-US" sz="2000" b="0"/>
              <a:t> = Secondary responsibility)</a:t>
            </a:r>
          </a:p>
          <a:p>
            <a:pPr lvl="1">
              <a:lnSpc>
                <a:spcPct val="80000"/>
              </a:lnSpc>
            </a:pPr>
            <a:r>
              <a:rPr lang="en-US" altLang="en-US" sz="2000"/>
              <a:t>A</a:t>
            </a:r>
            <a:r>
              <a:rPr lang="en-US" altLang="en-US" sz="2000" b="0"/>
              <a:t>  = Approval</a:t>
            </a:r>
          </a:p>
          <a:p>
            <a:endParaRPr lang="de-DE" altLang="en-US">
              <a:latin typeface="Palatino"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de-DE" altLang="en-US" smtClean="0"/>
              <a:t>Another Example of a </a:t>
            </a:r>
            <a:br>
              <a:rPr lang="de-DE" altLang="en-US" smtClean="0"/>
            </a:br>
            <a:r>
              <a:rPr lang="de-DE" altLang="en-US" smtClean="0"/>
              <a:t>Responsibility Chart </a:t>
            </a:r>
          </a:p>
        </p:txBody>
      </p:sp>
      <p:sp>
        <p:nvSpPr>
          <p:cNvPr id="52227" name="Rectangle 3"/>
          <p:cNvSpPr>
            <a:spLocks noGrp="1" noChangeArrowheads="1"/>
          </p:cNvSpPr>
          <p:nvPr>
            <p:ph idx="1"/>
          </p:nvPr>
        </p:nvSpPr>
        <p:spPr>
          <a:xfrm>
            <a:off x="228600" y="1416050"/>
            <a:ext cx="8610600" cy="4800600"/>
          </a:xfrm>
          <a:ln w="12700">
            <a:solidFill>
              <a:schemeClr val="tx1"/>
            </a:solidFill>
            <a:miter lim="800000"/>
            <a:headEnd/>
            <a:tailEnd/>
          </a:ln>
        </p:spPr>
        <p:txBody>
          <a:bodyPr/>
          <a:lstStyle/>
          <a:p>
            <a:pPr>
              <a:lnSpc>
                <a:spcPct val="80000"/>
              </a:lnSpc>
              <a:buFont typeface="Symbol" panose="05050102010706020507" pitchFamily="18" charset="2"/>
              <a:buNone/>
            </a:pPr>
            <a:r>
              <a:rPr lang="de-DE" altLang="en-US" sz="2000" smtClean="0"/>
              <a:t>	      	          	       Project           Team            Team	   Team</a:t>
            </a:r>
          </a:p>
          <a:p>
            <a:pPr>
              <a:lnSpc>
                <a:spcPct val="80000"/>
              </a:lnSpc>
              <a:buFont typeface="Symbol" panose="05050102010706020507" pitchFamily="18" charset="2"/>
              <a:buNone/>
            </a:pPr>
            <a:r>
              <a:rPr lang="de-DE" altLang="en-US" sz="2000" smtClean="0"/>
              <a:t>                       	       Manager      Leader      Member A        Member B</a:t>
            </a:r>
          </a:p>
          <a:p>
            <a:pPr>
              <a:buFont typeface="Symbol" panose="05050102010706020507" pitchFamily="18" charset="2"/>
              <a:buNone/>
            </a:pPr>
            <a:endParaRPr lang="de-DE" altLang="en-US" sz="2000" smtClean="0"/>
          </a:p>
        </p:txBody>
      </p:sp>
      <p:sp>
        <p:nvSpPr>
          <p:cNvPr id="52228" name="Line 4"/>
          <p:cNvSpPr>
            <a:spLocks noChangeShapeType="1"/>
          </p:cNvSpPr>
          <p:nvPr/>
        </p:nvSpPr>
        <p:spPr bwMode="auto">
          <a:xfrm>
            <a:off x="2362200" y="1371600"/>
            <a:ext cx="0" cy="4876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29" name="Line 5"/>
          <p:cNvSpPr>
            <a:spLocks noChangeShapeType="1"/>
          </p:cNvSpPr>
          <p:nvPr/>
        </p:nvSpPr>
        <p:spPr bwMode="auto">
          <a:xfrm>
            <a:off x="228600" y="2133600"/>
            <a:ext cx="861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0" name="Text Box 6"/>
          <p:cNvSpPr txBox="1">
            <a:spLocks noChangeArrowheads="1"/>
          </p:cNvSpPr>
          <p:nvPr/>
        </p:nvSpPr>
        <p:spPr bwMode="auto">
          <a:xfrm>
            <a:off x="365125" y="2263775"/>
            <a:ext cx="17780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Develop SPMP</a:t>
            </a:r>
          </a:p>
        </p:txBody>
      </p:sp>
      <p:sp>
        <p:nvSpPr>
          <p:cNvPr id="52231" name="Line 7"/>
          <p:cNvSpPr>
            <a:spLocks noChangeShapeType="1"/>
          </p:cNvSpPr>
          <p:nvPr/>
        </p:nvSpPr>
        <p:spPr bwMode="auto">
          <a:xfrm>
            <a:off x="228600" y="2895600"/>
            <a:ext cx="861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2" name="Line 8"/>
          <p:cNvSpPr>
            <a:spLocks noChangeShapeType="1"/>
          </p:cNvSpPr>
          <p:nvPr/>
        </p:nvSpPr>
        <p:spPr bwMode="auto">
          <a:xfrm>
            <a:off x="228600" y="3657600"/>
            <a:ext cx="861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3" name="Line 9"/>
          <p:cNvSpPr>
            <a:spLocks noChangeShapeType="1"/>
          </p:cNvSpPr>
          <p:nvPr/>
        </p:nvSpPr>
        <p:spPr bwMode="auto">
          <a:xfrm>
            <a:off x="228600" y="4419600"/>
            <a:ext cx="861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4" name="Line 10"/>
          <p:cNvSpPr>
            <a:spLocks noChangeShapeType="1"/>
          </p:cNvSpPr>
          <p:nvPr/>
        </p:nvSpPr>
        <p:spPr bwMode="auto">
          <a:xfrm>
            <a:off x="228600" y="5181600"/>
            <a:ext cx="8610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5" name="Text Box 11"/>
          <p:cNvSpPr txBox="1">
            <a:spLocks noChangeArrowheads="1"/>
          </p:cNvSpPr>
          <p:nvPr/>
        </p:nvSpPr>
        <p:spPr bwMode="auto">
          <a:xfrm>
            <a:off x="2803525" y="2339975"/>
            <a:ext cx="3619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A</a:t>
            </a:r>
          </a:p>
        </p:txBody>
      </p:sp>
      <p:sp>
        <p:nvSpPr>
          <p:cNvPr id="52236" name="Text Box 12"/>
          <p:cNvSpPr txBox="1">
            <a:spLocks noChangeArrowheads="1"/>
          </p:cNvSpPr>
          <p:nvPr/>
        </p:nvSpPr>
        <p:spPr bwMode="auto">
          <a:xfrm>
            <a:off x="5562600" y="2286000"/>
            <a:ext cx="3238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P</a:t>
            </a:r>
          </a:p>
        </p:txBody>
      </p:sp>
      <p:sp>
        <p:nvSpPr>
          <p:cNvPr id="714765" name="AutoShape 13"/>
          <p:cNvSpPr>
            <a:spLocks noChangeArrowheads="1"/>
          </p:cNvSpPr>
          <p:nvPr/>
        </p:nvSpPr>
        <p:spPr bwMode="auto">
          <a:xfrm flipV="1">
            <a:off x="2362200" y="3200400"/>
            <a:ext cx="6172200" cy="2438400"/>
          </a:xfrm>
          <a:prstGeom prst="cloudCallout">
            <a:avLst>
              <a:gd name="adj1" fmla="val -39944"/>
              <a:gd name="adj2" fmla="val 68616"/>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r>
              <a:rPr lang="de-DE" altLang="en-US">
                <a:latin typeface="Palatino" pitchFamily="18" charset="0"/>
              </a:rPr>
              <a:t>• The Project Manager has delegated the </a:t>
            </a:r>
          </a:p>
          <a:p>
            <a:r>
              <a:rPr lang="de-DE" altLang="en-US">
                <a:latin typeface="Palatino" pitchFamily="18" charset="0"/>
              </a:rPr>
              <a:t>   SPMP to Team Member A </a:t>
            </a:r>
          </a:p>
          <a:p>
            <a:r>
              <a:rPr lang="de-DE" altLang="en-US">
                <a:latin typeface="Palatino" pitchFamily="18" charset="0"/>
              </a:rPr>
              <a:t>• The delegation bypasses the team leader.</a:t>
            </a:r>
          </a:p>
          <a:p>
            <a:r>
              <a:rPr lang="de-DE" altLang="en-US">
                <a:latin typeface="Palatino" pitchFamily="18" charset="0"/>
              </a:rPr>
              <a:t>    Is that a problem?</a:t>
            </a:r>
          </a:p>
          <a:p>
            <a:r>
              <a:rPr lang="de-DE" altLang="en-US">
                <a:latin typeface="Palatino" pitchFamily="18" charset="0"/>
              </a:rPr>
              <a:t>• Team Member B helps by writing a </a:t>
            </a:r>
          </a:p>
          <a:p>
            <a:r>
              <a:rPr lang="de-DE" altLang="en-US">
                <a:latin typeface="Palatino" pitchFamily="18" charset="0"/>
              </a:rPr>
              <a:t>    section. </a:t>
            </a:r>
          </a:p>
        </p:txBody>
      </p:sp>
      <p:sp>
        <p:nvSpPr>
          <p:cNvPr id="52238" name="Text Box 14"/>
          <p:cNvSpPr txBox="1">
            <a:spLocks noChangeArrowheads="1"/>
          </p:cNvSpPr>
          <p:nvPr/>
        </p:nvSpPr>
        <p:spPr bwMode="auto">
          <a:xfrm>
            <a:off x="7239000" y="2362200"/>
            <a:ext cx="3238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Times" pitchFamily="18" charset="0"/>
              </a:defRPr>
            </a:lvl1pPr>
            <a:lvl2pPr marL="742950" indent="-285750">
              <a:defRPr b="1">
                <a:solidFill>
                  <a:schemeClr val="tx1"/>
                </a:solidFill>
                <a:latin typeface="Times" pitchFamily="18" charset="0"/>
              </a:defRPr>
            </a:lvl2pPr>
            <a:lvl3pPr marL="1143000" indent="-228600">
              <a:defRPr b="1">
                <a:solidFill>
                  <a:schemeClr val="tx1"/>
                </a:solidFill>
                <a:latin typeface="Times" pitchFamily="18" charset="0"/>
              </a:defRPr>
            </a:lvl3pPr>
            <a:lvl4pPr marL="1600200" indent="-228600">
              <a:defRPr b="1">
                <a:solidFill>
                  <a:schemeClr val="tx1"/>
                </a:solidFill>
                <a:latin typeface="Times" pitchFamily="18" charset="0"/>
              </a:defRPr>
            </a:lvl4pPr>
            <a:lvl5pPr marL="2057400" indent="-228600">
              <a:defRPr b="1">
                <a:solidFill>
                  <a:schemeClr val="tx1"/>
                </a:solidFill>
                <a:latin typeface="Times" pitchFamily="18" charset="0"/>
              </a:defRPr>
            </a:lvl5pPr>
            <a:lvl6pPr marL="2514600" indent="-228600" eaLnBrk="0" fontAlgn="base" hangingPunct="0">
              <a:spcBef>
                <a:spcPct val="0"/>
              </a:spcBef>
              <a:spcAft>
                <a:spcPct val="0"/>
              </a:spcAft>
              <a:defRPr b="1">
                <a:solidFill>
                  <a:schemeClr val="tx1"/>
                </a:solidFill>
                <a:latin typeface="Times" pitchFamily="18" charset="0"/>
              </a:defRPr>
            </a:lvl6pPr>
            <a:lvl7pPr marL="2971800" indent="-228600" eaLnBrk="0" fontAlgn="base" hangingPunct="0">
              <a:spcBef>
                <a:spcPct val="0"/>
              </a:spcBef>
              <a:spcAft>
                <a:spcPct val="0"/>
              </a:spcAft>
              <a:defRPr b="1">
                <a:solidFill>
                  <a:schemeClr val="tx1"/>
                </a:solidFill>
                <a:latin typeface="Times" pitchFamily="18" charset="0"/>
              </a:defRPr>
            </a:lvl7pPr>
            <a:lvl8pPr marL="3429000" indent="-228600" eaLnBrk="0" fontAlgn="base" hangingPunct="0">
              <a:spcBef>
                <a:spcPct val="0"/>
              </a:spcBef>
              <a:spcAft>
                <a:spcPct val="0"/>
              </a:spcAft>
              <a:defRPr b="1">
                <a:solidFill>
                  <a:schemeClr val="tx1"/>
                </a:solidFill>
                <a:latin typeface="Times" pitchFamily="18" charset="0"/>
              </a:defRPr>
            </a:lvl8pPr>
            <a:lvl9pPr marL="3886200" indent="-228600" eaLnBrk="0" fontAlgn="base" hangingPunct="0">
              <a:spcBef>
                <a:spcPct val="0"/>
              </a:spcBef>
              <a:spcAft>
                <a:spcPct val="0"/>
              </a:spcAft>
              <a:defRPr b="1">
                <a:solidFill>
                  <a:schemeClr val="tx1"/>
                </a:solidFill>
                <a:latin typeface="Times" pitchFamily="18" charset="0"/>
              </a:defRPr>
            </a:lvl9pPr>
          </a:lstStyle>
          <a:p>
            <a:r>
              <a:rPr lang="de-DE" altLang="en-US">
                <a:latin typeface="Palatino" pitchFamily="18" charset="0"/>
              </a:rPr>
              <a: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47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65"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28600" y="222250"/>
            <a:ext cx="8610600" cy="863600"/>
          </a:xfrm>
        </p:spPr>
        <p:txBody>
          <a:bodyPr/>
          <a:lstStyle/>
          <a:p>
            <a:r>
              <a:rPr lang="de-DE" altLang="en-US" smtClean="0"/>
              <a:t>Analysing  Responsibility Charts identifies Risks</a:t>
            </a:r>
          </a:p>
        </p:txBody>
      </p:sp>
      <p:sp>
        <p:nvSpPr>
          <p:cNvPr id="53251" name="Rectangle 3"/>
          <p:cNvSpPr>
            <a:spLocks noGrp="1" noChangeArrowheads="1"/>
          </p:cNvSpPr>
          <p:nvPr>
            <p:ph idx="1"/>
          </p:nvPr>
        </p:nvSpPr>
        <p:spPr>
          <a:xfrm>
            <a:off x="355600" y="1219200"/>
            <a:ext cx="8255000" cy="5257800"/>
          </a:xfrm>
        </p:spPr>
        <p:txBody>
          <a:bodyPr/>
          <a:lstStyle/>
          <a:p>
            <a:r>
              <a:rPr lang="de-DE" altLang="en-US" smtClean="0"/>
              <a:t>Problem: Somebody is heavily committed.</a:t>
            </a:r>
          </a:p>
          <a:p>
            <a:pPr lvl="1"/>
            <a:r>
              <a:rPr lang="de-DE" altLang="en-US" smtClean="0"/>
              <a:t>Possible Project Management Issues: Not enough time to handle all duties, making too many key decisions, What if this person leaves during the project</a:t>
            </a:r>
          </a:p>
          <a:p>
            <a:r>
              <a:rPr lang="de-DE" altLang="en-US" smtClean="0"/>
              <a:t>Problem:  The project manager has no direct responsibilities</a:t>
            </a:r>
          </a:p>
          <a:p>
            <a:pPr lvl="1"/>
            <a:r>
              <a:rPr lang="de-DE" altLang="en-US" smtClean="0"/>
              <a:t>Issues: Will the project manager fully understand  status reports?</a:t>
            </a:r>
          </a:p>
          <a:p>
            <a:r>
              <a:rPr lang="de-DE" altLang="en-US" smtClean="0"/>
              <a:t>Problem: An activity requires many approvals</a:t>
            </a:r>
          </a:p>
          <a:p>
            <a:pPr lvl="1"/>
            <a:r>
              <a:rPr lang="de-DE" altLang="en-US" smtClean="0"/>
              <a:t>Issue: Does anyone else have to approve the activity. Are there too many people involved approvals? Is your estimated duration of the activity too optimistic, because the approval is out of your hands?</a:t>
            </a:r>
          </a:p>
          <a:p>
            <a:r>
              <a:rPr lang="de-DE" altLang="en-US" smtClean="0"/>
              <a:t>After you identify an issue, you should address it in your risk management plan.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de-DE" altLang="en-US" smtClean="0"/>
              <a:t>Micro Management</a:t>
            </a:r>
          </a:p>
        </p:txBody>
      </p:sp>
      <p:sp>
        <p:nvSpPr>
          <p:cNvPr id="54275" name="Rectangle 3"/>
          <p:cNvSpPr>
            <a:spLocks noGrp="1" noChangeArrowheads="1"/>
          </p:cNvSpPr>
          <p:nvPr>
            <p:ph idx="1"/>
          </p:nvPr>
        </p:nvSpPr>
        <p:spPr/>
        <p:txBody>
          <a:bodyPr/>
          <a:lstStyle/>
          <a:p>
            <a:r>
              <a:rPr lang="de-DE" altLang="en-US" smtClean="0"/>
              <a:t>Micromanagement is the excessive involvement of a manager in the details of a task assigned to a team member. </a:t>
            </a:r>
          </a:p>
          <a:p>
            <a:r>
              <a:rPr lang="de-DE" altLang="en-US" smtClean="0"/>
              <a:t>Micromanagement is inefficient  use of the time and energy of all project participants. </a:t>
            </a:r>
          </a:p>
          <a:p>
            <a:r>
              <a:rPr lang="de-DE" altLang="en-US" smtClean="0"/>
              <a:t>It leads to tension and low morale among all project members.</a:t>
            </a:r>
          </a:p>
          <a:p>
            <a:r>
              <a:rPr lang="de-DE" altLang="en-US" smtClean="0"/>
              <a:t>Why do people micromanage?</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de-DE" altLang="en-US" smtClean="0"/>
              <a:t>Reasons for Micro Management</a:t>
            </a:r>
          </a:p>
        </p:txBody>
      </p:sp>
      <p:sp>
        <p:nvSpPr>
          <p:cNvPr id="55299" name="Rectangle 3"/>
          <p:cNvSpPr>
            <a:spLocks noGrp="1" noChangeArrowheads="1"/>
          </p:cNvSpPr>
          <p:nvPr>
            <p:ph idx="1"/>
          </p:nvPr>
        </p:nvSpPr>
        <p:spPr/>
        <p:txBody>
          <a:bodyPr/>
          <a:lstStyle/>
          <a:p>
            <a:pPr>
              <a:lnSpc>
                <a:spcPct val="80000"/>
              </a:lnSpc>
            </a:pPr>
            <a:r>
              <a:rPr lang="de-DE" altLang="en-US" smtClean="0"/>
              <a:t>The manager is interested in and enjoys the work</a:t>
            </a:r>
          </a:p>
          <a:p>
            <a:pPr>
              <a:lnSpc>
                <a:spcPct val="80000"/>
              </a:lnSpc>
            </a:pPr>
            <a:r>
              <a:rPr lang="de-DE" altLang="en-US" smtClean="0"/>
              <a:t>The manager is a technical expert and feels he/she can do the job best. </a:t>
            </a:r>
          </a:p>
          <a:p>
            <a:pPr>
              <a:lnSpc>
                <a:spcPct val="80000"/>
              </a:lnSpc>
            </a:pPr>
            <a:r>
              <a:rPr lang="de-DE" altLang="en-US" smtClean="0"/>
              <a:t>The manager may feel they did not explain the assignment clearly. </a:t>
            </a:r>
          </a:p>
          <a:p>
            <a:pPr>
              <a:lnSpc>
                <a:spcPct val="80000"/>
              </a:lnSpc>
            </a:pPr>
            <a:r>
              <a:rPr lang="de-DE" altLang="en-US" smtClean="0"/>
              <a:t>The manager is looking for a way to stay involved with the person and or the team. </a:t>
            </a:r>
          </a:p>
          <a:p>
            <a:pPr>
              <a:lnSpc>
                <a:spcPct val="80000"/>
              </a:lnSpc>
            </a:pPr>
            <a:r>
              <a:rPr lang="de-DE" altLang="en-US" smtClean="0"/>
              <a:t>The manager feels threatended because you have more technical knowledge. </a:t>
            </a:r>
          </a:p>
          <a:p>
            <a:pPr>
              <a:lnSpc>
                <a:spcPct val="80000"/>
              </a:lnSpc>
            </a:pPr>
            <a:r>
              <a:rPr lang="de-DE" altLang="en-US" smtClean="0"/>
              <a:t>The manager does not have a clear understanding on how to spend project time. </a:t>
            </a:r>
          </a:p>
          <a:p>
            <a:pPr>
              <a:lnSpc>
                <a:spcPct val="80000"/>
              </a:lnSpc>
            </a:pPr>
            <a:r>
              <a:rPr lang="de-DE" altLang="en-US" smtClean="0"/>
              <a:t>The manager wants to stay up-to-date in case somebody else asks about the work. </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1026"/>
          <p:cNvSpPr>
            <a:spLocks noGrp="1" noChangeArrowheads="1"/>
          </p:cNvSpPr>
          <p:nvPr>
            <p:ph type="title"/>
          </p:nvPr>
        </p:nvSpPr>
        <p:spPr/>
        <p:txBody>
          <a:bodyPr/>
          <a:lstStyle/>
          <a:p>
            <a:r>
              <a:rPr lang="de-DE" altLang="en-US" smtClean="0"/>
              <a:t>Overcoming Micro Management</a:t>
            </a:r>
          </a:p>
        </p:txBody>
      </p:sp>
      <p:sp>
        <p:nvSpPr>
          <p:cNvPr id="56323" name="Rectangle 1027"/>
          <p:cNvSpPr>
            <a:spLocks noGrp="1" noChangeArrowheads="1"/>
          </p:cNvSpPr>
          <p:nvPr>
            <p:ph idx="1"/>
          </p:nvPr>
        </p:nvSpPr>
        <p:spPr/>
        <p:txBody>
          <a:bodyPr/>
          <a:lstStyle/>
          <a:p>
            <a:r>
              <a:rPr lang="de-DE" altLang="en-US" smtClean="0"/>
              <a:t>Don‘t be defensive when the manager asks questions. </a:t>
            </a:r>
          </a:p>
          <a:p>
            <a:pPr lvl="1"/>
            <a:r>
              <a:rPr lang="de-DE" altLang="en-US" smtClean="0"/>
              <a:t>Doing so make it appear as if you are hinding something and the manager will worry even more. </a:t>
            </a:r>
          </a:p>
          <a:p>
            <a:r>
              <a:rPr lang="de-DE" altLang="en-US" smtClean="0"/>
              <a:t>Thank the micromanager for the interest and time. </a:t>
            </a:r>
          </a:p>
          <a:p>
            <a:pPr lvl="1"/>
            <a:r>
              <a:rPr lang="de-DE" altLang="en-US" smtClean="0"/>
              <a:t>Complaining about micromanagement will cause the micromanager to do it even more.</a:t>
            </a:r>
          </a:p>
          <a:p>
            <a:r>
              <a:rPr lang="de-DE" altLang="en-US" smtClean="0"/>
              <a:t>Offer to explain to the micromanager how you will approach your tasks</a:t>
            </a:r>
          </a:p>
          <a:p>
            <a:r>
              <a:rPr lang="de-DE" altLang="en-US" smtClean="0"/>
              <a:t>Work with the micromanager to develop a scheme for sharing progress and accomplishments.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h8lect3">
  <a:themeElements>
    <a:clrScheme name="">
      <a:dk1>
        <a:srgbClr val="000000"/>
      </a:dk1>
      <a:lt1>
        <a:srgbClr val="FFFFFF"/>
      </a:lt1>
      <a:dk2>
        <a:srgbClr val="000000"/>
      </a:dk2>
      <a:lt2>
        <a:srgbClr val="000000"/>
      </a:lt2>
      <a:accent1>
        <a:srgbClr val="FFFFFF"/>
      </a:accent1>
      <a:accent2>
        <a:srgbClr val="553E00"/>
      </a:accent2>
      <a:accent3>
        <a:srgbClr val="FFFFFF"/>
      </a:accent3>
      <a:accent4>
        <a:srgbClr val="000000"/>
      </a:accent4>
      <a:accent5>
        <a:srgbClr val="FFFFFF"/>
      </a:accent5>
      <a:accent6>
        <a:srgbClr val="4C3700"/>
      </a:accent6>
      <a:hlink>
        <a:srgbClr val="3D5500"/>
      </a:hlink>
      <a:folHlink>
        <a:srgbClr val="005528"/>
      </a:folHlink>
    </a:clrScheme>
    <a:fontScheme name="ch8lect3">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1" i="0" u="none" strike="noStrike" cap="none" normalizeH="0" baseline="0" smtClean="0">
            <a:ln>
              <a:noFill/>
            </a:ln>
            <a:solidFill>
              <a:schemeClr val="tx1"/>
            </a:solidFill>
            <a:effectLst/>
            <a:latin typeface="Times" panose="02020603050405020304" pitchFamily="18" charset="0"/>
          </a:defRPr>
        </a:defPPr>
      </a:lstStyle>
    </a:spDef>
    <a:ln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1" i="0" u="none" strike="noStrike" cap="none" normalizeH="0" baseline="0" smtClean="0">
            <a:ln>
              <a:noFill/>
            </a:ln>
            <a:solidFill>
              <a:schemeClr val="tx1"/>
            </a:solidFill>
            <a:effectLst/>
            <a:latin typeface="Times" panose="02020603050405020304" pitchFamily="18" charset="0"/>
          </a:defRPr>
        </a:defPPr>
      </a:lstStyle>
    </a:lnDef>
  </a:objectDefaults>
  <a:extraClrSchemeLst>
    <a:extraClrScheme>
      <a:clrScheme name="ch8lect3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h8lect3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h8lect3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h8lect3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h8lect3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h8lect3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h8lect3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2314</TotalTime>
  <Pages>33</Pages>
  <Words>2790</Words>
  <Application>Microsoft Office PowerPoint</Application>
  <PresentationFormat>On-screen Show (4:3)</PresentationFormat>
  <Paragraphs>368</Paragraphs>
  <Slides>37</Slides>
  <Notes>4</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Times</vt:lpstr>
      <vt:lpstr>Arial</vt:lpstr>
      <vt:lpstr>Symbol</vt:lpstr>
      <vt:lpstr>Wingdings</vt:lpstr>
      <vt:lpstr>Palatino</vt:lpstr>
      <vt:lpstr>Times New Roman</vt:lpstr>
      <vt:lpstr>Book Antiqua</vt:lpstr>
      <vt:lpstr>Helvetica</vt:lpstr>
      <vt:lpstr>ch8lect3</vt:lpstr>
      <vt:lpstr> Organization Structure</vt:lpstr>
      <vt:lpstr>Organizational Structures</vt:lpstr>
      <vt:lpstr>Groups, Teams and Committees</vt:lpstr>
      <vt:lpstr>Organization</vt:lpstr>
      <vt:lpstr>Functional Organization</vt:lpstr>
      <vt:lpstr>Example of a Functional Organization</vt:lpstr>
      <vt:lpstr>Properties of Functional Organizations</vt:lpstr>
      <vt:lpstr>Project Organization</vt:lpstr>
      <vt:lpstr>Properties of Project Organizations</vt:lpstr>
      <vt:lpstr>Matrix Organization</vt:lpstr>
      <vt:lpstr>Properties of  Matrix Organizations</vt:lpstr>
      <vt:lpstr>When to use a Functional  Organization</vt:lpstr>
      <vt:lpstr>When to Use a Project or Matrix Organization</vt:lpstr>
      <vt:lpstr>Metamodel for Organizations</vt:lpstr>
      <vt:lpstr>Definition: Role</vt:lpstr>
      <vt:lpstr>Key  Roles in Organizations</vt:lpstr>
      <vt:lpstr>Assigning Responsibilities To  People</vt:lpstr>
      <vt:lpstr>Towards A Project Role Taxonomy</vt:lpstr>
      <vt:lpstr>Hierarchical  Project Structure</vt:lpstr>
      <vt:lpstr>Hierarchical Project Structure</vt:lpstr>
      <vt:lpstr>Example of a Hierarchical Structure: Chief Programmer Team [Brooks 1995]</vt:lpstr>
      <vt:lpstr>Disadvantages of Hierarchical Structure</vt:lpstr>
      <vt:lpstr>Nonhierarchical Project Structure</vt:lpstr>
      <vt:lpstr>Nonhierarchical Project Structure</vt:lpstr>
      <vt:lpstr>A Nonhierarchical Structure:  Egoless Programming [Weinberg 1971]</vt:lpstr>
      <vt:lpstr>Observations on  Project Organizational Structures</vt:lpstr>
      <vt:lpstr>Flexibility of Project Organizations</vt:lpstr>
      <vt:lpstr>Methods to keep the Audience involved</vt:lpstr>
      <vt:lpstr>Key Concepts  for Mapping Roles to People</vt:lpstr>
      <vt:lpstr>Authority vs Responsibility vs Accountability</vt:lpstr>
      <vt:lpstr>Linear Responsibility Chart</vt:lpstr>
      <vt:lpstr>Example of a  Responsibility Chart</vt:lpstr>
      <vt:lpstr>Another Example of a  Responsibility Chart </vt:lpstr>
      <vt:lpstr>Analysing  Responsibility Charts identifies Risks</vt:lpstr>
      <vt:lpstr>Micro Management</vt:lpstr>
      <vt:lpstr>Reasons for Micro Management</vt:lpstr>
      <vt:lpstr>Overcoming Micro Management</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for Chapter 14, Project Management</dc:title>
  <dc:subject>Object-Oriented Software Engineering</dc:subject>
  <dc:creator>Bernd Bruegge</dc:creator>
  <cp:lastModifiedBy>Mueez Ahmad</cp:lastModifiedBy>
  <cp:revision>674</cp:revision>
  <cp:lastPrinted>2003-09-13T16:11:34Z</cp:lastPrinted>
  <dcterms:created xsi:type="dcterms:W3CDTF">1997-08-28T08:24:40Z</dcterms:created>
  <dcterms:modified xsi:type="dcterms:W3CDTF">2026-03-12T12:19:28Z</dcterms:modified>
</cp:coreProperties>
</file>